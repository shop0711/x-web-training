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939477b81474015" /><Relationship Type="http://schemas.openxmlformats.org/officeDocument/2006/relationships/extended-properties" Target="/docProps/app.xml" Id="R6884c21da874412c" /><Relationship Type="http://schemas.openxmlformats.org/officeDocument/2006/relationships/officeDocument" Target="/ppt/presentation.xml" Id="Rb450ee033f2a4580" /></Relationships>
</file>

<file path=ppt/presentation.xml><?xml version="1.0" encoding="utf-8"?>
<p:presentation xmlns:p="http://schemas.openxmlformats.org/presentationml/2006/main">
  <p:sldMasterIdLst>
    <p:sldMasterId xmlns:r="http://schemas.openxmlformats.org/officeDocument/2006/relationships" id="2147483648" r:id="R9b24732a8fcc40fb"/>
  </p:sldMasterIdLst>
  <p:notesMasterIdLst>
    <p:notesMasterId xmlns:r="http://schemas.openxmlformats.org/officeDocument/2006/relationships" r:id="R0f3d0315b0904082"/>
  </p:notesMasterIdLst>
  <p:sldIdLst>
    <p:sldId xmlns:r="http://schemas.openxmlformats.org/officeDocument/2006/relationships" id="256" r:id="R6d6aab6c97b94a93"/>
    <p:sldId xmlns:r="http://schemas.openxmlformats.org/officeDocument/2006/relationships" id="257" r:id="R62e16fceea414896"/>
    <p:sldId xmlns:r="http://schemas.openxmlformats.org/officeDocument/2006/relationships" id="258" r:id="R3bb9f71f1e5c466a"/>
    <p:sldId xmlns:r="http://schemas.openxmlformats.org/officeDocument/2006/relationships" id="259" r:id="R4f36400af05c430a"/>
    <p:sldId xmlns:r="http://schemas.openxmlformats.org/officeDocument/2006/relationships" id="260" r:id="R4fe4ad1ed79a4966"/>
    <p:sldId xmlns:r="http://schemas.openxmlformats.org/officeDocument/2006/relationships" id="261" r:id="R2a02bdc61cc6411e"/>
    <p:sldId xmlns:r="http://schemas.openxmlformats.org/officeDocument/2006/relationships" id="262" r:id="Rad3384776808477a"/>
    <p:sldId xmlns:r="http://schemas.openxmlformats.org/officeDocument/2006/relationships" id="263" r:id="Rf3e58d21bab9477d"/>
    <p:sldId xmlns:r="http://schemas.openxmlformats.org/officeDocument/2006/relationships" id="264" r:id="R91979e85418f42ff"/>
    <p:sldId xmlns:r="http://schemas.openxmlformats.org/officeDocument/2006/relationships" id="265" r:id="R3aba6d6d57aa4b30"/>
    <p:sldId xmlns:r="http://schemas.openxmlformats.org/officeDocument/2006/relationships" id="266" r:id="R5799ecb73a20419a"/>
    <p:sldId xmlns:r="http://schemas.openxmlformats.org/officeDocument/2006/relationships" id="267" r:id="R5bf6a1ea541b42ce"/>
    <p:sldId xmlns:r="http://schemas.openxmlformats.org/officeDocument/2006/relationships" id="268" r:id="Rb602b77f487d4ab7"/>
    <p:sldId xmlns:r="http://schemas.openxmlformats.org/officeDocument/2006/relationships" id="269" r:id="Rcfa92971fef4445c"/>
    <p:sldId xmlns:r="http://schemas.openxmlformats.org/officeDocument/2006/relationships" id="270" r:id="R2d77a464c18b41a3"/>
    <p:sldId xmlns:r="http://schemas.openxmlformats.org/officeDocument/2006/relationships" id="271" r:id="R2bce684d47b147cb"/>
    <p:sldId xmlns:r="http://schemas.openxmlformats.org/officeDocument/2006/relationships" id="272" r:id="R033286b414c14bb3"/>
    <p:sldId xmlns:r="http://schemas.openxmlformats.org/officeDocument/2006/relationships" id="273" r:id="R4900921538fa4c8f"/>
    <p:sldId xmlns:r="http://schemas.openxmlformats.org/officeDocument/2006/relationships" id="274" r:id="R552f8aa7873947c1"/>
    <p:sldId xmlns:r="http://schemas.openxmlformats.org/officeDocument/2006/relationships" id="275" r:id="Rffafff3ee434475a"/>
    <p:sldId xmlns:r="http://schemas.openxmlformats.org/officeDocument/2006/relationships" id="276" r:id="Rf2bab6e643ab4a80"/>
    <p:sldId xmlns:r="http://schemas.openxmlformats.org/officeDocument/2006/relationships" id="277" r:id="R513375bc9a004c63"/>
  </p:sldIdLst>
  <p:sldSz cx="12192000" cy="6858000"/>
  <p:notesSz cx="6858000" cy="9144000"/>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f7bd6d719e74966" /><Relationship Type="http://schemas.openxmlformats.org/officeDocument/2006/relationships/slideMaster" Target="/ppt/slideMasters/slideMaster1.xml" Id="R9b24732a8fcc40fb" /><Relationship Type="http://schemas.openxmlformats.org/officeDocument/2006/relationships/notesMaster" Target="/ppt/notesMasters/notesMaster1.xml" Id="R0f3d0315b0904082" /><Relationship Type="http://schemas.openxmlformats.org/officeDocument/2006/relationships/presProps" Target="/ppt/presProps.xml" Id="R72ded2c3d1ad4430" /><Relationship Type="http://schemas.openxmlformats.org/officeDocument/2006/relationships/tableStyles" Target="/ppt/tableStyles.xml" Id="R56c953540e044356" /><Relationship Type="http://schemas.openxmlformats.org/officeDocument/2006/relationships/slide" Target="/ppt/slides/slide1.xml" Id="R6d6aab6c97b94a93" /><Relationship Type="http://schemas.openxmlformats.org/officeDocument/2006/relationships/slide" Target="/ppt/slides/slide2.xml" Id="R62e16fceea414896" /><Relationship Type="http://schemas.openxmlformats.org/officeDocument/2006/relationships/slide" Target="/ppt/slides/slide3.xml" Id="R3bb9f71f1e5c466a" /><Relationship Type="http://schemas.openxmlformats.org/officeDocument/2006/relationships/slide" Target="/ppt/slides/slide4.xml" Id="R4f36400af05c430a" /><Relationship Type="http://schemas.openxmlformats.org/officeDocument/2006/relationships/slide" Target="/ppt/slides/slide5.xml" Id="R4fe4ad1ed79a4966" /><Relationship Type="http://schemas.openxmlformats.org/officeDocument/2006/relationships/slide" Target="/ppt/slides/slide6.xml" Id="R2a02bdc61cc6411e" /><Relationship Type="http://schemas.openxmlformats.org/officeDocument/2006/relationships/slide" Target="/ppt/slides/slide7.xml" Id="Rad3384776808477a" /><Relationship Type="http://schemas.openxmlformats.org/officeDocument/2006/relationships/slide" Target="/ppt/slides/slide8.xml" Id="Rf3e58d21bab9477d" /><Relationship Type="http://schemas.openxmlformats.org/officeDocument/2006/relationships/slide" Target="/ppt/slides/slide9.xml" Id="R91979e85418f42ff" /><Relationship Type="http://schemas.openxmlformats.org/officeDocument/2006/relationships/slide" Target="/ppt/slides/slide10.xml" Id="R3aba6d6d57aa4b30" /><Relationship Type="http://schemas.openxmlformats.org/officeDocument/2006/relationships/slide" Target="/ppt/slides/slide11.xml" Id="R5799ecb73a20419a" /><Relationship Type="http://schemas.openxmlformats.org/officeDocument/2006/relationships/slide" Target="/ppt/slides/slide12.xml" Id="R5bf6a1ea541b42ce" /><Relationship Type="http://schemas.openxmlformats.org/officeDocument/2006/relationships/slide" Target="/ppt/slides/slide13.xml" Id="Rb602b77f487d4ab7" /><Relationship Type="http://schemas.openxmlformats.org/officeDocument/2006/relationships/slide" Target="/ppt/slides/slide14.xml" Id="Rcfa92971fef4445c" /><Relationship Type="http://schemas.openxmlformats.org/officeDocument/2006/relationships/slide" Target="/ppt/slides/slide15.xml" Id="R2d77a464c18b41a3" /><Relationship Type="http://schemas.openxmlformats.org/officeDocument/2006/relationships/slide" Target="/ppt/slides/slide16.xml" Id="R2bce684d47b147cb" /><Relationship Type="http://schemas.openxmlformats.org/officeDocument/2006/relationships/slide" Target="/ppt/slides/slide17.xml" Id="R033286b414c14bb3" /><Relationship Type="http://schemas.openxmlformats.org/officeDocument/2006/relationships/slide" Target="/ppt/slides/slide18.xml" Id="R4900921538fa4c8f" /><Relationship Type="http://schemas.openxmlformats.org/officeDocument/2006/relationships/slide" Target="/ppt/slides/slide19.xml" Id="R552f8aa7873947c1" /><Relationship Type="http://schemas.openxmlformats.org/officeDocument/2006/relationships/slide" Target="/ppt/slides/slide20.xml" Id="Rffafff3ee434475a" /><Relationship Type="http://schemas.openxmlformats.org/officeDocument/2006/relationships/slide" Target="/ppt/slides/slide21.xml" Id="Rf2bab6e643ab4a80" /><Relationship Type="http://schemas.openxmlformats.org/officeDocument/2006/relationships/slide" Target="/ppt/slides/slide22.xml" Id="R513375bc9a004c6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713144bed04ea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72b903afa2d4c1f" /><Relationship Type="http://schemas.openxmlformats.org/officeDocument/2006/relationships/notesMaster" Target="/ppt/notesMasters/notesMaster1.xml" Id="R9d3d51814e044d61" /></Relationships>
</file>

<file path=ppt/notesSlides/_rels/notesSlide2.xml.rels>&#65279;<?xml version="1.0" encoding="utf-8"?><Relationships xmlns="http://schemas.openxmlformats.org/package/2006/relationships"><Relationship Type="http://schemas.openxmlformats.org/officeDocument/2006/relationships/slide" Target="/ppt/slides/slide2.xml" Id="R574a700d155f48b3" /><Relationship Type="http://schemas.openxmlformats.org/officeDocument/2006/relationships/notesMaster" Target="/ppt/notesMasters/notesMaster1.xml" Id="R4a9dfbcf6caa4d57" /></Relationships>
</file>

<file path=ppt/notesSlides/_rels/notesSlide3.xml.rels>&#65279;<?xml version="1.0" encoding="utf-8"?><Relationships xmlns="http://schemas.openxmlformats.org/package/2006/relationships"><Relationship Type="http://schemas.openxmlformats.org/officeDocument/2006/relationships/slide" Target="/ppt/slides/slide3.xml" Id="Rec173043b4384a5d" /><Relationship Type="http://schemas.openxmlformats.org/officeDocument/2006/relationships/notesMaster" Target="/ppt/notesMasters/notesMaster1.xml" Id="R29fe433d41fa4a25" /></Relationships>
</file>

<file path=ppt/notesSlides/_rels/notesSlide4.xml.rels>&#65279;<?xml version="1.0" encoding="utf-8"?><Relationships xmlns="http://schemas.openxmlformats.org/package/2006/relationships"><Relationship Type="http://schemas.openxmlformats.org/officeDocument/2006/relationships/slide" Target="/ppt/slides/slide4.xml" Id="R73adc1055d734d84" /><Relationship Type="http://schemas.openxmlformats.org/officeDocument/2006/relationships/notesMaster" Target="/ppt/notesMasters/notesMaster1.xml" Id="R7c6b542c20534825" /></Relationships>
</file>

<file path=ppt/notesSlides/_rels/notesSlide5.xml.rels>&#65279;<?xml version="1.0" encoding="utf-8"?><Relationships xmlns="http://schemas.openxmlformats.org/package/2006/relationships"><Relationship Type="http://schemas.openxmlformats.org/officeDocument/2006/relationships/slide" Target="/ppt/slides/slide5.xml" Id="R570f95a77b7f4448" /><Relationship Type="http://schemas.openxmlformats.org/officeDocument/2006/relationships/notesMaster" Target="/ppt/notesMasters/notesMaster1.xml" Id="Rb91daf3068114b08"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d966ee70d04f70" /><Relationship Type="http://schemas.openxmlformats.org/officeDocument/2006/relationships/notesMaster" Target="/ppt/notesMasters/notesMaster1.xml" Id="R53a3a664d7a54a20" /></Relationships>
</file>

<file path=ppt/notesSlides/_rels/notesSlide7.xml.rels>&#65279;<?xml version="1.0" encoding="utf-8"?><Relationships xmlns="http://schemas.openxmlformats.org/package/2006/relationships"><Relationship Type="http://schemas.openxmlformats.org/officeDocument/2006/relationships/slide" Target="/ppt/slides/slide7.xml" Id="R6fb0bce87cb141fc" /><Relationship Type="http://schemas.openxmlformats.org/officeDocument/2006/relationships/notesMaster" Target="/ppt/notesMasters/notesMaster1.xml" Id="R0a3bdad88012405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cb6db7ef41849ca" /><Relationship Type="http://schemas.openxmlformats.org/officeDocument/2006/relationships/notesMaster" Target="/ppt/notesMasters/notesMaster1.xml" Id="R5f6c02c9a5ac44fb" /></Relationships>
</file>

<file path=ppt/notesSlides/_rels/notesSlide9.xml.rels>&#65279;<?xml version="1.0" encoding="utf-8"?><Relationships xmlns="http://schemas.openxmlformats.org/package/2006/relationships"><Relationship Type="http://schemas.openxmlformats.org/officeDocument/2006/relationships/slide" Target="/ppt/slides/slide9.xml" Id="Rc4ab10e7396e4728" /><Relationship Type="http://schemas.openxmlformats.org/officeDocument/2006/relationships/notesMaster" Target="/ppt/notesMasters/notesMaster1.xml" Id="Rccd72e0a34b244a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aea21466cd648cf" /><Relationship Type="http://schemas.openxmlformats.org/officeDocument/2006/relationships/notesMaster" Target="/ppt/notesMasters/notesMaster1.xml" Id="Rebbe005a9364442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79610ec0f67476a" /><Relationship Type="http://schemas.openxmlformats.org/officeDocument/2006/relationships/notesMaster" Target="/ppt/notesMasters/notesMaster1.xml" Id="Rfd95aca88e3947c0"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38d7fae20654558" /><Relationship Type="http://schemas.openxmlformats.org/officeDocument/2006/relationships/notesMaster" Target="/ppt/notesMasters/notesMaster1.xml" Id="R49af61ab06404c0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f73d7544789a4aa4" /><Relationship Type="http://schemas.openxmlformats.org/officeDocument/2006/relationships/notesMaster" Target="/ppt/notesMasters/notesMaster1.xml" Id="R4955439a57f749c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72a5bfc826424c60" /><Relationship Type="http://schemas.openxmlformats.org/officeDocument/2006/relationships/notesMaster" Target="/ppt/notesMasters/notesMaster1.xml" Id="R7b8188aee9d8487e"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9cc9e4472a584506" /><Relationship Type="http://schemas.openxmlformats.org/officeDocument/2006/relationships/notesMaster" Target="/ppt/notesMasters/notesMaster1.xml" Id="R6a461dee1f184580"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d620ae312474eee" /><Relationship Type="http://schemas.openxmlformats.org/officeDocument/2006/relationships/notesMaster" Target="/ppt/notesMasters/notesMaster1.xml" Id="Rbd8bf1c975fb46bf"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99b2b22831b94c5d" /><Relationship Type="http://schemas.openxmlformats.org/officeDocument/2006/relationships/notesMaster" Target="/ppt/notesMasters/notesMaster1.xml" Id="R5a93b554dff6495d"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c51ae3c45924a4e" /><Relationship Type="http://schemas.openxmlformats.org/officeDocument/2006/relationships/notesMaster" Target="/ppt/notesMasters/notesMaster1.xml" Id="R46d8c2191b47467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1ba9b41aaefa4a4b" /><Relationship Type="http://schemas.openxmlformats.org/officeDocument/2006/relationships/notesMaster" Target="/ppt/notesMasters/notesMaster1.xml" Id="R574dff8703924365"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1a9c6ee9250d413a" /><Relationship Type="http://schemas.openxmlformats.org/officeDocument/2006/relationships/notesMaster" Target="/ppt/notesMasters/notesMaster1.xml" Id="R5b75b6ab2ced468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7c2fec038c040d1" /><Relationship Type="http://schemas.openxmlformats.org/officeDocument/2006/relationships/notesMaster" Target="/ppt/notesMasters/notesMaster1.xml" Id="R0682d95ba8f44b76"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89b50ecc9a54c26" /><Relationship Type="http://schemas.openxmlformats.org/officeDocument/2006/relationships/notesMaster" Target="/ppt/notesMasters/notesMaster1.xml" Id="Racec67e3a81e47c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7584033a4e4cb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4aa04661784786" /><Relationship Type="http://schemas.openxmlformats.org/officeDocument/2006/relationships/slideLayout" Target="/ppt/slideLayouts/slideLayout1.xml" Id="R5ea90f4d0acf49e2"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ea90f4d0acf49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f39999e9d74e8e" /><Relationship Type="http://schemas.openxmlformats.org/officeDocument/2006/relationships/notesSlide" Target="/ppt/notesSlides/notesSlide1.xml" Id="R5b31e41f81ea4b7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da6d953c2524f01" /><Relationship Type="http://schemas.openxmlformats.org/officeDocument/2006/relationships/notesSlide" Target="/ppt/notesSlides/notesSlide2.xml" Id="R04bbf4826fea45bc"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0b16d6a24994879" /><Relationship Type="http://schemas.openxmlformats.org/officeDocument/2006/relationships/notesSlide" Target="/ppt/notesSlides/notesSlide3.xml" Id="R02053a2479f147e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6d282d4694544b55" /><Relationship Type="http://schemas.openxmlformats.org/officeDocument/2006/relationships/notesSlide" Target="/ppt/notesSlides/notesSlide4.xml" Id="Refd9e1d21b554c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e857b08218404154" /><Relationship Type="http://schemas.openxmlformats.org/officeDocument/2006/relationships/notesSlide" Target="/ppt/notesSlides/notesSlide5.xml" Id="R59fb4e4532ca42d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02893c1cb7cd401a" /><Relationship Type="http://schemas.openxmlformats.org/officeDocument/2006/relationships/notesSlide" Target="/ppt/notesSlides/notesSlide6.xml" Id="Rf64f8fdf6ca4482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d75dbf7a8824976" /><Relationship Type="http://schemas.openxmlformats.org/officeDocument/2006/relationships/notesSlide" Target="/ppt/notesSlides/notesSlide7.xml" Id="R713fd8c253ac4097"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c812758f7784909" /><Relationship Type="http://schemas.openxmlformats.org/officeDocument/2006/relationships/notesSlide" Target="/ppt/notesSlides/notesSlide8.xml" Id="R5033eec0f6664a4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e2228dd5124c49b9" /><Relationship Type="http://schemas.openxmlformats.org/officeDocument/2006/relationships/notesSlide" Target="/ppt/notesSlides/notesSlide9.xml" Id="Rd0e89231b97a404a"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7ac004f5720f48ea" /><Relationship Type="http://schemas.openxmlformats.org/officeDocument/2006/relationships/notesSlide" Target="/ppt/notesSlides/notesSlide10.xml" Id="Ra7eaf589f86a4d5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20c73efaebc04148" /><Relationship Type="http://schemas.openxmlformats.org/officeDocument/2006/relationships/notesSlide" Target="/ppt/notesSlides/notesSlide11.xml" Id="R5d89fb1a6e39474c"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d7da061c8df44c1b" /><Relationship Type="http://schemas.openxmlformats.org/officeDocument/2006/relationships/notesSlide" Target="/ppt/notesSlides/notesSlide12.xml" Id="R5e95d08e35cb450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c7895d83ad0343ca" /><Relationship Type="http://schemas.openxmlformats.org/officeDocument/2006/relationships/notesSlide" Target="/ppt/notesSlides/notesSlide13.xml" Id="R21ab09f418684f2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32295051f53d4812" /><Relationship Type="http://schemas.openxmlformats.org/officeDocument/2006/relationships/notesSlide" Target="/ppt/notesSlides/notesSlide14.xml" Id="R605801a392cf42f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a4d0e58678ae45a8" /><Relationship Type="http://schemas.openxmlformats.org/officeDocument/2006/relationships/notesSlide" Target="/ppt/notesSlides/notesSlide15.xml" Id="Rcb40c3af838748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9c0f17baaaa14be5" /><Relationship Type="http://schemas.openxmlformats.org/officeDocument/2006/relationships/notesSlide" Target="/ppt/notesSlides/notesSlide16.xml" Id="R18caed97dcf645c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c8feb762b66747ed" /><Relationship Type="http://schemas.openxmlformats.org/officeDocument/2006/relationships/notesSlide" Target="/ppt/notesSlides/notesSlide17.xml" Id="R3e4633de4b704b4e"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7d7eefa27444886" /><Relationship Type="http://schemas.openxmlformats.org/officeDocument/2006/relationships/notesSlide" Target="/ppt/notesSlides/notesSlide18.xml" Id="R0c6b695c21a9412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34bc992f25254cc4" /><Relationship Type="http://schemas.openxmlformats.org/officeDocument/2006/relationships/notesSlide" Target="/ppt/notesSlides/notesSlide19.xml" Id="Rf479b8a40ac04695"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223df558c1674a7f" /><Relationship Type="http://schemas.openxmlformats.org/officeDocument/2006/relationships/notesSlide" Target="/ppt/notesSlides/notesSlide20.xml" Id="Rc2e15aad156b4bb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439e83d7341f4144" /><Relationship Type="http://schemas.openxmlformats.org/officeDocument/2006/relationships/notesSlide" Target="/ppt/notesSlides/notesSlide21.xml" Id="R9f50774c691649f1"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eef36b94135a4f9b" /><Relationship Type="http://schemas.openxmlformats.org/officeDocument/2006/relationships/notesSlide" Target="/ppt/notesSlides/notesSlide22.xml" Id="R5d8f661c505f410e" /></Relationships>
</file>

<file path=ppt/slides/slide1.xml><?xml version="1.0" encoding="utf-8"?>
<p:sld xmlns:p="http://schemas.openxmlformats.org/presentationml/2006/main">
  <p:cSld>
    <p:bg>
      <p:bgPr>
        <a:solidFill xmlns:a="http://schemas.openxmlformats.org/drawingml/2006/main">
          <a:srgbClr val="0F141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3E4651B-BDE2-494A-BD86-DF3F5ADBFAD2}"/>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STORE ACCOUNT PLAYBOOK</a:t>
            </a:r>
          </a:p>
        </p:txBody>
      </p:sp>
      <p:sp>
        <p:nvSpPr>
          <p:cNvPr id="2" name="">
            <a:extLst xmlns:a="http://schemas.openxmlformats.org/drawingml/2006/main">
              <a:ext uri="{FF2B5EF4-FFF2-40B4-BE49-F238E27FC236}">
                <a16:creationId xmlns:a16="http://schemas.microsoft.com/office/drawing/2014/main" id="{6FA2DA05-8742-4602-A3E0-804F71AEE131}"/>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X運用研修</a:t>
            </a:r>
          </a:p>
        </p:txBody>
      </p:sp>
      <p:sp>
        <p:nvSpPr>
          <p:cNvPr id="3" name="">
            <a:extLst xmlns:a="http://schemas.openxmlformats.org/drawingml/2006/main">
              <a:ext uri="{FF2B5EF4-FFF2-40B4-BE49-F238E27FC236}">
                <a16:creationId xmlns:a16="http://schemas.microsoft.com/office/drawing/2014/main" id="{FE98AB2A-12B6-4402-A8B2-B2E6D2B7E247}"/>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CBD5DC"/>
                </a:solidFill>
              </a:defRPr>
            </a:pPr>
            <a:r>
              <a:rPr sz="1575" b="1">
                <a:solidFill>
                  <a:srgbClr val="CBD5DC"/>
                </a:solidFill>
              </a:rPr>
              <a:t>店舗アカウントを育てるための運用ガイド</a:t>
            </a:r>
          </a:p>
        </p:txBody>
      </p:sp>
      <p:sp>
        <p:nvSpPr>
          <p:cNvPr id="4" name="">
            <a:extLst xmlns:a="http://schemas.openxmlformats.org/drawingml/2006/main">
              <a:ext uri="{FF2B5EF4-FFF2-40B4-BE49-F238E27FC236}">
                <a16:creationId xmlns:a16="http://schemas.microsoft.com/office/drawing/2014/main" id="{7001BEA4-7001-4C08-9015-552CE789C95C}"/>
              </a:ext>
            </a:extLst>
          </p:cNvPr>
          <p:cNvSpPr>
            <a:spLocks xmlns:a="http://schemas.openxmlformats.org/drawingml/2006/main" noGrp="1"/>
          </p:cNvSpPr>
          <p:nvPr/>
        </p:nvSpPr>
        <p:spPr>
          <a:xfrm xmlns:a="http://schemas.openxmlformats.org/drawingml/2006/main">
            <a:off x="6286500" y="1952625"/>
            <a:ext cx="533400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9A8155E4-BD0B-4225-9B4C-12E75A58460E}"/>
              </a:ext>
            </a:extLst>
          </p:cNvPr>
          <p:cNvSpPr>
            <a:spLocks xmlns:a="http://schemas.openxmlformats.org/drawingml/2006/main" noGrp="1"/>
          </p:cNvSpPr>
          <p:nvPr/>
        </p:nvSpPr>
        <p:spPr>
          <a:xfrm xmlns:a="http://schemas.openxmlformats.org/drawingml/2006/main">
            <a:off x="6286500" y="1952625"/>
            <a:ext cx="5334000" cy="3905250"/>
          </a:xfrm>
          <a:prstGeom xmlns:a="http://schemas.openxmlformats.org/drawingml/2006/main" prst="roundRect">
            <a:avLst>
              <a:gd name="adj" fmla="val 2927"/>
            </a:avLst>
          </a:prstGeom>
          <a:solidFill xmlns:a="http://schemas.openxmlformats.org/drawingml/2006/main">
            <a:srgbClr val="0F1419"/>
          </a:solidFill>
          <a:ln xmlns:a="http://schemas.openxmlformats.org/drawingml/2006/main" w="11430">
            <a:solidFill>
              <a:srgbClr val="2B3740"/>
            </a:solidFill>
            <a:prstDash val="solid"/>
          </a:ln>
        </p:spPr>
      </p:sp>
      <p:sp>
        <p:nvSpPr>
          <p:cNvPr id="6" name="">
            <a:extLst xmlns:a="http://schemas.openxmlformats.org/drawingml/2006/main">
              <a:ext uri="{FF2B5EF4-FFF2-40B4-BE49-F238E27FC236}">
                <a16:creationId xmlns:a16="http://schemas.microsoft.com/office/drawing/2014/main" id="{7825D051-579D-4B2A-BBAE-7949755B8904}"/>
              </a:ext>
            </a:extLst>
          </p:cNvPr>
          <p:cNvSpPr>
            <a:spLocks xmlns:a="http://schemas.openxmlformats.org/drawingml/2006/main" noGrp="1"/>
          </p:cNvSpPr>
          <p:nvPr/>
        </p:nvSpPr>
        <p:spPr>
          <a:xfrm xmlns:a="http://schemas.openxmlformats.org/drawingml/2006/main">
            <a:off x="8953500" y="3905250"/>
            <a:ext cx="-1619250" cy="-1209675"/>
          </a:xfrm>
          <a:prstGeom xmlns:a="http://schemas.openxmlformats.org/drawingml/2006/main" prst="line">
            <a:avLst/>
          </a:prstGeom>
          <a:noFill xmlns:a="http://schemas.openxmlformats.org/drawingml/2006/main"/>
          <a:ln xmlns:a="http://schemas.openxmlformats.org/drawingml/2006/main" w="19050">
            <a:solidFill>
              <a:srgbClr val="40515C"/>
            </a:solidFill>
            <a:prstDash val="solid"/>
          </a:ln>
        </p:spPr>
      </p:sp>
      <p:sp>
        <p:nvSpPr>
          <p:cNvPr id="7" name="">
            <a:extLst xmlns:a="http://schemas.openxmlformats.org/drawingml/2006/main">
              <a:ext uri="{FF2B5EF4-FFF2-40B4-BE49-F238E27FC236}">
                <a16:creationId xmlns:a16="http://schemas.microsoft.com/office/drawing/2014/main" id="{FDB1348B-ADC4-4649-862D-AA7432627A7A}"/>
              </a:ext>
            </a:extLst>
          </p:cNvPr>
          <p:cNvSpPr>
            <a:spLocks xmlns:a="http://schemas.openxmlformats.org/drawingml/2006/main" noGrp="1"/>
          </p:cNvSpPr>
          <p:nvPr/>
        </p:nvSpPr>
        <p:spPr>
          <a:xfrm xmlns:a="http://schemas.openxmlformats.org/drawingml/2006/main">
            <a:off x="8953500" y="3905250"/>
            <a:ext cx="1524000" cy="-1143000"/>
          </a:xfrm>
          <a:prstGeom xmlns:a="http://schemas.openxmlformats.org/drawingml/2006/main" prst="line">
            <a:avLst/>
          </a:prstGeom>
          <a:noFill xmlns:a="http://schemas.openxmlformats.org/drawingml/2006/main"/>
          <a:ln xmlns:a="http://schemas.openxmlformats.org/drawingml/2006/main" w="19050">
            <a:solidFill>
              <a:srgbClr val="40515C"/>
            </a:solidFill>
            <a:prstDash val="solid"/>
          </a:ln>
        </p:spPr>
      </p:sp>
      <p:sp>
        <p:nvSpPr>
          <p:cNvPr id="8" name="">
            <a:extLst xmlns:a="http://schemas.openxmlformats.org/drawingml/2006/main">
              <a:ext uri="{FF2B5EF4-FFF2-40B4-BE49-F238E27FC236}">
                <a16:creationId xmlns:a16="http://schemas.microsoft.com/office/drawing/2014/main" id="{8016119C-50B4-4D43-BFB5-F5F569ED8133}"/>
              </a:ext>
            </a:extLst>
          </p:cNvPr>
          <p:cNvSpPr>
            <a:spLocks xmlns:a="http://schemas.openxmlformats.org/drawingml/2006/main" noGrp="1"/>
          </p:cNvSpPr>
          <p:nvPr/>
        </p:nvSpPr>
        <p:spPr>
          <a:xfrm xmlns:a="http://schemas.openxmlformats.org/drawingml/2006/main">
            <a:off x="8953500" y="3905250"/>
            <a:ext cx="-1524000" cy="1238250"/>
          </a:xfrm>
          <a:prstGeom xmlns:a="http://schemas.openxmlformats.org/drawingml/2006/main" prst="line">
            <a:avLst/>
          </a:prstGeom>
          <a:noFill xmlns:a="http://schemas.openxmlformats.org/drawingml/2006/main"/>
          <a:ln xmlns:a="http://schemas.openxmlformats.org/drawingml/2006/main" w="19050">
            <a:solidFill>
              <a:srgbClr val="40515C"/>
            </a:solidFill>
            <a:prstDash val="solid"/>
          </a:ln>
        </p:spPr>
      </p:sp>
      <p:sp>
        <p:nvSpPr>
          <p:cNvPr id="9" name="">
            <a:extLst xmlns:a="http://schemas.openxmlformats.org/drawingml/2006/main">
              <a:ext uri="{FF2B5EF4-FFF2-40B4-BE49-F238E27FC236}">
                <a16:creationId xmlns:a16="http://schemas.microsoft.com/office/drawing/2014/main" id="{34BD3E1B-65F0-4F97-817C-81E577E60103}"/>
              </a:ext>
            </a:extLst>
          </p:cNvPr>
          <p:cNvSpPr>
            <a:spLocks xmlns:a="http://schemas.openxmlformats.org/drawingml/2006/main" noGrp="1"/>
          </p:cNvSpPr>
          <p:nvPr/>
        </p:nvSpPr>
        <p:spPr>
          <a:xfrm xmlns:a="http://schemas.openxmlformats.org/drawingml/2006/main">
            <a:off x="8953500" y="3905250"/>
            <a:ext cx="1381125" cy="1238250"/>
          </a:xfrm>
          <a:prstGeom xmlns:a="http://schemas.openxmlformats.org/drawingml/2006/main" prst="line">
            <a:avLst/>
          </a:prstGeom>
          <a:noFill xmlns:a="http://schemas.openxmlformats.org/drawingml/2006/main"/>
          <a:ln xmlns:a="http://schemas.openxmlformats.org/drawingml/2006/main" w="19050">
            <a:solidFill>
              <a:srgbClr val="40515C"/>
            </a:solidFill>
            <a:prstDash val="solid"/>
          </a:ln>
        </p:spPr>
      </p:sp>
      <p:sp>
        <p:nvSpPr>
          <p:cNvPr id="10" name="">
            <a:extLst xmlns:a="http://schemas.openxmlformats.org/drawingml/2006/main">
              <a:ext uri="{FF2B5EF4-FFF2-40B4-BE49-F238E27FC236}">
                <a16:creationId xmlns:a16="http://schemas.microsoft.com/office/drawing/2014/main" id="{27A4B98F-E773-436C-9CE7-1FD4E321790A}"/>
              </a:ext>
            </a:extLst>
          </p:cNvPr>
          <p:cNvSpPr>
            <a:spLocks xmlns:a="http://schemas.openxmlformats.org/drawingml/2006/main" noGrp="1"/>
          </p:cNvSpPr>
          <p:nvPr/>
        </p:nvSpPr>
        <p:spPr>
          <a:xfrm xmlns:a="http://schemas.openxmlformats.org/drawingml/2006/main">
            <a:off x="8229600" y="3181350"/>
            <a:ext cx="1447800" cy="14478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613297F6-34E3-4218-AE10-0D9E1D720D99}"/>
              </a:ext>
            </a:extLst>
          </p:cNvPr>
          <p:cNvSpPr>
            <a:spLocks xmlns:a="http://schemas.openxmlformats.org/drawingml/2006/main" noGrp="1"/>
          </p:cNvSpPr>
          <p:nvPr/>
        </p:nvSpPr>
        <p:spPr>
          <a:xfrm xmlns:a="http://schemas.openxmlformats.org/drawingml/2006/main">
            <a:off x="8524875" y="3562350"/>
            <a:ext cx="85725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3300" b="1">
                <a:solidFill>
                  <a:srgbClr val="0F1419"/>
                </a:solidFill>
              </a:defRPr>
            </a:pPr>
            <a:r>
              <a:rPr sz="3300" b="1">
                <a:solidFill>
                  <a:srgbClr val="0F1419"/>
                </a:solidFill>
              </a:rPr>
              <a:t>X</a:t>
            </a:r>
          </a:p>
        </p:txBody>
      </p:sp>
      <p:sp>
        <p:nvSpPr>
          <p:cNvPr id="12" name="">
            <a:extLst xmlns:a="http://schemas.openxmlformats.org/drawingml/2006/main">
              <a:ext uri="{FF2B5EF4-FFF2-40B4-BE49-F238E27FC236}">
                <a16:creationId xmlns:a16="http://schemas.microsoft.com/office/drawing/2014/main" id="{2A6B0403-7803-4FF1-B43F-53AD171A4389}"/>
              </a:ext>
            </a:extLst>
          </p:cNvPr>
          <p:cNvSpPr>
            <a:spLocks xmlns:a="http://schemas.openxmlformats.org/drawingml/2006/main" noGrp="1"/>
          </p:cNvSpPr>
          <p:nvPr/>
        </p:nvSpPr>
        <p:spPr>
          <a:xfrm xmlns:a="http://schemas.openxmlformats.org/drawingml/2006/main">
            <a:off x="8572500" y="4076700"/>
            <a:ext cx="762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900" b="1">
                <a:solidFill>
                  <a:srgbClr val="536471"/>
                </a:solidFill>
              </a:defRPr>
            </a:pPr>
            <a:r>
              <a:rPr sz="900" b="1">
                <a:solidFill>
                  <a:srgbClr val="536471"/>
                </a:solidFill>
              </a:rPr>
              <a:t>STORE</a:t>
            </a:r>
          </a:p>
        </p:txBody>
      </p:sp>
      <p:sp>
        <p:nvSpPr>
          <p:cNvPr id="13" name="">
            <a:extLst xmlns:a="http://schemas.openxmlformats.org/drawingml/2006/main">
              <a:ext uri="{FF2B5EF4-FFF2-40B4-BE49-F238E27FC236}">
                <a16:creationId xmlns:a16="http://schemas.microsoft.com/office/drawing/2014/main" id="{C433F3E0-340A-4012-A20F-9E2FC0DF7232}"/>
              </a:ext>
            </a:extLst>
          </p:cNvPr>
          <p:cNvSpPr>
            <a:spLocks xmlns:a="http://schemas.openxmlformats.org/drawingml/2006/main" noGrp="1"/>
          </p:cNvSpPr>
          <p:nvPr/>
        </p:nvSpPr>
        <p:spPr>
          <a:xfrm xmlns:a="http://schemas.openxmlformats.org/drawingml/2006/main">
            <a:off x="6572250" y="2219325"/>
            <a:ext cx="1238250" cy="523875"/>
          </a:xfrm>
          <a:prstGeom xmlns:a="http://schemas.openxmlformats.org/drawingml/2006/main" prst="roundRect">
            <a:avLst>
              <a:gd name="adj" fmla="val 18182"/>
            </a:avLst>
          </a:prstGeom>
          <a:solidFill xmlns:a="http://schemas.openxmlformats.org/drawingml/2006/main">
            <a:srgbClr val="151D23"/>
          </a:solidFill>
          <a:ln xmlns:a="http://schemas.openxmlformats.org/drawingml/2006/main" w="11430">
            <a:solidFill>
              <a:srgbClr val="2B3740"/>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専門性</a:t>
            </a:r>
          </a:p>
        </p:txBody>
      </p:sp>
      <p:sp>
        <p:nvSpPr>
          <p:cNvPr id="14" name="">
            <a:extLst xmlns:a="http://schemas.openxmlformats.org/drawingml/2006/main">
              <a:ext uri="{FF2B5EF4-FFF2-40B4-BE49-F238E27FC236}">
                <a16:creationId xmlns:a16="http://schemas.microsoft.com/office/drawing/2014/main" id="{FBB43817-D71C-41E7-B262-CA022F993F8C}"/>
              </a:ext>
            </a:extLst>
          </p:cNvPr>
          <p:cNvSpPr>
            <a:spLocks xmlns:a="http://schemas.openxmlformats.org/drawingml/2006/main" noGrp="1"/>
          </p:cNvSpPr>
          <p:nvPr/>
        </p:nvSpPr>
        <p:spPr>
          <a:xfrm xmlns:a="http://schemas.openxmlformats.org/drawingml/2006/main">
            <a:off x="10096500" y="2286000"/>
            <a:ext cx="1238250" cy="523875"/>
          </a:xfrm>
          <a:prstGeom xmlns:a="http://schemas.openxmlformats.org/drawingml/2006/main" prst="roundRect">
            <a:avLst>
              <a:gd name="adj" fmla="val 18182"/>
            </a:avLst>
          </a:prstGeom>
          <a:solidFill xmlns:a="http://schemas.openxmlformats.org/drawingml/2006/main">
            <a:srgbClr val="151D23"/>
          </a:solidFill>
          <a:ln xmlns:a="http://schemas.openxmlformats.org/drawingml/2006/main" w="11430">
            <a:solidFill>
              <a:srgbClr val="2B3740"/>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継続</a:t>
            </a:r>
          </a:p>
        </p:txBody>
      </p:sp>
      <p:sp>
        <p:nvSpPr>
          <p:cNvPr id="15" name="">
            <a:extLst xmlns:a="http://schemas.openxmlformats.org/drawingml/2006/main">
              <a:ext uri="{FF2B5EF4-FFF2-40B4-BE49-F238E27FC236}">
                <a16:creationId xmlns:a16="http://schemas.microsoft.com/office/drawing/2014/main" id="{5D4DBADF-BADD-4310-BF4A-83260D389BFC}"/>
              </a:ext>
            </a:extLst>
          </p:cNvPr>
          <p:cNvSpPr>
            <a:spLocks xmlns:a="http://schemas.openxmlformats.org/drawingml/2006/main" noGrp="1"/>
          </p:cNvSpPr>
          <p:nvPr/>
        </p:nvSpPr>
        <p:spPr>
          <a:xfrm xmlns:a="http://schemas.openxmlformats.org/drawingml/2006/main">
            <a:off x="10001250" y="5048250"/>
            <a:ext cx="1333500" cy="523875"/>
          </a:xfrm>
          <a:prstGeom xmlns:a="http://schemas.openxmlformats.org/drawingml/2006/main" prst="roundRect">
            <a:avLst>
              <a:gd name="adj" fmla="val 18182"/>
            </a:avLst>
          </a:prstGeom>
          <a:solidFill xmlns:a="http://schemas.openxmlformats.org/drawingml/2006/main">
            <a:srgbClr val="151D23"/>
          </a:solidFill>
          <a:ln xmlns:a="http://schemas.openxmlformats.org/drawingml/2006/main" w="11430">
            <a:solidFill>
              <a:srgbClr val="2B3740"/>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会話</a:t>
            </a:r>
          </a:p>
        </p:txBody>
      </p:sp>
      <p:sp>
        <p:nvSpPr>
          <p:cNvPr id="16" name="">
            <a:extLst xmlns:a="http://schemas.openxmlformats.org/drawingml/2006/main">
              <a:ext uri="{FF2B5EF4-FFF2-40B4-BE49-F238E27FC236}">
                <a16:creationId xmlns:a16="http://schemas.microsoft.com/office/drawing/2014/main" id="{7001262B-FA7F-4314-8375-B54316C6EFE7}"/>
              </a:ext>
            </a:extLst>
          </p:cNvPr>
          <p:cNvSpPr>
            <a:spLocks xmlns:a="http://schemas.openxmlformats.org/drawingml/2006/main" noGrp="1"/>
          </p:cNvSpPr>
          <p:nvPr/>
        </p:nvSpPr>
        <p:spPr>
          <a:xfrm xmlns:a="http://schemas.openxmlformats.org/drawingml/2006/main">
            <a:off x="6572250" y="5048250"/>
            <a:ext cx="1238250" cy="523875"/>
          </a:xfrm>
          <a:prstGeom xmlns:a="http://schemas.openxmlformats.org/drawingml/2006/main" prst="roundRect">
            <a:avLst>
              <a:gd name="adj" fmla="val 18182"/>
            </a:avLst>
          </a:prstGeom>
          <a:solidFill xmlns:a="http://schemas.openxmlformats.org/drawingml/2006/main">
            <a:srgbClr val="151D23"/>
          </a:solidFill>
          <a:ln xmlns:a="http://schemas.openxmlformats.org/drawingml/2006/main" w="11430">
            <a:solidFill>
              <a:srgbClr val="2B3740"/>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熱量</a:t>
            </a:r>
          </a:p>
        </p:txBody>
      </p:sp>
      <p:sp>
        <p:nvSpPr>
          <p:cNvPr id="17" name="">
            <a:extLst xmlns:a="http://schemas.openxmlformats.org/drawingml/2006/main">
              <a:ext uri="{FF2B5EF4-FFF2-40B4-BE49-F238E27FC236}">
                <a16:creationId xmlns:a16="http://schemas.microsoft.com/office/drawing/2014/main" id="{C6ECD3CF-FF2D-4DED-B73A-263B9021B696}"/>
              </a:ext>
            </a:extLst>
          </p:cNvPr>
          <p:cNvSpPr>
            <a:spLocks xmlns:a="http://schemas.openxmlformats.org/drawingml/2006/main" noGrp="1"/>
          </p:cNvSpPr>
          <p:nvPr/>
        </p:nvSpPr>
        <p:spPr>
          <a:xfrm xmlns:a="http://schemas.openxmlformats.org/drawingml/2006/main">
            <a:off x="571500" y="2114550"/>
            <a:ext cx="4953000" cy="1123950"/>
          </a:xfrm>
          <a:prstGeom xmlns:a="http://schemas.openxmlformats.org/drawingml/2006/main" prst="roundRect">
            <a:avLst>
              <a:gd name="adj" fmla="val 8475"/>
            </a:avLst>
          </a:prstGeom>
          <a:solidFill xmlns:a="http://schemas.openxmlformats.org/drawingml/2006/main">
            <a:srgbClr val="151D23"/>
          </a:solidFill>
          <a:ln xmlns:a="http://schemas.openxmlformats.org/drawingml/2006/main" w="11430">
            <a:solidFill>
              <a:srgbClr val="E4E9ED"/>
            </a:solidFill>
            <a:prstDash val="solid"/>
          </a:ln>
        </p:spPr>
      </p:sp>
      <p:sp>
        <p:nvSpPr>
          <p:cNvPr id="18" name="">
            <a:extLst xmlns:a="http://schemas.openxmlformats.org/drawingml/2006/main">
              <a:ext uri="{FF2B5EF4-FFF2-40B4-BE49-F238E27FC236}">
                <a16:creationId xmlns:a16="http://schemas.microsoft.com/office/drawing/2014/main" id="{34F0BBA2-6E34-498D-93CD-6CCE9024A0BC}"/>
              </a:ext>
            </a:extLst>
          </p:cNvPr>
          <p:cNvSpPr>
            <a:spLocks xmlns:a="http://schemas.openxmlformats.org/drawingml/2006/main" noGrp="1"/>
          </p:cNvSpPr>
          <p:nvPr/>
        </p:nvSpPr>
        <p:spPr>
          <a:xfrm xmlns:a="http://schemas.openxmlformats.org/drawingml/2006/main">
            <a:off x="742950" y="230505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993A7297-CAD0-41A4-9509-ED1DC25940C8}"/>
              </a:ext>
            </a:extLst>
          </p:cNvPr>
          <p:cNvSpPr>
            <a:spLocks xmlns:a="http://schemas.openxmlformats.org/drawingml/2006/main" noGrp="1"/>
          </p:cNvSpPr>
          <p:nvPr/>
        </p:nvSpPr>
        <p:spPr>
          <a:xfrm xmlns:a="http://schemas.openxmlformats.org/drawingml/2006/main">
            <a:off x="838200" y="23812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20" name="">
            <a:extLst xmlns:a="http://schemas.openxmlformats.org/drawingml/2006/main">
              <a:ext uri="{FF2B5EF4-FFF2-40B4-BE49-F238E27FC236}">
                <a16:creationId xmlns:a16="http://schemas.microsoft.com/office/drawing/2014/main" id="{AE5206F7-4842-4992-8E0D-B1F47FF096FF}"/>
              </a:ext>
            </a:extLst>
          </p:cNvPr>
          <p:cNvSpPr>
            <a:spLocks xmlns:a="http://schemas.openxmlformats.org/drawingml/2006/main" noGrp="1"/>
          </p:cNvSpPr>
          <p:nvPr/>
        </p:nvSpPr>
        <p:spPr>
          <a:xfrm xmlns:a="http://schemas.openxmlformats.org/drawingml/2006/main">
            <a:off x="1314450" y="22669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WHY / 理由</a:t>
            </a:r>
          </a:p>
        </p:txBody>
      </p:sp>
      <p:sp>
        <p:nvSpPr>
          <p:cNvPr id="21" name="">
            <a:extLst xmlns:a="http://schemas.openxmlformats.org/drawingml/2006/main">
              <a:ext uri="{FF2B5EF4-FFF2-40B4-BE49-F238E27FC236}">
                <a16:creationId xmlns:a16="http://schemas.microsoft.com/office/drawing/2014/main" id="{07AFB004-84DC-4D55-BBE7-FCFEC40FF7DF}"/>
              </a:ext>
            </a:extLst>
          </p:cNvPr>
          <p:cNvSpPr>
            <a:spLocks xmlns:a="http://schemas.openxmlformats.org/drawingml/2006/main" noGrp="1"/>
          </p:cNvSpPr>
          <p:nvPr/>
        </p:nvSpPr>
        <p:spPr>
          <a:xfrm xmlns:a="http://schemas.openxmlformats.org/drawingml/2006/main">
            <a:off x="1314450" y="25336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30-40分で、Xの考え方から明日の投稿までをつなげます。</a:t>
            </a:r>
          </a:p>
        </p:txBody>
      </p:sp>
      <p:sp>
        <p:nvSpPr>
          <p:cNvPr id="22" name="">
            <a:extLst xmlns:a="http://schemas.openxmlformats.org/drawingml/2006/main">
              <a:ext uri="{FF2B5EF4-FFF2-40B4-BE49-F238E27FC236}">
                <a16:creationId xmlns:a16="http://schemas.microsoft.com/office/drawing/2014/main" id="{28DA18C2-8F29-4DA9-8303-C4104317A6DB}"/>
              </a:ext>
            </a:extLst>
          </p:cNvPr>
          <p:cNvSpPr>
            <a:spLocks xmlns:a="http://schemas.openxmlformats.org/drawingml/2006/main" noGrp="1"/>
          </p:cNvSpPr>
          <p:nvPr/>
        </p:nvSpPr>
        <p:spPr>
          <a:xfrm xmlns:a="http://schemas.openxmlformats.org/drawingml/2006/main">
            <a:off x="571500" y="3429000"/>
            <a:ext cx="4953000" cy="1123950"/>
          </a:xfrm>
          <a:prstGeom xmlns:a="http://schemas.openxmlformats.org/drawingml/2006/main" prst="roundRect">
            <a:avLst>
              <a:gd name="adj" fmla="val 8475"/>
            </a:avLst>
          </a:prstGeom>
          <a:solidFill xmlns:a="http://schemas.openxmlformats.org/drawingml/2006/main">
            <a:srgbClr val="151D23"/>
          </a:solidFill>
          <a:ln xmlns:a="http://schemas.openxmlformats.org/drawingml/2006/main" w="11430">
            <a:solidFill>
              <a:srgbClr val="E4E9ED"/>
            </a:solidFill>
            <a:prstDash val="solid"/>
          </a:ln>
        </p:spPr>
      </p:sp>
      <p:sp>
        <p:nvSpPr>
          <p:cNvPr id="23" name="">
            <a:extLst xmlns:a="http://schemas.openxmlformats.org/drawingml/2006/main">
              <a:ext uri="{FF2B5EF4-FFF2-40B4-BE49-F238E27FC236}">
                <a16:creationId xmlns:a16="http://schemas.microsoft.com/office/drawing/2014/main" id="{41910E43-06D5-4F02-ABB2-8BEBB7BC53C4}"/>
              </a:ext>
            </a:extLst>
          </p:cNvPr>
          <p:cNvSpPr>
            <a:spLocks xmlns:a="http://schemas.openxmlformats.org/drawingml/2006/main" noGrp="1"/>
          </p:cNvSpPr>
          <p:nvPr/>
        </p:nvSpPr>
        <p:spPr>
          <a:xfrm xmlns:a="http://schemas.openxmlformats.org/drawingml/2006/main">
            <a:off x="742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3751CBE-4B7F-4159-817D-523F8D3C7549}"/>
              </a:ext>
            </a:extLst>
          </p:cNvPr>
          <p:cNvSpPr>
            <a:spLocks xmlns:a="http://schemas.openxmlformats.org/drawingml/2006/main" noGrp="1"/>
          </p:cNvSpPr>
          <p:nvPr/>
        </p:nvSpPr>
        <p:spPr>
          <a:xfrm xmlns:a="http://schemas.openxmlformats.org/drawingml/2006/main">
            <a:off x="838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25" name="">
            <a:extLst xmlns:a="http://schemas.openxmlformats.org/drawingml/2006/main">
              <a:ext uri="{FF2B5EF4-FFF2-40B4-BE49-F238E27FC236}">
                <a16:creationId xmlns:a16="http://schemas.microsoft.com/office/drawing/2014/main" id="{4B3D0279-2ABE-4BB1-82B5-B948CA54B6E1}"/>
              </a:ext>
            </a:extLst>
          </p:cNvPr>
          <p:cNvSpPr>
            <a:spLocks xmlns:a="http://schemas.openxmlformats.org/drawingml/2006/main" noGrp="1"/>
          </p:cNvSpPr>
          <p:nvPr/>
        </p:nvSpPr>
        <p:spPr>
          <a:xfrm xmlns:a="http://schemas.openxmlformats.org/drawingml/2006/main">
            <a:off x="1314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EXAMPLE / 具体例</a:t>
            </a:r>
          </a:p>
        </p:txBody>
      </p:sp>
      <p:sp>
        <p:nvSpPr>
          <p:cNvPr id="26" name="">
            <a:extLst xmlns:a="http://schemas.openxmlformats.org/drawingml/2006/main">
              <a:ext uri="{FF2B5EF4-FFF2-40B4-BE49-F238E27FC236}">
                <a16:creationId xmlns:a16="http://schemas.microsoft.com/office/drawing/2014/main" id="{C6B62035-F3F3-414D-9566-791A0AE46A3F}"/>
              </a:ext>
            </a:extLst>
          </p:cNvPr>
          <p:cNvSpPr>
            <a:spLocks xmlns:a="http://schemas.openxmlformats.org/drawingml/2006/main" noGrp="1"/>
          </p:cNvSpPr>
          <p:nvPr/>
        </p:nvSpPr>
        <p:spPr>
          <a:xfrm xmlns:a="http://schemas.openxmlformats.org/drawingml/2006/main">
            <a:off x="1314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専門性・投稿づくり・会話設計の3章で学びます。</a:t>
            </a:r>
          </a:p>
        </p:txBody>
      </p:sp>
      <p:sp>
        <p:nvSpPr>
          <p:cNvPr id="27" name="">
            <a:extLst xmlns:a="http://schemas.openxmlformats.org/drawingml/2006/main">
              <a:ext uri="{FF2B5EF4-FFF2-40B4-BE49-F238E27FC236}">
                <a16:creationId xmlns:a16="http://schemas.microsoft.com/office/drawing/2014/main" id="{8F75A27F-F9E1-4519-AA6B-A21CC866B09A}"/>
              </a:ext>
            </a:extLst>
          </p:cNvPr>
          <p:cNvSpPr>
            <a:spLocks xmlns:a="http://schemas.openxmlformats.org/drawingml/2006/main" noGrp="1"/>
          </p:cNvSpPr>
          <p:nvPr/>
        </p:nvSpPr>
        <p:spPr>
          <a:xfrm xmlns:a="http://schemas.openxmlformats.org/drawingml/2006/main">
            <a:off x="571500" y="4743450"/>
            <a:ext cx="4953000" cy="1123950"/>
          </a:xfrm>
          <a:prstGeom xmlns:a="http://schemas.openxmlformats.org/drawingml/2006/main" prst="roundRect">
            <a:avLst>
              <a:gd name="adj" fmla="val 8475"/>
            </a:avLst>
          </a:prstGeom>
          <a:solidFill xmlns:a="http://schemas.openxmlformats.org/drawingml/2006/main">
            <a:srgbClr val="102820"/>
          </a:solidFill>
          <a:ln xmlns:a="http://schemas.openxmlformats.org/drawingml/2006/main" w="11430">
            <a:solidFill>
              <a:srgbClr val="00A86B"/>
            </a:solidFill>
            <a:prstDash val="solid"/>
          </a:ln>
        </p:spPr>
      </p:sp>
      <p:sp>
        <p:nvSpPr>
          <p:cNvPr id="28" name="">
            <a:extLst xmlns:a="http://schemas.openxmlformats.org/drawingml/2006/main">
              <a:ext uri="{FF2B5EF4-FFF2-40B4-BE49-F238E27FC236}">
                <a16:creationId xmlns:a16="http://schemas.microsoft.com/office/drawing/2014/main" id="{06856A08-9CDB-4587-92C4-1E9D96640EE9}"/>
              </a:ext>
            </a:extLst>
          </p:cNvPr>
          <p:cNvSpPr>
            <a:spLocks xmlns:a="http://schemas.openxmlformats.org/drawingml/2006/main" noGrp="1"/>
          </p:cNvSpPr>
          <p:nvPr/>
        </p:nvSpPr>
        <p:spPr>
          <a:xfrm xmlns:a="http://schemas.openxmlformats.org/drawingml/2006/main">
            <a:off x="742950" y="493395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9" name="">
            <a:extLst xmlns:a="http://schemas.openxmlformats.org/drawingml/2006/main">
              <a:ext uri="{FF2B5EF4-FFF2-40B4-BE49-F238E27FC236}">
                <a16:creationId xmlns:a16="http://schemas.microsoft.com/office/drawing/2014/main" id="{46BDC247-5DCB-42D3-B22B-19901BA4A0A6}"/>
              </a:ext>
            </a:extLst>
          </p:cNvPr>
          <p:cNvSpPr>
            <a:spLocks xmlns:a="http://schemas.openxmlformats.org/drawingml/2006/main" noGrp="1"/>
          </p:cNvSpPr>
          <p:nvPr/>
        </p:nvSpPr>
        <p:spPr>
          <a:xfrm xmlns:a="http://schemas.openxmlformats.org/drawingml/2006/main">
            <a:off x="838200" y="50101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30" name="">
            <a:extLst xmlns:a="http://schemas.openxmlformats.org/drawingml/2006/main">
              <a:ext uri="{FF2B5EF4-FFF2-40B4-BE49-F238E27FC236}">
                <a16:creationId xmlns:a16="http://schemas.microsoft.com/office/drawing/2014/main" id="{183BB4B3-4A96-4AAF-A03F-C9845273532D}"/>
              </a:ext>
            </a:extLst>
          </p:cNvPr>
          <p:cNvSpPr>
            <a:spLocks xmlns:a="http://schemas.openxmlformats.org/drawingml/2006/main" noGrp="1"/>
          </p:cNvSpPr>
          <p:nvPr/>
        </p:nvSpPr>
        <p:spPr>
          <a:xfrm xmlns:a="http://schemas.openxmlformats.org/drawingml/2006/main">
            <a:off x="1314450" y="48958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DO / 実践</a:t>
            </a:r>
          </a:p>
        </p:txBody>
      </p:sp>
      <p:sp>
        <p:nvSpPr>
          <p:cNvPr id="31" name="">
            <a:extLst xmlns:a="http://schemas.openxmlformats.org/drawingml/2006/main">
              <a:ext uri="{FF2B5EF4-FFF2-40B4-BE49-F238E27FC236}">
                <a16:creationId xmlns:a16="http://schemas.microsoft.com/office/drawing/2014/main" id="{2F3F0595-36FA-4163-8029-9BE7FA898B95}"/>
              </a:ext>
            </a:extLst>
          </p:cNvPr>
          <p:cNvSpPr>
            <a:spLocks xmlns:a="http://schemas.openxmlformats.org/drawingml/2006/main" noGrp="1"/>
          </p:cNvSpPr>
          <p:nvPr/>
        </p:nvSpPr>
        <p:spPr>
          <a:xfrm xmlns:a="http://schemas.openxmlformats.org/drawingml/2006/main">
            <a:off x="1314450" y="51625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スクロール、または矢印キーで始めましょう。</a:t>
            </a:r>
          </a:p>
        </p:txBody>
      </p:sp>
      <p:sp>
        <p:nvSpPr>
          <p:cNvPr id="32" name="">
            <a:extLst xmlns:a="http://schemas.openxmlformats.org/drawingml/2006/main">
              <a:ext uri="{FF2B5EF4-FFF2-40B4-BE49-F238E27FC236}">
                <a16:creationId xmlns:a16="http://schemas.microsoft.com/office/drawing/2014/main" id="{721304CF-ABFB-46B7-803D-990AAB2F49AD}"/>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33" name="">
            <a:extLst xmlns:a="http://schemas.openxmlformats.org/drawingml/2006/main">
              <a:ext uri="{FF2B5EF4-FFF2-40B4-BE49-F238E27FC236}">
                <a16:creationId xmlns:a16="http://schemas.microsoft.com/office/drawing/2014/main" id="{E211390D-09A0-4AF0-9D3B-44270509BADB}"/>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01 / 22</a:t>
            </a:r>
          </a:p>
        </p:txBody>
      </p:sp>
      <p:sp>
        <p:nvSpPr>
          <p:cNvPr id="34" name="">
            <a:extLst xmlns:a="http://schemas.openxmlformats.org/drawingml/2006/main">
              <a:ext uri="{FF2B5EF4-FFF2-40B4-BE49-F238E27FC236}">
                <a16:creationId xmlns:a16="http://schemas.microsoft.com/office/drawing/2014/main" id="{229BCB44-47F4-434F-A298-371BEB7F2635}"/>
              </a:ext>
            </a:extLst>
          </p:cNvPr>
          <p:cNvSpPr>
            <a:spLocks xmlns:a="http://schemas.openxmlformats.org/drawingml/2006/main" noGrp="1"/>
          </p:cNvSpPr>
          <p:nvPr/>
        </p:nvSpPr>
        <p:spPr>
          <a:xfrm xmlns:a="http://schemas.openxmlformats.org/drawingml/2006/main">
            <a:off x="571500" y="6705600"/>
            <a:ext cx="502227"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356223792"/>
      </p:ext>
    </p:extLst>
  </p:cSld>
</p:sld>
</file>

<file path=ppt/slides/slide2.xml><?xml version="1.0" encoding="utf-8"?>
<p:sld xmlns:p="http://schemas.openxmlformats.org/presentationml/2006/main">
  <p:cSld>
    <p:bg>
      <p:bgPr>
        <a:solidFill xmlns:a="http://schemas.openxmlformats.org/drawingml/2006/main">
          <a:srgbClr val="0F141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C12CCF2-0EA1-4795-9013-C2E252E611D4}"/>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CHAPTER 01</a:t>
            </a:r>
          </a:p>
        </p:txBody>
      </p:sp>
      <p:sp>
        <p:nvSpPr>
          <p:cNvPr id="2" name="">
            <a:extLst xmlns:a="http://schemas.openxmlformats.org/drawingml/2006/main">
              <a:ext uri="{FF2B5EF4-FFF2-40B4-BE49-F238E27FC236}">
                <a16:creationId xmlns:a16="http://schemas.microsoft.com/office/drawing/2014/main" id="{E455ED68-6B6E-432C-856F-A0CBED4B2F83}"/>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Xは「専門性」を育てるSNS</a:t>
            </a:r>
          </a:p>
        </p:txBody>
      </p:sp>
      <p:sp>
        <p:nvSpPr>
          <p:cNvPr id="3" name="">
            <a:extLst xmlns:a="http://schemas.openxmlformats.org/drawingml/2006/main">
              <a:ext uri="{FF2B5EF4-FFF2-40B4-BE49-F238E27FC236}">
                <a16:creationId xmlns:a16="http://schemas.microsoft.com/office/drawing/2014/main" id="{052ABDBD-05C7-4526-B7E6-A3F7169FA08E}"/>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CBD5DC"/>
                </a:solidFill>
              </a:defRPr>
            </a:pPr>
            <a:r>
              <a:rPr sz="1575" b="1">
                <a:solidFill>
                  <a:srgbClr val="CBD5DC"/>
                </a:solidFill>
              </a:rPr>
              <a:t>誰に、何の情報を届ける店なのか。まず軸を決める。</a:t>
            </a:r>
          </a:p>
        </p:txBody>
      </p:sp>
      <p:sp>
        <p:nvSpPr>
          <p:cNvPr id="4" name="">
            <a:extLst xmlns:a="http://schemas.openxmlformats.org/drawingml/2006/main">
              <a:ext uri="{FF2B5EF4-FFF2-40B4-BE49-F238E27FC236}">
                <a16:creationId xmlns:a16="http://schemas.microsoft.com/office/drawing/2014/main" id="{5814398E-CE8C-4BF2-AAF7-7CD38C4BDC2F}"/>
              </a:ext>
            </a:extLst>
          </p:cNvPr>
          <p:cNvSpPr>
            <a:spLocks xmlns:a="http://schemas.openxmlformats.org/drawingml/2006/main" noGrp="1"/>
          </p:cNvSpPr>
          <p:nvPr/>
        </p:nvSpPr>
        <p:spPr>
          <a:xfrm xmlns:a="http://schemas.openxmlformats.org/drawingml/2006/main">
            <a:off x="6286500" y="1952625"/>
            <a:ext cx="533400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77650489-FA83-4A15-9611-262606408E56}"/>
              </a:ext>
            </a:extLst>
          </p:cNvPr>
          <p:cNvSpPr>
            <a:spLocks xmlns:a="http://schemas.openxmlformats.org/drawingml/2006/main" noGrp="1"/>
          </p:cNvSpPr>
          <p:nvPr/>
        </p:nvSpPr>
        <p:spPr>
          <a:xfrm xmlns:a="http://schemas.openxmlformats.org/drawingml/2006/main">
            <a:off x="6553200" y="3467100"/>
            <a:ext cx="1384300" cy="876300"/>
          </a:xfrm>
          <a:prstGeom xmlns:a="http://schemas.openxmlformats.org/drawingml/2006/main" prst="roundRect">
            <a:avLst>
              <a:gd name="adj" fmla="val 10870"/>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発信を重ねる</a:t>
            </a:r>
          </a:p>
        </p:txBody>
      </p:sp>
      <p:sp>
        <p:nvSpPr>
          <p:cNvPr id="6" name="">
            <a:extLst xmlns:a="http://schemas.openxmlformats.org/drawingml/2006/main">
              <a:ext uri="{FF2B5EF4-FFF2-40B4-BE49-F238E27FC236}">
                <a16:creationId xmlns:a16="http://schemas.microsoft.com/office/drawing/2014/main" id="{0A7EC499-B75D-4905-A2D8-3073C9F8C7FD}"/>
              </a:ext>
            </a:extLst>
          </p:cNvPr>
          <p:cNvSpPr>
            <a:spLocks xmlns:a="http://schemas.openxmlformats.org/drawingml/2006/main" noGrp="1"/>
          </p:cNvSpPr>
          <p:nvPr/>
        </p:nvSpPr>
        <p:spPr>
          <a:xfrm xmlns:a="http://schemas.openxmlformats.org/drawingml/2006/main">
            <a:off x="7966075" y="3771900"/>
            <a:ext cx="266700" cy="247650"/>
          </a:xfrm>
          <a:prstGeom xmlns:a="http://schemas.openxmlformats.org/drawingml/2006/main" prst="rightArrow">
            <a:avLst/>
          </a:prstGeom>
          <a:solidFill xmlns:a="http://schemas.openxmlformats.org/drawingml/2006/main">
            <a:srgbClr val="1D9B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5E5DB642-B141-438F-93C2-04C4462B9649}"/>
              </a:ext>
            </a:extLst>
          </p:cNvPr>
          <p:cNvSpPr>
            <a:spLocks xmlns:a="http://schemas.openxmlformats.org/drawingml/2006/main" noGrp="1"/>
          </p:cNvSpPr>
          <p:nvPr/>
        </p:nvSpPr>
        <p:spPr>
          <a:xfrm xmlns:a="http://schemas.openxmlformats.org/drawingml/2006/main">
            <a:off x="8261350" y="3467100"/>
            <a:ext cx="13843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本好きへ届く</a:t>
            </a:r>
          </a:p>
        </p:txBody>
      </p:sp>
      <p:sp>
        <p:nvSpPr>
          <p:cNvPr id="8" name="">
            <a:extLst xmlns:a="http://schemas.openxmlformats.org/drawingml/2006/main">
              <a:ext uri="{FF2B5EF4-FFF2-40B4-BE49-F238E27FC236}">
                <a16:creationId xmlns:a16="http://schemas.microsoft.com/office/drawing/2014/main" id="{B615B791-C6BC-4026-ADA4-67AE1C2522AD}"/>
              </a:ext>
            </a:extLst>
          </p:cNvPr>
          <p:cNvSpPr>
            <a:spLocks xmlns:a="http://schemas.openxmlformats.org/drawingml/2006/main" noGrp="1"/>
          </p:cNvSpPr>
          <p:nvPr/>
        </p:nvSpPr>
        <p:spPr>
          <a:xfrm xmlns:a="http://schemas.openxmlformats.org/drawingml/2006/main">
            <a:off x="9674225" y="3771900"/>
            <a:ext cx="266700" cy="247650"/>
          </a:xfrm>
          <a:prstGeom xmlns:a="http://schemas.openxmlformats.org/drawingml/2006/main" prst="rightArrow">
            <a:avLst/>
          </a:prstGeom>
          <a:solidFill xmlns:a="http://schemas.openxmlformats.org/drawingml/2006/main">
            <a:srgbClr val="1D9BF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27AB4AFC-93CF-487B-815D-E13B3954401F}"/>
              </a:ext>
            </a:extLst>
          </p:cNvPr>
          <p:cNvSpPr>
            <a:spLocks xmlns:a="http://schemas.openxmlformats.org/drawingml/2006/main" noGrp="1"/>
          </p:cNvSpPr>
          <p:nvPr/>
        </p:nvSpPr>
        <p:spPr>
          <a:xfrm xmlns:a="http://schemas.openxmlformats.org/drawingml/2006/main">
            <a:off x="9969500" y="3467100"/>
            <a:ext cx="13843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反応が生まれる</a:t>
            </a:r>
          </a:p>
        </p:txBody>
      </p:sp>
      <p:sp>
        <p:nvSpPr>
          <p:cNvPr id="10" name="">
            <a:extLst xmlns:a="http://schemas.openxmlformats.org/drawingml/2006/main">
              <a:ext uri="{FF2B5EF4-FFF2-40B4-BE49-F238E27FC236}">
                <a16:creationId xmlns:a16="http://schemas.microsoft.com/office/drawing/2014/main" id="{2D9E3093-5DB9-4190-A8FE-05F48BED7C62}"/>
              </a:ext>
            </a:extLst>
          </p:cNvPr>
          <p:cNvSpPr>
            <a:spLocks xmlns:a="http://schemas.openxmlformats.org/drawingml/2006/main" noGrp="1"/>
          </p:cNvSpPr>
          <p:nvPr/>
        </p:nvSpPr>
        <p:spPr>
          <a:xfrm xmlns:a="http://schemas.openxmlformats.org/drawingml/2006/main">
            <a:off x="571500" y="2114550"/>
            <a:ext cx="4953000" cy="1123950"/>
          </a:xfrm>
          <a:prstGeom xmlns:a="http://schemas.openxmlformats.org/drawingml/2006/main" prst="roundRect">
            <a:avLst>
              <a:gd name="adj" fmla="val 8475"/>
            </a:avLst>
          </a:prstGeom>
          <a:solidFill xmlns:a="http://schemas.openxmlformats.org/drawingml/2006/main">
            <a:srgbClr val="151D23"/>
          </a:solidFill>
          <a:ln xmlns:a="http://schemas.openxmlformats.org/drawingml/2006/main" w="11430">
            <a:solidFill>
              <a:srgbClr val="E4E9ED"/>
            </a:solidFill>
            <a:prstDash val="solid"/>
          </a:ln>
        </p:spPr>
      </p:sp>
      <p:sp>
        <p:nvSpPr>
          <p:cNvPr id="11" name="">
            <a:extLst xmlns:a="http://schemas.openxmlformats.org/drawingml/2006/main">
              <a:ext uri="{FF2B5EF4-FFF2-40B4-BE49-F238E27FC236}">
                <a16:creationId xmlns:a16="http://schemas.microsoft.com/office/drawing/2014/main" id="{DE38AE4B-EE76-4B0A-8EE1-8111DE950995}"/>
              </a:ext>
            </a:extLst>
          </p:cNvPr>
          <p:cNvSpPr>
            <a:spLocks xmlns:a="http://schemas.openxmlformats.org/drawingml/2006/main" noGrp="1"/>
          </p:cNvSpPr>
          <p:nvPr/>
        </p:nvSpPr>
        <p:spPr>
          <a:xfrm xmlns:a="http://schemas.openxmlformats.org/drawingml/2006/main">
            <a:off x="742950" y="230505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E8998349-348E-4FA5-AD3E-C9A333058B1F}"/>
              </a:ext>
            </a:extLst>
          </p:cNvPr>
          <p:cNvSpPr>
            <a:spLocks xmlns:a="http://schemas.openxmlformats.org/drawingml/2006/main" noGrp="1"/>
          </p:cNvSpPr>
          <p:nvPr/>
        </p:nvSpPr>
        <p:spPr>
          <a:xfrm xmlns:a="http://schemas.openxmlformats.org/drawingml/2006/main">
            <a:off x="838200" y="23812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3" name="">
            <a:extLst xmlns:a="http://schemas.openxmlformats.org/drawingml/2006/main">
              <a:ext uri="{FF2B5EF4-FFF2-40B4-BE49-F238E27FC236}">
                <a16:creationId xmlns:a16="http://schemas.microsoft.com/office/drawing/2014/main" id="{68F95417-577D-45E4-B2B6-F8219094802A}"/>
              </a:ext>
            </a:extLst>
          </p:cNvPr>
          <p:cNvSpPr>
            <a:spLocks xmlns:a="http://schemas.openxmlformats.org/drawingml/2006/main" noGrp="1"/>
          </p:cNvSpPr>
          <p:nvPr/>
        </p:nvSpPr>
        <p:spPr>
          <a:xfrm xmlns:a="http://schemas.openxmlformats.org/drawingml/2006/main">
            <a:off x="1314450" y="22669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WHY / 理由</a:t>
            </a:r>
          </a:p>
        </p:txBody>
      </p:sp>
      <p:sp>
        <p:nvSpPr>
          <p:cNvPr id="14" name="">
            <a:extLst xmlns:a="http://schemas.openxmlformats.org/drawingml/2006/main">
              <a:ext uri="{FF2B5EF4-FFF2-40B4-BE49-F238E27FC236}">
                <a16:creationId xmlns:a16="http://schemas.microsoft.com/office/drawing/2014/main" id="{4ABC9E5D-DADF-4ED5-A942-0690E5DB0D3B}"/>
              </a:ext>
            </a:extLst>
          </p:cNvPr>
          <p:cNvSpPr>
            <a:spLocks xmlns:a="http://schemas.openxmlformats.org/drawingml/2006/main" noGrp="1"/>
          </p:cNvSpPr>
          <p:nvPr/>
        </p:nvSpPr>
        <p:spPr>
          <a:xfrm xmlns:a="http://schemas.openxmlformats.org/drawingml/2006/main">
            <a:off x="1314450" y="25336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Xは投稿同士のつながりから、興味が近い人へ情報を広げます。</a:t>
            </a:r>
          </a:p>
        </p:txBody>
      </p:sp>
      <p:sp>
        <p:nvSpPr>
          <p:cNvPr id="15" name="">
            <a:extLst xmlns:a="http://schemas.openxmlformats.org/drawingml/2006/main">
              <a:ext uri="{FF2B5EF4-FFF2-40B4-BE49-F238E27FC236}">
                <a16:creationId xmlns:a16="http://schemas.microsoft.com/office/drawing/2014/main" id="{0A877CCD-C8D2-4965-8946-56FAEEEDC101}"/>
              </a:ext>
            </a:extLst>
          </p:cNvPr>
          <p:cNvSpPr>
            <a:spLocks xmlns:a="http://schemas.openxmlformats.org/drawingml/2006/main" noGrp="1"/>
          </p:cNvSpPr>
          <p:nvPr/>
        </p:nvSpPr>
        <p:spPr>
          <a:xfrm xmlns:a="http://schemas.openxmlformats.org/drawingml/2006/main">
            <a:off x="571500" y="3429000"/>
            <a:ext cx="4953000" cy="1123950"/>
          </a:xfrm>
          <a:prstGeom xmlns:a="http://schemas.openxmlformats.org/drawingml/2006/main" prst="roundRect">
            <a:avLst>
              <a:gd name="adj" fmla="val 8475"/>
            </a:avLst>
          </a:prstGeom>
          <a:solidFill xmlns:a="http://schemas.openxmlformats.org/drawingml/2006/main">
            <a:srgbClr val="151D23"/>
          </a:solidFill>
          <a:ln xmlns:a="http://schemas.openxmlformats.org/drawingml/2006/main" w="11430">
            <a:solidFill>
              <a:srgbClr val="E4E9ED"/>
            </a:solidFill>
            <a:prstDash val="solid"/>
          </a:ln>
        </p:spPr>
      </p:sp>
      <p:sp>
        <p:nvSpPr>
          <p:cNvPr id="16" name="">
            <a:extLst xmlns:a="http://schemas.openxmlformats.org/drawingml/2006/main">
              <a:ext uri="{FF2B5EF4-FFF2-40B4-BE49-F238E27FC236}">
                <a16:creationId xmlns:a16="http://schemas.microsoft.com/office/drawing/2014/main" id="{783301CE-69E4-47A4-A72C-692ADC2F4A97}"/>
              </a:ext>
            </a:extLst>
          </p:cNvPr>
          <p:cNvSpPr>
            <a:spLocks xmlns:a="http://schemas.openxmlformats.org/drawingml/2006/main" noGrp="1"/>
          </p:cNvSpPr>
          <p:nvPr/>
        </p:nvSpPr>
        <p:spPr>
          <a:xfrm xmlns:a="http://schemas.openxmlformats.org/drawingml/2006/main">
            <a:off x="742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FE80042C-D6EB-46BD-AB45-2D1E492B91B1}"/>
              </a:ext>
            </a:extLst>
          </p:cNvPr>
          <p:cNvSpPr>
            <a:spLocks xmlns:a="http://schemas.openxmlformats.org/drawingml/2006/main" noGrp="1"/>
          </p:cNvSpPr>
          <p:nvPr/>
        </p:nvSpPr>
        <p:spPr>
          <a:xfrm xmlns:a="http://schemas.openxmlformats.org/drawingml/2006/main">
            <a:off x="838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8" name="">
            <a:extLst xmlns:a="http://schemas.openxmlformats.org/drawingml/2006/main">
              <a:ext uri="{FF2B5EF4-FFF2-40B4-BE49-F238E27FC236}">
                <a16:creationId xmlns:a16="http://schemas.microsoft.com/office/drawing/2014/main" id="{BE6A0630-6711-464E-88A1-2B88AEAE7163}"/>
              </a:ext>
            </a:extLst>
          </p:cNvPr>
          <p:cNvSpPr>
            <a:spLocks xmlns:a="http://schemas.openxmlformats.org/drawingml/2006/main" noGrp="1"/>
          </p:cNvSpPr>
          <p:nvPr/>
        </p:nvSpPr>
        <p:spPr>
          <a:xfrm xmlns:a="http://schemas.openxmlformats.org/drawingml/2006/main">
            <a:off x="1314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EXAMPLE / 具体例</a:t>
            </a:r>
          </a:p>
        </p:txBody>
      </p:sp>
      <p:sp>
        <p:nvSpPr>
          <p:cNvPr id="19" name="">
            <a:extLst xmlns:a="http://schemas.openxmlformats.org/drawingml/2006/main">
              <a:ext uri="{FF2B5EF4-FFF2-40B4-BE49-F238E27FC236}">
                <a16:creationId xmlns:a16="http://schemas.microsoft.com/office/drawing/2014/main" id="{E267192F-9F34-480A-95C5-772D5C925D12}"/>
              </a:ext>
            </a:extLst>
          </p:cNvPr>
          <p:cNvSpPr>
            <a:spLocks xmlns:a="http://schemas.openxmlformats.org/drawingml/2006/main" noGrp="1"/>
          </p:cNvSpPr>
          <p:nvPr/>
        </p:nvSpPr>
        <p:spPr>
          <a:xfrm xmlns:a="http://schemas.openxmlformats.org/drawingml/2006/main">
            <a:off x="1314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本の投稿を重ねると、本好きのおすすめ欄へ届きやすくなります。</a:t>
            </a:r>
          </a:p>
        </p:txBody>
      </p:sp>
      <p:sp>
        <p:nvSpPr>
          <p:cNvPr id="20" name="">
            <a:extLst xmlns:a="http://schemas.openxmlformats.org/drawingml/2006/main">
              <a:ext uri="{FF2B5EF4-FFF2-40B4-BE49-F238E27FC236}">
                <a16:creationId xmlns:a16="http://schemas.microsoft.com/office/drawing/2014/main" id="{2DC34497-6EDB-4671-B8B5-E26B0EA48FD7}"/>
              </a:ext>
            </a:extLst>
          </p:cNvPr>
          <p:cNvSpPr>
            <a:spLocks xmlns:a="http://schemas.openxmlformats.org/drawingml/2006/main" noGrp="1"/>
          </p:cNvSpPr>
          <p:nvPr/>
        </p:nvSpPr>
        <p:spPr>
          <a:xfrm xmlns:a="http://schemas.openxmlformats.org/drawingml/2006/main">
            <a:off x="571500" y="4743450"/>
            <a:ext cx="4953000" cy="1123950"/>
          </a:xfrm>
          <a:prstGeom xmlns:a="http://schemas.openxmlformats.org/drawingml/2006/main" prst="roundRect">
            <a:avLst>
              <a:gd name="adj" fmla="val 8475"/>
            </a:avLst>
          </a:prstGeom>
          <a:solidFill xmlns:a="http://schemas.openxmlformats.org/drawingml/2006/main">
            <a:srgbClr val="102820"/>
          </a:solidFill>
          <a:ln xmlns:a="http://schemas.openxmlformats.org/drawingml/2006/main" w="11430">
            <a:solidFill>
              <a:srgbClr val="00A86B"/>
            </a:solidFill>
            <a:prstDash val="solid"/>
          </a:ln>
        </p:spPr>
      </p:sp>
      <p:sp>
        <p:nvSpPr>
          <p:cNvPr id="21" name="">
            <a:extLst xmlns:a="http://schemas.openxmlformats.org/drawingml/2006/main">
              <a:ext uri="{FF2B5EF4-FFF2-40B4-BE49-F238E27FC236}">
                <a16:creationId xmlns:a16="http://schemas.microsoft.com/office/drawing/2014/main" id="{FB02E9DC-E144-48DC-BA4E-32D8CAF83A7A}"/>
              </a:ext>
            </a:extLst>
          </p:cNvPr>
          <p:cNvSpPr>
            <a:spLocks xmlns:a="http://schemas.openxmlformats.org/drawingml/2006/main" noGrp="1"/>
          </p:cNvSpPr>
          <p:nvPr/>
        </p:nvSpPr>
        <p:spPr>
          <a:xfrm xmlns:a="http://schemas.openxmlformats.org/drawingml/2006/main">
            <a:off x="742950" y="493395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B56149B-B25D-4B2F-8688-88788146CFC5}"/>
              </a:ext>
            </a:extLst>
          </p:cNvPr>
          <p:cNvSpPr>
            <a:spLocks xmlns:a="http://schemas.openxmlformats.org/drawingml/2006/main" noGrp="1"/>
          </p:cNvSpPr>
          <p:nvPr/>
        </p:nvSpPr>
        <p:spPr>
          <a:xfrm xmlns:a="http://schemas.openxmlformats.org/drawingml/2006/main">
            <a:off x="838200" y="50101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3" name="">
            <a:extLst xmlns:a="http://schemas.openxmlformats.org/drawingml/2006/main">
              <a:ext uri="{FF2B5EF4-FFF2-40B4-BE49-F238E27FC236}">
                <a16:creationId xmlns:a16="http://schemas.microsoft.com/office/drawing/2014/main" id="{F8C36D62-2DD1-428F-9D11-9B5D3D95AC52}"/>
              </a:ext>
            </a:extLst>
          </p:cNvPr>
          <p:cNvSpPr>
            <a:spLocks xmlns:a="http://schemas.openxmlformats.org/drawingml/2006/main" noGrp="1"/>
          </p:cNvSpPr>
          <p:nvPr/>
        </p:nvSpPr>
        <p:spPr>
          <a:xfrm xmlns:a="http://schemas.openxmlformats.org/drawingml/2006/main">
            <a:off x="1314450" y="48958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DO / 実践</a:t>
            </a:r>
          </a:p>
        </p:txBody>
      </p:sp>
      <p:sp>
        <p:nvSpPr>
          <p:cNvPr id="24" name="">
            <a:extLst xmlns:a="http://schemas.openxmlformats.org/drawingml/2006/main">
              <a:ext uri="{FF2B5EF4-FFF2-40B4-BE49-F238E27FC236}">
                <a16:creationId xmlns:a16="http://schemas.microsoft.com/office/drawing/2014/main" id="{3653E2A0-09AC-4575-9D20-5A025C9D7FE9}"/>
              </a:ext>
            </a:extLst>
          </p:cNvPr>
          <p:cNvSpPr>
            <a:spLocks xmlns:a="http://schemas.openxmlformats.org/drawingml/2006/main" noGrp="1"/>
          </p:cNvSpPr>
          <p:nvPr/>
        </p:nvSpPr>
        <p:spPr>
          <a:xfrm xmlns:a="http://schemas.openxmlformats.org/drawingml/2006/main">
            <a:off x="1314450" y="51625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自店を表す専門テーマを1つ言葉にしましょう。</a:t>
            </a:r>
          </a:p>
        </p:txBody>
      </p:sp>
      <p:sp>
        <p:nvSpPr>
          <p:cNvPr id="25" name="">
            <a:extLst xmlns:a="http://schemas.openxmlformats.org/drawingml/2006/main">
              <a:ext uri="{FF2B5EF4-FFF2-40B4-BE49-F238E27FC236}">
                <a16:creationId xmlns:a16="http://schemas.microsoft.com/office/drawing/2014/main" id="{2840AFF2-14D0-4B40-B95E-ECC9AF734B93}"/>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6" name="">
            <a:extLst xmlns:a="http://schemas.openxmlformats.org/drawingml/2006/main">
              <a:ext uri="{FF2B5EF4-FFF2-40B4-BE49-F238E27FC236}">
                <a16:creationId xmlns:a16="http://schemas.microsoft.com/office/drawing/2014/main" id="{03C8EF5E-C719-44C6-A04F-C5F1E61B5FD6}"/>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02 / 22</a:t>
            </a:r>
          </a:p>
        </p:txBody>
      </p:sp>
      <p:sp>
        <p:nvSpPr>
          <p:cNvPr id="27" name="">
            <a:extLst xmlns:a="http://schemas.openxmlformats.org/drawingml/2006/main">
              <a:ext uri="{FF2B5EF4-FFF2-40B4-BE49-F238E27FC236}">
                <a16:creationId xmlns:a16="http://schemas.microsoft.com/office/drawing/2014/main" id="{5F6D141D-52C7-4254-B495-5C46634EBE88}"/>
              </a:ext>
            </a:extLst>
          </p:cNvPr>
          <p:cNvSpPr>
            <a:spLocks xmlns:a="http://schemas.openxmlformats.org/drawingml/2006/main" noGrp="1"/>
          </p:cNvSpPr>
          <p:nvPr/>
        </p:nvSpPr>
        <p:spPr>
          <a:xfrm xmlns:a="http://schemas.openxmlformats.org/drawingml/2006/main">
            <a:off x="571500" y="6705600"/>
            <a:ext cx="1004455"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36078166"/>
      </p:ext>
    </p:extLst>
  </p:cSld>
</p:sld>
</file>

<file path=ppt/slides/slide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92EA312-594C-4D5C-B105-6548B089C4DD}"/>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1-1 / ROLE</a:t>
            </a:r>
          </a:p>
        </p:txBody>
      </p:sp>
      <p:sp>
        <p:nvSpPr>
          <p:cNvPr id="2" name="">
            <a:extLst xmlns:a="http://schemas.openxmlformats.org/drawingml/2006/main">
              <a:ext uri="{FF2B5EF4-FFF2-40B4-BE49-F238E27FC236}">
                <a16:creationId xmlns:a16="http://schemas.microsoft.com/office/drawing/2014/main" id="{AC359A65-E867-4C6A-A6CA-973857832D57}"/>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XはInstagramとは役割が違う</a:t>
            </a:r>
          </a:p>
        </p:txBody>
      </p:sp>
      <p:sp>
        <p:nvSpPr>
          <p:cNvPr id="3" name="">
            <a:extLst xmlns:a="http://schemas.openxmlformats.org/drawingml/2006/main">
              <a:ext uri="{FF2B5EF4-FFF2-40B4-BE49-F238E27FC236}">
                <a16:creationId xmlns:a16="http://schemas.microsoft.com/office/drawing/2014/main" id="{99A24846-B2A2-4866-803E-F600AD8B169B}"/>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Instagramは来店理由、Xは専門性と会話を育てる。</a:t>
            </a:r>
          </a:p>
        </p:txBody>
      </p:sp>
      <p:sp>
        <p:nvSpPr>
          <p:cNvPr id="4" name="">
            <a:extLst xmlns:a="http://schemas.openxmlformats.org/drawingml/2006/main">
              <a:ext uri="{FF2B5EF4-FFF2-40B4-BE49-F238E27FC236}">
                <a16:creationId xmlns:a16="http://schemas.microsoft.com/office/drawing/2014/main" id="{AACD6D2A-6B24-4819-B37E-875D19094556}"/>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F1283BB5-47B2-443E-B67D-5AF4AB6CC822}"/>
              </a:ext>
            </a:extLst>
          </p:cNvPr>
          <p:cNvSpPr>
            <a:spLocks xmlns:a="http://schemas.openxmlformats.org/drawingml/2006/main" noGrp="1"/>
          </p:cNvSpPr>
          <p:nvPr/>
        </p:nvSpPr>
        <p:spPr>
          <a:xfrm xmlns:a="http://schemas.openxmlformats.org/drawingml/2006/main">
            <a:off x="800100" y="2495550"/>
            <a:ext cx="2486025" cy="3105150"/>
          </a:xfrm>
          <a:prstGeom xmlns:a="http://schemas.openxmlformats.org/drawingml/2006/main" prst="roundRect">
            <a:avLst>
              <a:gd name="adj" fmla="val 4598"/>
            </a:avLst>
          </a:prstGeom>
          <a:solidFill xmlns:a="http://schemas.openxmlformats.org/drawingml/2006/main">
            <a:srgbClr val="FFF0EF"/>
          </a:solidFill>
          <a:ln xmlns:a="http://schemas.openxmlformats.org/drawingml/2006/main" w="11430">
            <a:solidFill>
              <a:srgbClr val="E4E9ED"/>
            </a:solidFill>
            <a:prstDash val="solid"/>
          </a:ln>
        </p:spPr>
      </p:sp>
      <p:sp>
        <p:nvSpPr>
          <p:cNvPr id="6" name="">
            <a:extLst xmlns:a="http://schemas.openxmlformats.org/drawingml/2006/main">
              <a:ext uri="{FF2B5EF4-FFF2-40B4-BE49-F238E27FC236}">
                <a16:creationId xmlns:a16="http://schemas.microsoft.com/office/drawing/2014/main" id="{055FD0A9-C684-431C-9DFE-639CA07A29B0}"/>
              </a:ext>
            </a:extLst>
          </p:cNvPr>
          <p:cNvSpPr>
            <a:spLocks xmlns:a="http://schemas.openxmlformats.org/drawingml/2006/main" noGrp="1"/>
          </p:cNvSpPr>
          <p:nvPr/>
        </p:nvSpPr>
        <p:spPr>
          <a:xfrm xmlns:a="http://schemas.openxmlformats.org/drawingml/2006/main">
            <a:off x="3476625" y="2495550"/>
            <a:ext cx="2486025" cy="3105150"/>
          </a:xfrm>
          <a:prstGeom xmlns:a="http://schemas.openxmlformats.org/drawingml/2006/main" prst="roundRect">
            <a:avLst>
              <a:gd name="adj" fmla="val 4598"/>
            </a:avLst>
          </a:prstGeom>
          <a:solidFill xmlns:a="http://schemas.openxmlformats.org/drawingml/2006/main">
            <a:srgbClr val="E5F8F0"/>
          </a:solidFill>
          <a:ln xmlns:a="http://schemas.openxmlformats.org/drawingml/2006/main" w="11430">
            <a:solidFill>
              <a:srgbClr val="E4E9ED"/>
            </a:solidFill>
            <a:prstDash val="solid"/>
          </a:ln>
        </p:spPr>
      </p:sp>
      <p:sp>
        <p:nvSpPr>
          <p:cNvPr id="7" name="">
            <a:extLst xmlns:a="http://schemas.openxmlformats.org/drawingml/2006/main">
              <a:ext uri="{FF2B5EF4-FFF2-40B4-BE49-F238E27FC236}">
                <a16:creationId xmlns:a16="http://schemas.microsoft.com/office/drawing/2014/main" id="{C0522696-4410-4DDF-92D7-B8068118E0DB}"/>
              </a:ext>
            </a:extLst>
          </p:cNvPr>
          <p:cNvSpPr>
            <a:spLocks xmlns:a="http://schemas.openxmlformats.org/drawingml/2006/main" noGrp="1"/>
          </p:cNvSpPr>
          <p:nvPr/>
        </p:nvSpPr>
        <p:spPr>
          <a:xfrm xmlns:a="http://schemas.openxmlformats.org/drawingml/2006/main">
            <a:off x="990600"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45D5D"/>
                </a:solidFill>
              </a:defRPr>
            </a:pPr>
            <a:r>
              <a:rPr sz="1050" b="1">
                <a:solidFill>
                  <a:srgbClr val="F45D5D"/>
                </a:solidFill>
              </a:rPr>
              <a:t>×  Instagram</a:t>
            </a:r>
          </a:p>
        </p:txBody>
      </p:sp>
      <p:sp>
        <p:nvSpPr>
          <p:cNvPr id="8" name="">
            <a:extLst xmlns:a="http://schemas.openxmlformats.org/drawingml/2006/main">
              <a:ext uri="{FF2B5EF4-FFF2-40B4-BE49-F238E27FC236}">
                <a16:creationId xmlns:a16="http://schemas.microsoft.com/office/drawing/2014/main" id="{8D2F120B-9E76-43FC-B306-8C34F12F4D43}"/>
              </a:ext>
            </a:extLst>
          </p:cNvPr>
          <p:cNvSpPr>
            <a:spLocks xmlns:a="http://schemas.openxmlformats.org/drawingml/2006/main" noGrp="1"/>
          </p:cNvSpPr>
          <p:nvPr/>
        </p:nvSpPr>
        <p:spPr>
          <a:xfrm xmlns:a="http://schemas.openxmlformats.org/drawingml/2006/main">
            <a:off x="3667125"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A86B"/>
                </a:solidFill>
              </a:defRPr>
            </a:pPr>
            <a:r>
              <a:rPr sz="1050" b="1">
                <a:solidFill>
                  <a:srgbClr val="00A86B"/>
                </a:solidFill>
              </a:rPr>
              <a:t>○  X</a:t>
            </a:r>
          </a:p>
        </p:txBody>
      </p:sp>
      <p:sp>
        <p:nvSpPr>
          <p:cNvPr id="9" name="">
            <a:extLst xmlns:a="http://schemas.openxmlformats.org/drawingml/2006/main">
              <a:ext uri="{FF2B5EF4-FFF2-40B4-BE49-F238E27FC236}">
                <a16:creationId xmlns:a16="http://schemas.microsoft.com/office/drawing/2014/main" id="{520B791B-05A3-4149-81D8-177A25A6A303}"/>
              </a:ext>
            </a:extLst>
          </p:cNvPr>
          <p:cNvSpPr>
            <a:spLocks xmlns:a="http://schemas.openxmlformats.org/drawingml/2006/main" noGrp="1"/>
          </p:cNvSpPr>
          <p:nvPr/>
        </p:nvSpPr>
        <p:spPr>
          <a:xfrm xmlns:a="http://schemas.openxmlformats.org/drawingml/2006/main">
            <a:off x="1047750"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来店理由を届ける</a:t>
            </a:r>
          </a:p>
          <a:p xmlns:a="http://schemas.openxmlformats.org/drawingml/2006/main">
            <a:pPr algn="ctr">
              <a:defRPr sz="1425" b="1">
                <a:solidFill>
                  <a:srgbClr val="0F1419"/>
                </a:solidFill>
              </a:defRPr>
            </a:pPr>
            <a:r>
              <a:rPr sz="1425" b="1">
                <a:solidFill>
                  <a:srgbClr val="0F1419"/>
                </a:solidFill>
              </a:rPr>
              <a:t>世界観・売場・商品</a:t>
            </a:r>
          </a:p>
        </p:txBody>
      </p:sp>
      <p:sp>
        <p:nvSpPr>
          <p:cNvPr id="10" name="">
            <a:extLst xmlns:a="http://schemas.openxmlformats.org/drawingml/2006/main">
              <a:ext uri="{FF2B5EF4-FFF2-40B4-BE49-F238E27FC236}">
                <a16:creationId xmlns:a16="http://schemas.microsoft.com/office/drawing/2014/main" id="{3647856D-468C-4CA5-8456-9ED318E8C3EF}"/>
              </a:ext>
            </a:extLst>
          </p:cNvPr>
          <p:cNvSpPr>
            <a:spLocks xmlns:a="http://schemas.openxmlformats.org/drawingml/2006/main" noGrp="1"/>
          </p:cNvSpPr>
          <p:nvPr/>
        </p:nvSpPr>
        <p:spPr>
          <a:xfrm xmlns:a="http://schemas.openxmlformats.org/drawingml/2006/main">
            <a:off x="3724275"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専門性を育てる</a:t>
            </a:r>
          </a:p>
          <a:p xmlns:a="http://schemas.openxmlformats.org/drawingml/2006/main">
            <a:pPr algn="ctr">
              <a:defRPr sz="1425" b="1">
                <a:solidFill>
                  <a:srgbClr val="0F1419"/>
                </a:solidFill>
              </a:defRPr>
            </a:pPr>
            <a:r>
              <a:rPr sz="1425" b="1">
                <a:solidFill>
                  <a:srgbClr val="0F1419"/>
                </a:solidFill>
              </a:rPr>
              <a:t>発見・速報・会話</a:t>
            </a:r>
          </a:p>
        </p:txBody>
      </p:sp>
      <p:sp>
        <p:nvSpPr>
          <p:cNvPr id="11" name="">
            <a:extLst xmlns:a="http://schemas.openxmlformats.org/drawingml/2006/main">
              <a:ext uri="{FF2B5EF4-FFF2-40B4-BE49-F238E27FC236}">
                <a16:creationId xmlns:a16="http://schemas.microsoft.com/office/drawing/2014/main" id="{CC301AD6-0E0B-46F1-B42A-BB08590708C4}"/>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2DA6D8A7-6068-48F2-A775-870537ACDFF7}"/>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B91181F-DAA5-435A-910D-F4ACEBD6CC24}"/>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69950058-4304-4530-A7AC-2FEEFA280043}"/>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7DA68F4E-D28E-4553-B57C-E3B29A1EC41D}"/>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写真を蓄積して店の魅力を見せるInstagramに対し、Xは投稿と反応がリアルタイムに広がります。</a:t>
            </a:r>
          </a:p>
        </p:txBody>
      </p:sp>
      <p:sp>
        <p:nvSpPr>
          <p:cNvPr id="16" name="">
            <a:extLst xmlns:a="http://schemas.openxmlformats.org/drawingml/2006/main">
              <a:ext uri="{FF2B5EF4-FFF2-40B4-BE49-F238E27FC236}">
                <a16:creationId xmlns:a16="http://schemas.microsoft.com/office/drawing/2014/main" id="{B5627647-EDD5-4068-8B4A-82318D70A155}"/>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E713E301-975C-45C1-BE68-7262110D5FD0}"/>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97DE38E-ADDA-4990-BC41-36D76C4D808E}"/>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70A80FFA-C681-410B-BF64-225B01614DF0}"/>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C107B4F6-CB7F-4964-B478-C26DBC83EB5E}"/>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Instagramで売場の完成形を見せ、Xで選書理由や入荷の熱量を語る。</a:t>
            </a:r>
          </a:p>
        </p:txBody>
      </p:sp>
      <p:sp>
        <p:nvSpPr>
          <p:cNvPr id="21" name="">
            <a:extLst xmlns:a="http://schemas.openxmlformats.org/drawingml/2006/main">
              <a:ext uri="{FF2B5EF4-FFF2-40B4-BE49-F238E27FC236}">
                <a16:creationId xmlns:a16="http://schemas.microsoft.com/office/drawing/2014/main" id="{3D830C41-A8C8-4C26-BD51-37D0CB0618D5}"/>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241DDC19-B4B0-45A9-873C-FBFC1D5C5557}"/>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A0AA399-9CB1-4864-B975-F713BD576232}"/>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2D9E4E11-2E35-4B2E-B9D0-FF4DF2ED4705}"/>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0205DAF5-9D74-4348-B776-299B82AD896B}"/>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同じ商品でも、Xでは『なぜ推すのか』を一言足しましょう。</a:t>
            </a:r>
          </a:p>
        </p:txBody>
      </p:sp>
      <p:sp>
        <p:nvSpPr>
          <p:cNvPr id="26" name="">
            <a:extLst xmlns:a="http://schemas.openxmlformats.org/drawingml/2006/main">
              <a:ext uri="{FF2B5EF4-FFF2-40B4-BE49-F238E27FC236}">
                <a16:creationId xmlns:a16="http://schemas.microsoft.com/office/drawing/2014/main" id="{636D9FF5-1DBB-405D-ACF1-FC1E64BAAF57}"/>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DE1CC6FC-7B67-442E-904F-D6484F2FC7FF}"/>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03 / 22</a:t>
            </a:r>
          </a:p>
        </p:txBody>
      </p:sp>
      <p:sp>
        <p:nvSpPr>
          <p:cNvPr id="28" name="">
            <a:extLst xmlns:a="http://schemas.openxmlformats.org/drawingml/2006/main">
              <a:ext uri="{FF2B5EF4-FFF2-40B4-BE49-F238E27FC236}">
                <a16:creationId xmlns:a16="http://schemas.microsoft.com/office/drawing/2014/main" id="{A68C2425-4724-4425-BBAB-3CD6F054DF8F}"/>
              </a:ext>
            </a:extLst>
          </p:cNvPr>
          <p:cNvSpPr>
            <a:spLocks xmlns:a="http://schemas.openxmlformats.org/drawingml/2006/main" noGrp="1"/>
          </p:cNvSpPr>
          <p:nvPr/>
        </p:nvSpPr>
        <p:spPr>
          <a:xfrm xmlns:a="http://schemas.openxmlformats.org/drawingml/2006/main">
            <a:off x="571500" y="6705600"/>
            <a:ext cx="1506682"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3347504"/>
      </p:ext>
    </p:extLst>
  </p:cSld>
</p:sld>
</file>

<file path=ppt/slides/slide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9C45AB-3408-4016-8E40-5BCF90895C60}"/>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1-2 / GROWTH LOOP</a:t>
            </a:r>
          </a:p>
        </p:txBody>
      </p:sp>
      <p:sp>
        <p:nvSpPr>
          <p:cNvPr id="2" name="">
            <a:extLst xmlns:a="http://schemas.openxmlformats.org/drawingml/2006/main">
              <a:ext uri="{FF2B5EF4-FFF2-40B4-BE49-F238E27FC236}">
                <a16:creationId xmlns:a16="http://schemas.microsoft.com/office/drawing/2014/main" id="{7A93A61D-036C-42A9-94AA-884AEFFA364E}"/>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フォロワー数より、反応される専門性</a:t>
            </a:r>
          </a:p>
        </p:txBody>
      </p:sp>
      <p:sp>
        <p:nvSpPr>
          <p:cNvPr id="3" name="">
            <a:extLst xmlns:a="http://schemas.openxmlformats.org/drawingml/2006/main">
              <a:ext uri="{FF2B5EF4-FFF2-40B4-BE49-F238E27FC236}">
                <a16:creationId xmlns:a16="http://schemas.microsoft.com/office/drawing/2014/main" id="{7A785244-54BE-4052-A64E-804FCA9EC146}"/>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人数より『興味が合う人からの反応』が成長をつくる。</a:t>
            </a:r>
          </a:p>
        </p:txBody>
      </p:sp>
      <p:sp>
        <p:nvSpPr>
          <p:cNvPr id="4" name="">
            <a:extLst xmlns:a="http://schemas.openxmlformats.org/drawingml/2006/main">
              <a:ext uri="{FF2B5EF4-FFF2-40B4-BE49-F238E27FC236}">
                <a16:creationId xmlns:a16="http://schemas.microsoft.com/office/drawing/2014/main" id="{D3B4E507-0DE8-4F97-9B1E-9556EECD3638}"/>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FC65D5F3-9F9B-4481-83EA-F6A56AEFC720}"/>
              </a:ext>
            </a:extLst>
          </p:cNvPr>
          <p:cNvSpPr>
            <a:spLocks xmlns:a="http://schemas.openxmlformats.org/drawingml/2006/main" noGrp="1"/>
          </p:cNvSpPr>
          <p:nvPr/>
        </p:nvSpPr>
        <p:spPr>
          <a:xfrm xmlns:a="http://schemas.openxmlformats.org/drawingml/2006/main">
            <a:off x="838200" y="3609975"/>
            <a:ext cx="1028700" cy="876300"/>
          </a:xfrm>
          <a:prstGeom xmlns:a="http://schemas.openxmlformats.org/drawingml/2006/main" prst="roundRect">
            <a:avLst>
              <a:gd name="adj" fmla="val 10870"/>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専門性</a:t>
            </a:r>
          </a:p>
        </p:txBody>
      </p:sp>
      <p:sp>
        <p:nvSpPr>
          <p:cNvPr id="6" name="">
            <a:extLst xmlns:a="http://schemas.openxmlformats.org/drawingml/2006/main">
              <a:ext uri="{FF2B5EF4-FFF2-40B4-BE49-F238E27FC236}">
                <a16:creationId xmlns:a16="http://schemas.microsoft.com/office/drawing/2014/main" id="{CB33163D-8045-492E-B81A-83F2B08F0382}"/>
              </a:ext>
            </a:extLst>
          </p:cNvPr>
          <p:cNvSpPr>
            <a:spLocks xmlns:a="http://schemas.openxmlformats.org/drawingml/2006/main" noGrp="1"/>
          </p:cNvSpPr>
          <p:nvPr/>
        </p:nvSpPr>
        <p:spPr>
          <a:xfrm xmlns:a="http://schemas.openxmlformats.org/drawingml/2006/main">
            <a:off x="1895475" y="3914775"/>
            <a:ext cx="266700" cy="247650"/>
          </a:xfrm>
          <a:prstGeom xmlns:a="http://schemas.openxmlformats.org/drawingml/2006/main" prst="rightArrow">
            <a:avLst/>
          </a:prstGeom>
          <a:solidFill xmlns:a="http://schemas.openxmlformats.org/drawingml/2006/main">
            <a:srgbClr val="1D9B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F5F25673-1521-403F-832F-0F2E05CB2891}"/>
              </a:ext>
            </a:extLst>
          </p:cNvPr>
          <p:cNvSpPr>
            <a:spLocks xmlns:a="http://schemas.openxmlformats.org/drawingml/2006/main" noGrp="1"/>
          </p:cNvSpPr>
          <p:nvPr/>
        </p:nvSpPr>
        <p:spPr>
          <a:xfrm xmlns:a="http://schemas.openxmlformats.org/drawingml/2006/main">
            <a:off x="2190750" y="3609975"/>
            <a:ext cx="10287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おすすめ</a:t>
            </a:r>
          </a:p>
        </p:txBody>
      </p:sp>
      <p:sp>
        <p:nvSpPr>
          <p:cNvPr id="8" name="">
            <a:extLst xmlns:a="http://schemas.openxmlformats.org/drawingml/2006/main">
              <a:ext uri="{FF2B5EF4-FFF2-40B4-BE49-F238E27FC236}">
                <a16:creationId xmlns:a16="http://schemas.microsoft.com/office/drawing/2014/main" id="{89E85444-1180-4389-8248-C6942CEA7B9F}"/>
              </a:ext>
            </a:extLst>
          </p:cNvPr>
          <p:cNvSpPr>
            <a:spLocks xmlns:a="http://schemas.openxmlformats.org/drawingml/2006/main" noGrp="1"/>
          </p:cNvSpPr>
          <p:nvPr/>
        </p:nvSpPr>
        <p:spPr>
          <a:xfrm xmlns:a="http://schemas.openxmlformats.org/drawingml/2006/main">
            <a:off x="3248025" y="3914775"/>
            <a:ext cx="266700" cy="247650"/>
          </a:xfrm>
          <a:prstGeom xmlns:a="http://schemas.openxmlformats.org/drawingml/2006/main" prst="rightArrow">
            <a:avLst/>
          </a:prstGeom>
          <a:solidFill xmlns:a="http://schemas.openxmlformats.org/drawingml/2006/main">
            <a:srgbClr val="1D9BF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6225DD16-67F0-482E-8FA5-179E5E3A34D2}"/>
              </a:ext>
            </a:extLst>
          </p:cNvPr>
          <p:cNvSpPr>
            <a:spLocks xmlns:a="http://schemas.openxmlformats.org/drawingml/2006/main" noGrp="1"/>
          </p:cNvSpPr>
          <p:nvPr/>
        </p:nvSpPr>
        <p:spPr>
          <a:xfrm xmlns:a="http://schemas.openxmlformats.org/drawingml/2006/main">
            <a:off x="3543300" y="3609975"/>
            <a:ext cx="10287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反応</a:t>
            </a:r>
          </a:p>
        </p:txBody>
      </p:sp>
      <p:sp>
        <p:nvSpPr>
          <p:cNvPr id="10" name="">
            <a:extLst xmlns:a="http://schemas.openxmlformats.org/drawingml/2006/main">
              <a:ext uri="{FF2B5EF4-FFF2-40B4-BE49-F238E27FC236}">
                <a16:creationId xmlns:a16="http://schemas.microsoft.com/office/drawing/2014/main" id="{11589EF3-4895-4679-BDE0-73816F2C2EF3}"/>
              </a:ext>
            </a:extLst>
          </p:cNvPr>
          <p:cNvSpPr>
            <a:spLocks xmlns:a="http://schemas.openxmlformats.org/drawingml/2006/main" noGrp="1"/>
          </p:cNvSpPr>
          <p:nvPr/>
        </p:nvSpPr>
        <p:spPr>
          <a:xfrm xmlns:a="http://schemas.openxmlformats.org/drawingml/2006/main">
            <a:off x="4600575" y="3914775"/>
            <a:ext cx="266700" cy="247650"/>
          </a:xfrm>
          <a:prstGeom xmlns:a="http://schemas.openxmlformats.org/drawingml/2006/main" prst="rightArrow">
            <a:avLst/>
          </a:prstGeom>
          <a:solidFill xmlns:a="http://schemas.openxmlformats.org/drawingml/2006/main">
            <a:srgbClr val="1D9BF0"/>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AEB3D489-0B22-4705-9701-E957B5E58FC2}"/>
              </a:ext>
            </a:extLst>
          </p:cNvPr>
          <p:cNvSpPr>
            <a:spLocks xmlns:a="http://schemas.openxmlformats.org/drawingml/2006/main" noGrp="1"/>
          </p:cNvSpPr>
          <p:nvPr/>
        </p:nvSpPr>
        <p:spPr>
          <a:xfrm xmlns:a="http://schemas.openxmlformats.org/drawingml/2006/main">
            <a:off x="4895850" y="3609975"/>
            <a:ext cx="102870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影響力</a:t>
            </a:r>
          </a:p>
        </p:txBody>
      </p:sp>
      <p:sp>
        <p:nvSpPr>
          <p:cNvPr id="12" name="">
            <a:extLst xmlns:a="http://schemas.openxmlformats.org/drawingml/2006/main">
              <a:ext uri="{FF2B5EF4-FFF2-40B4-BE49-F238E27FC236}">
                <a16:creationId xmlns:a16="http://schemas.microsoft.com/office/drawing/2014/main" id="{D6275988-BA12-4CEF-B30D-B58F125C66EE}"/>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3" name="">
            <a:extLst xmlns:a="http://schemas.openxmlformats.org/drawingml/2006/main">
              <a:ext uri="{FF2B5EF4-FFF2-40B4-BE49-F238E27FC236}">
                <a16:creationId xmlns:a16="http://schemas.microsoft.com/office/drawing/2014/main" id="{680DFD8D-15D0-4CF6-BB11-9C930DD9618A}"/>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FFFCA1AD-E062-4705-9E2B-FDA17C11E334}"/>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5" name="">
            <a:extLst xmlns:a="http://schemas.openxmlformats.org/drawingml/2006/main">
              <a:ext uri="{FF2B5EF4-FFF2-40B4-BE49-F238E27FC236}">
                <a16:creationId xmlns:a16="http://schemas.microsoft.com/office/drawing/2014/main" id="{40C25969-71A9-4281-AB2E-4232E2044959}"/>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6" name="">
            <a:extLst xmlns:a="http://schemas.openxmlformats.org/drawingml/2006/main">
              <a:ext uri="{FF2B5EF4-FFF2-40B4-BE49-F238E27FC236}">
                <a16:creationId xmlns:a16="http://schemas.microsoft.com/office/drawing/2014/main" id="{026A83AF-44AF-46A2-9AB5-C11AB45C0E5B}"/>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おすすめ表示は、投稿への反応や閲覧傾向から『誰に役立つか』を学習します。</a:t>
            </a:r>
          </a:p>
        </p:txBody>
      </p:sp>
      <p:sp>
        <p:nvSpPr>
          <p:cNvPr id="17" name="">
            <a:extLst xmlns:a="http://schemas.openxmlformats.org/drawingml/2006/main">
              <a:ext uri="{FF2B5EF4-FFF2-40B4-BE49-F238E27FC236}">
                <a16:creationId xmlns:a16="http://schemas.microsoft.com/office/drawing/2014/main" id="{4C9C9AEB-DFF5-45E8-8E8B-AC1BA1F0E976}"/>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8" name="">
            <a:extLst xmlns:a="http://schemas.openxmlformats.org/drawingml/2006/main">
              <a:ext uri="{FF2B5EF4-FFF2-40B4-BE49-F238E27FC236}">
                <a16:creationId xmlns:a16="http://schemas.microsoft.com/office/drawing/2014/main" id="{1E6347D1-8D9E-4C95-98DE-8CFD08FF83BA}"/>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6EF8B017-7E34-4A5F-B79B-A2474BD7E8D6}"/>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20" name="">
            <a:extLst xmlns:a="http://schemas.openxmlformats.org/drawingml/2006/main">
              <a:ext uri="{FF2B5EF4-FFF2-40B4-BE49-F238E27FC236}">
                <a16:creationId xmlns:a16="http://schemas.microsoft.com/office/drawing/2014/main" id="{8257C0E3-99CE-4171-9A30-A6E3D1FAB48A}"/>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1" name="">
            <a:extLst xmlns:a="http://schemas.openxmlformats.org/drawingml/2006/main">
              <a:ext uri="{FF2B5EF4-FFF2-40B4-BE49-F238E27FC236}">
                <a16:creationId xmlns:a16="http://schemas.microsoft.com/office/drawing/2014/main" id="{4CD33A1A-381A-4B86-8D53-1490FF66E234}"/>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本好きが保存・返信する投稿は、別の本好きにも届く可能性が高まります。</a:t>
            </a:r>
          </a:p>
        </p:txBody>
      </p:sp>
      <p:sp>
        <p:nvSpPr>
          <p:cNvPr id="22" name="">
            <a:extLst xmlns:a="http://schemas.openxmlformats.org/drawingml/2006/main">
              <a:ext uri="{FF2B5EF4-FFF2-40B4-BE49-F238E27FC236}">
                <a16:creationId xmlns:a16="http://schemas.microsoft.com/office/drawing/2014/main" id="{3228C80D-5B79-4975-BEBA-E8A676397D0A}"/>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3" name="">
            <a:extLst xmlns:a="http://schemas.openxmlformats.org/drawingml/2006/main">
              <a:ext uri="{FF2B5EF4-FFF2-40B4-BE49-F238E27FC236}">
                <a16:creationId xmlns:a16="http://schemas.microsoft.com/office/drawing/2014/main" id="{E7CA9C9D-BB98-4749-B8A9-7788A2B71275}"/>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A075AEA4-F662-46D1-9E83-AE944BE383C9}"/>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5" name="">
            <a:extLst xmlns:a="http://schemas.openxmlformats.org/drawingml/2006/main">
              <a:ext uri="{FF2B5EF4-FFF2-40B4-BE49-F238E27FC236}">
                <a16:creationId xmlns:a16="http://schemas.microsoft.com/office/drawing/2014/main" id="{94CD27F3-2CF5-41D7-9095-06A89496559D}"/>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6" name="">
            <a:extLst xmlns:a="http://schemas.openxmlformats.org/drawingml/2006/main">
              <a:ext uri="{FF2B5EF4-FFF2-40B4-BE49-F238E27FC236}">
                <a16:creationId xmlns:a16="http://schemas.microsoft.com/office/drawing/2014/main" id="{63E85D0B-866B-45E2-8205-B0F0176059F9}"/>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フォロワー増加だけでなく、返信・いいね・引用の質を見ましょう。</a:t>
            </a:r>
          </a:p>
        </p:txBody>
      </p:sp>
      <p:sp>
        <p:nvSpPr>
          <p:cNvPr id="27" name="">
            <a:extLst xmlns:a="http://schemas.openxmlformats.org/drawingml/2006/main">
              <a:ext uri="{FF2B5EF4-FFF2-40B4-BE49-F238E27FC236}">
                <a16:creationId xmlns:a16="http://schemas.microsoft.com/office/drawing/2014/main" id="{FF697504-B657-44EF-BFFD-38481C3A34EA}"/>
              </a:ext>
            </a:extLst>
          </p:cNvPr>
          <p:cNvSpPr>
            <a:spLocks xmlns:a="http://schemas.openxmlformats.org/drawingml/2006/main" noGrp="1"/>
          </p:cNvSpPr>
          <p:nvPr/>
        </p:nvSpPr>
        <p:spPr>
          <a:xfrm xmlns:a="http://schemas.openxmlformats.org/drawingml/2006/main">
            <a:off x="6667500" y="5981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36471"/>
                </a:solidFill>
              </a:defRPr>
            </a:pPr>
            <a:r>
              <a:rPr sz="975" b="0">
                <a:solidFill>
                  <a:srgbClr val="536471"/>
                </a:solidFill>
              </a:rPr>
              <a:t>エンゲージメント＝いいね、返信、リポストなどの反応</a:t>
            </a:r>
          </a:p>
        </p:txBody>
      </p:sp>
      <p:sp>
        <p:nvSpPr>
          <p:cNvPr id="28" name="">
            <a:extLst xmlns:a="http://schemas.openxmlformats.org/drawingml/2006/main">
              <a:ext uri="{FF2B5EF4-FFF2-40B4-BE49-F238E27FC236}">
                <a16:creationId xmlns:a16="http://schemas.microsoft.com/office/drawing/2014/main" id="{522023F0-0366-4A86-AAB9-5D07AC2577E4}"/>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9" name="">
            <a:extLst xmlns:a="http://schemas.openxmlformats.org/drawingml/2006/main">
              <a:ext uri="{FF2B5EF4-FFF2-40B4-BE49-F238E27FC236}">
                <a16:creationId xmlns:a16="http://schemas.microsoft.com/office/drawing/2014/main" id="{E6301DE0-06BC-4FBF-B6F7-C2E84EAA2D51}"/>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04 / 22</a:t>
            </a:r>
          </a:p>
        </p:txBody>
      </p:sp>
      <p:sp>
        <p:nvSpPr>
          <p:cNvPr id="30" name="">
            <a:extLst xmlns:a="http://schemas.openxmlformats.org/drawingml/2006/main">
              <a:ext uri="{FF2B5EF4-FFF2-40B4-BE49-F238E27FC236}">
                <a16:creationId xmlns:a16="http://schemas.microsoft.com/office/drawing/2014/main" id="{DA50C8BF-C1C7-4F4E-97D2-CA8C38C66CE2}"/>
              </a:ext>
            </a:extLst>
          </p:cNvPr>
          <p:cNvSpPr>
            <a:spLocks xmlns:a="http://schemas.openxmlformats.org/drawingml/2006/main" noGrp="1"/>
          </p:cNvSpPr>
          <p:nvPr/>
        </p:nvSpPr>
        <p:spPr>
          <a:xfrm xmlns:a="http://schemas.openxmlformats.org/drawingml/2006/main">
            <a:off x="571500" y="6705600"/>
            <a:ext cx="2008909"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2039829729"/>
      </p:ext>
    </p:extLst>
  </p:cSld>
</p:sld>
</file>

<file path=ppt/slides/slide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AD5CDD8E-545E-4A89-A9D7-046024EFB658}"/>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1-3 / RECOMMENDATION</a:t>
            </a:r>
          </a:p>
        </p:txBody>
      </p:sp>
      <p:sp>
        <p:nvSpPr>
          <p:cNvPr id="2" name="">
            <a:extLst xmlns:a="http://schemas.openxmlformats.org/drawingml/2006/main">
              <a:ext uri="{FF2B5EF4-FFF2-40B4-BE49-F238E27FC236}">
                <a16:creationId xmlns:a16="http://schemas.microsoft.com/office/drawing/2014/main" id="{F175A825-ABAC-408C-BCB3-9462DEEFAD87}"/>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専門性は、おすすめへの入口になる</a:t>
            </a:r>
          </a:p>
        </p:txBody>
      </p:sp>
      <p:sp>
        <p:nvSpPr>
          <p:cNvPr id="3" name="">
            <a:extLst xmlns:a="http://schemas.openxmlformats.org/drawingml/2006/main">
              <a:ext uri="{FF2B5EF4-FFF2-40B4-BE49-F238E27FC236}">
                <a16:creationId xmlns:a16="http://schemas.microsoft.com/office/drawing/2014/main" id="{FC005BC4-8554-4F51-A42D-C28334707217}"/>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一貫した発信が『本好きに届けるべきアカウント』という手がかりになる。</a:t>
            </a:r>
          </a:p>
        </p:txBody>
      </p:sp>
      <p:sp>
        <p:nvSpPr>
          <p:cNvPr id="4" name="">
            <a:extLst xmlns:a="http://schemas.openxmlformats.org/drawingml/2006/main">
              <a:ext uri="{FF2B5EF4-FFF2-40B4-BE49-F238E27FC236}">
                <a16:creationId xmlns:a16="http://schemas.microsoft.com/office/drawing/2014/main" id="{E700970F-8E1B-441C-AAAD-2C4892AF0BB5}"/>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DD90D288-EA30-463A-A3D3-1BBFE6C50EF5}"/>
              </a:ext>
            </a:extLst>
          </p:cNvPr>
          <p:cNvSpPr>
            <a:spLocks xmlns:a="http://schemas.openxmlformats.org/drawingml/2006/main" noGrp="1"/>
          </p:cNvSpPr>
          <p:nvPr/>
        </p:nvSpPr>
        <p:spPr>
          <a:xfrm xmlns:a="http://schemas.openxmlformats.org/drawingml/2006/main">
            <a:off x="838200" y="3609975"/>
            <a:ext cx="1479550" cy="876300"/>
          </a:xfrm>
          <a:prstGeom xmlns:a="http://schemas.openxmlformats.org/drawingml/2006/main" prst="roundRect">
            <a:avLst>
              <a:gd name="adj" fmla="val 10870"/>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発信を重ねる</a:t>
            </a:r>
          </a:p>
        </p:txBody>
      </p:sp>
      <p:sp>
        <p:nvSpPr>
          <p:cNvPr id="6" name="">
            <a:extLst xmlns:a="http://schemas.openxmlformats.org/drawingml/2006/main">
              <a:ext uri="{FF2B5EF4-FFF2-40B4-BE49-F238E27FC236}">
                <a16:creationId xmlns:a16="http://schemas.microsoft.com/office/drawing/2014/main" id="{ABA743D6-5930-4740-9D99-62B14FBA85D3}"/>
              </a:ext>
            </a:extLst>
          </p:cNvPr>
          <p:cNvSpPr>
            <a:spLocks xmlns:a="http://schemas.openxmlformats.org/drawingml/2006/main" noGrp="1"/>
          </p:cNvSpPr>
          <p:nvPr/>
        </p:nvSpPr>
        <p:spPr>
          <a:xfrm xmlns:a="http://schemas.openxmlformats.org/drawingml/2006/main">
            <a:off x="2346325" y="3914775"/>
            <a:ext cx="266700" cy="247650"/>
          </a:xfrm>
          <a:prstGeom xmlns:a="http://schemas.openxmlformats.org/drawingml/2006/main" prst="rightArrow">
            <a:avLst/>
          </a:prstGeom>
          <a:solidFill xmlns:a="http://schemas.openxmlformats.org/drawingml/2006/main">
            <a:srgbClr val="1D9BF0"/>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464C2D82-0B2E-4EB7-A0E5-CB735C90A9E6}"/>
              </a:ext>
            </a:extLst>
          </p:cNvPr>
          <p:cNvSpPr>
            <a:spLocks xmlns:a="http://schemas.openxmlformats.org/drawingml/2006/main" noGrp="1"/>
          </p:cNvSpPr>
          <p:nvPr/>
        </p:nvSpPr>
        <p:spPr>
          <a:xfrm xmlns:a="http://schemas.openxmlformats.org/drawingml/2006/main">
            <a:off x="2641600" y="3609975"/>
            <a:ext cx="14795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本好きへ届く</a:t>
            </a:r>
          </a:p>
        </p:txBody>
      </p:sp>
      <p:sp>
        <p:nvSpPr>
          <p:cNvPr id="8" name="">
            <a:extLst xmlns:a="http://schemas.openxmlformats.org/drawingml/2006/main">
              <a:ext uri="{FF2B5EF4-FFF2-40B4-BE49-F238E27FC236}">
                <a16:creationId xmlns:a16="http://schemas.microsoft.com/office/drawing/2014/main" id="{C3AFAEFB-9FE9-493C-8B69-9F0676F781E6}"/>
              </a:ext>
            </a:extLst>
          </p:cNvPr>
          <p:cNvSpPr>
            <a:spLocks xmlns:a="http://schemas.openxmlformats.org/drawingml/2006/main" noGrp="1"/>
          </p:cNvSpPr>
          <p:nvPr/>
        </p:nvSpPr>
        <p:spPr>
          <a:xfrm xmlns:a="http://schemas.openxmlformats.org/drawingml/2006/main">
            <a:off x="4149725" y="3914775"/>
            <a:ext cx="266700" cy="247650"/>
          </a:xfrm>
          <a:prstGeom xmlns:a="http://schemas.openxmlformats.org/drawingml/2006/main" prst="rightArrow">
            <a:avLst/>
          </a:prstGeom>
          <a:solidFill xmlns:a="http://schemas.openxmlformats.org/drawingml/2006/main">
            <a:srgbClr val="1D9BF0"/>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D746C05-27DD-4D14-97C8-286146AA06B6}"/>
              </a:ext>
            </a:extLst>
          </p:cNvPr>
          <p:cNvSpPr>
            <a:spLocks xmlns:a="http://schemas.openxmlformats.org/drawingml/2006/main" noGrp="1"/>
          </p:cNvSpPr>
          <p:nvPr/>
        </p:nvSpPr>
        <p:spPr>
          <a:xfrm xmlns:a="http://schemas.openxmlformats.org/drawingml/2006/main">
            <a:off x="4445000" y="3609975"/>
            <a:ext cx="1479550" cy="876300"/>
          </a:xfrm>
          <a:prstGeom xmlns:a="http://schemas.openxmlformats.org/drawingml/2006/main" prst="roundRect">
            <a:avLst>
              <a:gd name="adj" fmla="val 10870"/>
            </a:avLst>
          </a:prstGeom>
          <a:solidFill xmlns:a="http://schemas.openxmlformats.org/drawingml/2006/main">
            <a:srgbClr val="FFFFFF"/>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反応が生まれる</a:t>
            </a:r>
          </a:p>
        </p:txBody>
      </p:sp>
      <p:sp>
        <p:nvSpPr>
          <p:cNvPr id="10" name="">
            <a:extLst xmlns:a="http://schemas.openxmlformats.org/drawingml/2006/main">
              <a:ext uri="{FF2B5EF4-FFF2-40B4-BE49-F238E27FC236}">
                <a16:creationId xmlns:a16="http://schemas.microsoft.com/office/drawing/2014/main" id="{AE07744E-48A1-4235-A8E3-882EE6EE57C9}"/>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1" name="">
            <a:extLst xmlns:a="http://schemas.openxmlformats.org/drawingml/2006/main">
              <a:ext uri="{FF2B5EF4-FFF2-40B4-BE49-F238E27FC236}">
                <a16:creationId xmlns:a16="http://schemas.microsoft.com/office/drawing/2014/main" id="{67339DC0-B335-4248-97B4-4D73BBB9F383}"/>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80E04CA0-94FA-42B4-9EBE-9FAAC38E1457}"/>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3" name="">
            <a:extLst xmlns:a="http://schemas.openxmlformats.org/drawingml/2006/main">
              <a:ext uri="{FF2B5EF4-FFF2-40B4-BE49-F238E27FC236}">
                <a16:creationId xmlns:a16="http://schemas.microsoft.com/office/drawing/2014/main" id="{29B38D26-EF7D-49D4-BED0-EC5F03DFA39D}"/>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4" name="">
            <a:extLst xmlns:a="http://schemas.openxmlformats.org/drawingml/2006/main">
              <a:ext uri="{FF2B5EF4-FFF2-40B4-BE49-F238E27FC236}">
                <a16:creationId xmlns:a16="http://schemas.microsoft.com/office/drawing/2014/main" id="{DEEED80A-A9F0-4125-9725-37034309002C}"/>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Xはフォロー関係だけでなく、興味・反応・会話の近さから投稿を推薦します。</a:t>
            </a:r>
          </a:p>
        </p:txBody>
      </p:sp>
      <p:sp>
        <p:nvSpPr>
          <p:cNvPr id="15" name="">
            <a:extLst xmlns:a="http://schemas.openxmlformats.org/drawingml/2006/main">
              <a:ext uri="{FF2B5EF4-FFF2-40B4-BE49-F238E27FC236}">
                <a16:creationId xmlns:a16="http://schemas.microsoft.com/office/drawing/2014/main" id="{DCEA1FA0-AC69-49FB-B1B6-D5F80C1FEB5F}"/>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6" name="">
            <a:extLst xmlns:a="http://schemas.openxmlformats.org/drawingml/2006/main">
              <a:ext uri="{FF2B5EF4-FFF2-40B4-BE49-F238E27FC236}">
                <a16:creationId xmlns:a16="http://schemas.microsoft.com/office/drawing/2014/main" id="{FB13DDD0-A9CD-4688-86B3-953FC2164CAF}"/>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4801707-8C66-42FC-BDCB-F4E9DCE743F6}"/>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8" name="">
            <a:extLst xmlns:a="http://schemas.openxmlformats.org/drawingml/2006/main">
              <a:ext uri="{FF2B5EF4-FFF2-40B4-BE49-F238E27FC236}">
                <a16:creationId xmlns:a16="http://schemas.microsoft.com/office/drawing/2014/main" id="{27375F90-82E0-48DB-8512-13199F7AC448}"/>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19" name="">
            <a:extLst xmlns:a="http://schemas.openxmlformats.org/drawingml/2006/main">
              <a:ext uri="{FF2B5EF4-FFF2-40B4-BE49-F238E27FC236}">
                <a16:creationId xmlns:a16="http://schemas.microsoft.com/office/drawing/2014/main" id="{A8603E28-3E3D-4D32-8D86-093CDA89AB60}"/>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本の情報→本好きへ表示→反応→影響力向上、という循環が生まれます。</a:t>
            </a:r>
          </a:p>
        </p:txBody>
      </p:sp>
      <p:sp>
        <p:nvSpPr>
          <p:cNvPr id="20" name="">
            <a:extLst xmlns:a="http://schemas.openxmlformats.org/drawingml/2006/main">
              <a:ext uri="{FF2B5EF4-FFF2-40B4-BE49-F238E27FC236}">
                <a16:creationId xmlns:a16="http://schemas.microsoft.com/office/drawing/2014/main" id="{5BB40A78-6BE9-4E5C-A512-BD2B7B51A120}"/>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1" name="">
            <a:extLst xmlns:a="http://schemas.openxmlformats.org/drawingml/2006/main">
              <a:ext uri="{FF2B5EF4-FFF2-40B4-BE49-F238E27FC236}">
                <a16:creationId xmlns:a16="http://schemas.microsoft.com/office/drawing/2014/main" id="{E984FEEC-F524-4A9B-B601-0DE02750B265}"/>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337F360F-147B-4860-968E-2E6DA8D27B88}"/>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3" name="">
            <a:extLst xmlns:a="http://schemas.openxmlformats.org/drawingml/2006/main">
              <a:ext uri="{FF2B5EF4-FFF2-40B4-BE49-F238E27FC236}">
                <a16:creationId xmlns:a16="http://schemas.microsoft.com/office/drawing/2014/main" id="{7AA17216-5697-4FEB-9470-415727BC6B51}"/>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4" name="">
            <a:extLst xmlns:a="http://schemas.openxmlformats.org/drawingml/2006/main">
              <a:ext uri="{FF2B5EF4-FFF2-40B4-BE49-F238E27FC236}">
                <a16:creationId xmlns:a16="http://schemas.microsoft.com/office/drawing/2014/main" id="{83CE10B0-4F11-427B-892E-3516CE61ABD3}"/>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直近10投稿のうち、専門テーマが伝わる投稿を7本以上に。</a:t>
            </a:r>
          </a:p>
        </p:txBody>
      </p:sp>
      <p:sp>
        <p:nvSpPr>
          <p:cNvPr id="25" name="">
            <a:extLst xmlns:a="http://schemas.openxmlformats.org/drawingml/2006/main">
              <a:ext uri="{FF2B5EF4-FFF2-40B4-BE49-F238E27FC236}">
                <a16:creationId xmlns:a16="http://schemas.microsoft.com/office/drawing/2014/main" id="{9426F2E2-3D08-47B8-AA3E-2842C5D62AB0}"/>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6" name="">
            <a:extLst xmlns:a="http://schemas.openxmlformats.org/drawingml/2006/main">
              <a:ext uri="{FF2B5EF4-FFF2-40B4-BE49-F238E27FC236}">
                <a16:creationId xmlns:a16="http://schemas.microsoft.com/office/drawing/2014/main" id="{8B70C0CB-4B96-428B-87C1-86BDCE49523B}"/>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05 / 22</a:t>
            </a:r>
          </a:p>
        </p:txBody>
      </p:sp>
      <p:sp>
        <p:nvSpPr>
          <p:cNvPr id="27" name="">
            <a:extLst xmlns:a="http://schemas.openxmlformats.org/drawingml/2006/main">
              <a:ext uri="{FF2B5EF4-FFF2-40B4-BE49-F238E27FC236}">
                <a16:creationId xmlns:a16="http://schemas.microsoft.com/office/drawing/2014/main" id="{D7AA2E88-C541-4F6E-ADCF-14EE12F833FF}"/>
              </a:ext>
            </a:extLst>
          </p:cNvPr>
          <p:cNvSpPr>
            <a:spLocks xmlns:a="http://schemas.openxmlformats.org/drawingml/2006/main" noGrp="1"/>
          </p:cNvSpPr>
          <p:nvPr/>
        </p:nvSpPr>
        <p:spPr>
          <a:xfrm xmlns:a="http://schemas.openxmlformats.org/drawingml/2006/main">
            <a:off x="571500" y="6705600"/>
            <a:ext cx="2511136"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498593599"/>
      </p:ext>
    </p:extLst>
  </p:cSld>
</p:sld>
</file>

<file path=ppt/slides/slide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8923A78-10A8-402B-84D7-0D1FECF14B0F}"/>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1-4 / AUDIENCE FIT</a:t>
            </a:r>
          </a:p>
        </p:txBody>
      </p:sp>
      <p:sp>
        <p:nvSpPr>
          <p:cNvPr id="2" name="">
            <a:extLst xmlns:a="http://schemas.openxmlformats.org/drawingml/2006/main">
              <a:ext uri="{FF2B5EF4-FFF2-40B4-BE49-F238E27FC236}">
                <a16:creationId xmlns:a16="http://schemas.microsoft.com/office/drawing/2014/main" id="{D8F18380-BFAF-4BCE-9F30-FF9688521C35}"/>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むやみにフォロワーを増やさない</a:t>
            </a:r>
          </a:p>
        </p:txBody>
      </p:sp>
      <p:sp>
        <p:nvSpPr>
          <p:cNvPr id="3" name="">
            <a:extLst xmlns:a="http://schemas.openxmlformats.org/drawingml/2006/main">
              <a:ext uri="{FF2B5EF4-FFF2-40B4-BE49-F238E27FC236}">
                <a16:creationId xmlns:a16="http://schemas.microsoft.com/office/drawing/2014/main" id="{DFA926CB-6E03-4B8B-8D88-1BE61CD05CB4}"/>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反応しない1,000人より、会話する100人を育てる。</a:t>
            </a:r>
          </a:p>
        </p:txBody>
      </p:sp>
      <p:sp>
        <p:nvSpPr>
          <p:cNvPr id="4" name="">
            <a:extLst xmlns:a="http://schemas.openxmlformats.org/drawingml/2006/main">
              <a:ext uri="{FF2B5EF4-FFF2-40B4-BE49-F238E27FC236}">
                <a16:creationId xmlns:a16="http://schemas.microsoft.com/office/drawing/2014/main" id="{8616DF53-58BC-4F15-B58E-6E905E0340E3}"/>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75EB1978-8386-435B-91AB-69B4EBA72E5A}"/>
              </a:ext>
            </a:extLst>
          </p:cNvPr>
          <p:cNvSpPr>
            <a:spLocks xmlns:a="http://schemas.openxmlformats.org/drawingml/2006/main" noGrp="1"/>
          </p:cNvSpPr>
          <p:nvPr/>
        </p:nvSpPr>
        <p:spPr>
          <a:xfrm xmlns:a="http://schemas.openxmlformats.org/drawingml/2006/main">
            <a:off x="800100" y="2495550"/>
            <a:ext cx="2486025" cy="3105150"/>
          </a:xfrm>
          <a:prstGeom xmlns:a="http://schemas.openxmlformats.org/drawingml/2006/main" prst="roundRect">
            <a:avLst>
              <a:gd name="adj" fmla="val 4598"/>
            </a:avLst>
          </a:prstGeom>
          <a:solidFill xmlns:a="http://schemas.openxmlformats.org/drawingml/2006/main">
            <a:srgbClr val="FFF0EF"/>
          </a:solidFill>
          <a:ln xmlns:a="http://schemas.openxmlformats.org/drawingml/2006/main" w="11430">
            <a:solidFill>
              <a:srgbClr val="E4E9ED"/>
            </a:solidFill>
            <a:prstDash val="solid"/>
          </a:ln>
        </p:spPr>
      </p:sp>
      <p:sp>
        <p:nvSpPr>
          <p:cNvPr id="6" name="">
            <a:extLst xmlns:a="http://schemas.openxmlformats.org/drawingml/2006/main">
              <a:ext uri="{FF2B5EF4-FFF2-40B4-BE49-F238E27FC236}">
                <a16:creationId xmlns:a16="http://schemas.microsoft.com/office/drawing/2014/main" id="{19240550-1FAF-496A-9551-02A07E1ED27D}"/>
              </a:ext>
            </a:extLst>
          </p:cNvPr>
          <p:cNvSpPr>
            <a:spLocks xmlns:a="http://schemas.openxmlformats.org/drawingml/2006/main" noGrp="1"/>
          </p:cNvSpPr>
          <p:nvPr/>
        </p:nvSpPr>
        <p:spPr>
          <a:xfrm xmlns:a="http://schemas.openxmlformats.org/drawingml/2006/main">
            <a:off x="3476625" y="2495550"/>
            <a:ext cx="2486025" cy="3105150"/>
          </a:xfrm>
          <a:prstGeom xmlns:a="http://schemas.openxmlformats.org/drawingml/2006/main" prst="roundRect">
            <a:avLst>
              <a:gd name="adj" fmla="val 4598"/>
            </a:avLst>
          </a:prstGeom>
          <a:solidFill xmlns:a="http://schemas.openxmlformats.org/drawingml/2006/main">
            <a:srgbClr val="E5F8F0"/>
          </a:solidFill>
          <a:ln xmlns:a="http://schemas.openxmlformats.org/drawingml/2006/main" w="11430">
            <a:solidFill>
              <a:srgbClr val="E4E9ED"/>
            </a:solidFill>
            <a:prstDash val="solid"/>
          </a:ln>
        </p:spPr>
      </p:sp>
      <p:sp>
        <p:nvSpPr>
          <p:cNvPr id="7" name="">
            <a:extLst xmlns:a="http://schemas.openxmlformats.org/drawingml/2006/main">
              <a:ext uri="{FF2B5EF4-FFF2-40B4-BE49-F238E27FC236}">
                <a16:creationId xmlns:a16="http://schemas.microsoft.com/office/drawing/2014/main" id="{BA675C36-70F9-42CA-AFC6-AC658AE49BDB}"/>
              </a:ext>
            </a:extLst>
          </p:cNvPr>
          <p:cNvSpPr>
            <a:spLocks xmlns:a="http://schemas.openxmlformats.org/drawingml/2006/main" noGrp="1"/>
          </p:cNvSpPr>
          <p:nvPr/>
        </p:nvSpPr>
        <p:spPr>
          <a:xfrm xmlns:a="http://schemas.openxmlformats.org/drawingml/2006/main">
            <a:off x="990600"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45D5D"/>
                </a:solidFill>
              </a:defRPr>
            </a:pPr>
            <a:r>
              <a:rPr sz="1050" b="1">
                <a:solidFill>
                  <a:srgbClr val="F45D5D"/>
                </a:solidFill>
              </a:rPr>
              <a:t>×  数だけ増やす</a:t>
            </a:r>
          </a:p>
        </p:txBody>
      </p:sp>
      <p:sp>
        <p:nvSpPr>
          <p:cNvPr id="8" name="">
            <a:extLst xmlns:a="http://schemas.openxmlformats.org/drawingml/2006/main">
              <a:ext uri="{FF2B5EF4-FFF2-40B4-BE49-F238E27FC236}">
                <a16:creationId xmlns:a16="http://schemas.microsoft.com/office/drawing/2014/main" id="{3D8E3B1D-D03B-4CBE-82A8-A71B40B19EF6}"/>
              </a:ext>
            </a:extLst>
          </p:cNvPr>
          <p:cNvSpPr>
            <a:spLocks xmlns:a="http://schemas.openxmlformats.org/drawingml/2006/main" noGrp="1"/>
          </p:cNvSpPr>
          <p:nvPr/>
        </p:nvSpPr>
        <p:spPr>
          <a:xfrm xmlns:a="http://schemas.openxmlformats.org/drawingml/2006/main">
            <a:off x="3667125"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A86B"/>
                </a:solidFill>
              </a:defRPr>
            </a:pPr>
            <a:r>
              <a:rPr sz="1050" b="1">
                <a:solidFill>
                  <a:srgbClr val="00A86B"/>
                </a:solidFill>
              </a:rPr>
              <a:t>○  関係を育てる</a:t>
            </a:r>
          </a:p>
        </p:txBody>
      </p:sp>
      <p:sp>
        <p:nvSpPr>
          <p:cNvPr id="9" name="">
            <a:extLst xmlns:a="http://schemas.openxmlformats.org/drawingml/2006/main">
              <a:ext uri="{FF2B5EF4-FFF2-40B4-BE49-F238E27FC236}">
                <a16:creationId xmlns:a16="http://schemas.microsoft.com/office/drawing/2014/main" id="{B461F38F-72C8-4CB2-A9CE-AF62E0763581}"/>
              </a:ext>
            </a:extLst>
          </p:cNvPr>
          <p:cNvSpPr>
            <a:spLocks xmlns:a="http://schemas.openxmlformats.org/drawingml/2006/main" noGrp="1"/>
          </p:cNvSpPr>
          <p:nvPr/>
        </p:nvSpPr>
        <p:spPr>
          <a:xfrm xmlns:a="http://schemas.openxmlformats.org/drawingml/2006/main">
            <a:off x="1047750"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1,000人</a:t>
            </a:r>
          </a:p>
          <a:p xmlns:a="http://schemas.openxmlformats.org/drawingml/2006/main">
            <a:pPr algn="ctr">
              <a:defRPr sz="1425" b="1">
                <a:solidFill>
                  <a:srgbClr val="0F1419"/>
                </a:solidFill>
              </a:defRPr>
            </a:pPr>
            <a:r>
              <a:rPr sz="1425" b="1">
                <a:solidFill>
                  <a:srgbClr val="0F1419"/>
                </a:solidFill>
              </a:rPr>
              <a:t>反応 5</a:t>
            </a:r>
          </a:p>
          <a:p xmlns:a="http://schemas.openxmlformats.org/drawingml/2006/main">
            <a:pPr algn="ctr">
              <a:defRPr sz="1425" b="1">
                <a:solidFill>
                  <a:srgbClr val="0F1419"/>
                </a:solidFill>
              </a:defRPr>
            </a:pPr>
            <a:r>
              <a:rPr sz="1425" b="1">
                <a:solidFill>
                  <a:srgbClr val="0F1419"/>
                </a:solidFill>
              </a:rPr>
              <a:t>興味が薄い</a:t>
            </a:r>
          </a:p>
        </p:txBody>
      </p:sp>
      <p:sp>
        <p:nvSpPr>
          <p:cNvPr id="10" name="">
            <a:extLst xmlns:a="http://schemas.openxmlformats.org/drawingml/2006/main">
              <a:ext uri="{FF2B5EF4-FFF2-40B4-BE49-F238E27FC236}">
                <a16:creationId xmlns:a16="http://schemas.microsoft.com/office/drawing/2014/main" id="{8973B73B-01CE-4792-B2E1-9A99B5C2BB39}"/>
              </a:ext>
            </a:extLst>
          </p:cNvPr>
          <p:cNvSpPr>
            <a:spLocks xmlns:a="http://schemas.openxmlformats.org/drawingml/2006/main" noGrp="1"/>
          </p:cNvSpPr>
          <p:nvPr/>
        </p:nvSpPr>
        <p:spPr>
          <a:xfrm xmlns:a="http://schemas.openxmlformats.org/drawingml/2006/main">
            <a:off x="3724275"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100人</a:t>
            </a:r>
          </a:p>
          <a:p xmlns:a="http://schemas.openxmlformats.org/drawingml/2006/main">
            <a:pPr algn="ctr">
              <a:defRPr sz="1425" b="1">
                <a:solidFill>
                  <a:srgbClr val="0F1419"/>
                </a:solidFill>
              </a:defRPr>
            </a:pPr>
            <a:r>
              <a:rPr sz="1425" b="1">
                <a:solidFill>
                  <a:srgbClr val="0F1419"/>
                </a:solidFill>
              </a:rPr>
              <a:t>反応 20</a:t>
            </a:r>
          </a:p>
          <a:p xmlns:a="http://schemas.openxmlformats.org/drawingml/2006/main">
            <a:pPr algn="ctr">
              <a:defRPr sz="1425" b="1">
                <a:solidFill>
                  <a:srgbClr val="0F1419"/>
                </a:solidFill>
              </a:defRPr>
            </a:pPr>
            <a:r>
              <a:rPr sz="1425" b="1">
                <a:solidFill>
                  <a:srgbClr val="0F1419"/>
                </a:solidFill>
              </a:rPr>
              <a:t>会話が続く</a:t>
            </a:r>
          </a:p>
        </p:txBody>
      </p:sp>
      <p:sp>
        <p:nvSpPr>
          <p:cNvPr id="11" name="">
            <a:extLst xmlns:a="http://schemas.openxmlformats.org/drawingml/2006/main">
              <a:ext uri="{FF2B5EF4-FFF2-40B4-BE49-F238E27FC236}">
                <a16:creationId xmlns:a16="http://schemas.microsoft.com/office/drawing/2014/main" id="{C6FB42A9-C9DC-4F79-8DE2-6BC0FF8A7FCA}"/>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381FCC62-6589-4B8B-8E65-1E7B76F47D00}"/>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0D6D48E-54D0-430B-BEFC-02A86D422BDF}"/>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91F43DA3-C49A-4309-BDF8-16B72E6F4084}"/>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FC5D64E9-CDDC-4A60-8D0D-9C03356894C4}"/>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興味の薄いフォロワーが増えると、投稿への反応率が下がりやすくなります。</a:t>
            </a:r>
          </a:p>
        </p:txBody>
      </p:sp>
      <p:sp>
        <p:nvSpPr>
          <p:cNvPr id="16" name="">
            <a:extLst xmlns:a="http://schemas.openxmlformats.org/drawingml/2006/main">
              <a:ext uri="{FF2B5EF4-FFF2-40B4-BE49-F238E27FC236}">
                <a16:creationId xmlns:a16="http://schemas.microsoft.com/office/drawing/2014/main" id="{776D2A68-680E-4496-A468-68CC0DDDE6B0}"/>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8CA70695-C4FC-4E23-8B3F-9D1A613292B0}"/>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19B342D-A49B-423A-BED1-AFD89918F346}"/>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D3545ACC-8531-45F8-932A-BBEC7F6C86A6}"/>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B2A0FD6F-D4E8-4A1D-9014-A4D6AAD98282}"/>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相互フォロー企画より、選書の工夫に返信してくれる読者との関係を優先。</a:t>
            </a:r>
          </a:p>
        </p:txBody>
      </p:sp>
      <p:sp>
        <p:nvSpPr>
          <p:cNvPr id="21" name="">
            <a:extLst xmlns:a="http://schemas.openxmlformats.org/drawingml/2006/main">
              <a:ext uri="{FF2B5EF4-FFF2-40B4-BE49-F238E27FC236}">
                <a16:creationId xmlns:a16="http://schemas.microsoft.com/office/drawing/2014/main" id="{856BDA25-77A5-4BF8-8B6A-0DBFAD11D8B1}"/>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4F2B4F9D-8484-4EE2-B3A3-299FE7FA25EB}"/>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011F108-FAFC-4C17-97B7-07E913D7B429}"/>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2151CF1C-E68C-4354-95AC-1BEC13C88B74}"/>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452E987C-BAAE-44B5-891E-EA23A8824E63}"/>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数字を追う施策より、専門テーマで会話が生まれる投稿を選びましょう。</a:t>
            </a:r>
          </a:p>
        </p:txBody>
      </p:sp>
      <p:sp>
        <p:nvSpPr>
          <p:cNvPr id="26" name="">
            <a:extLst xmlns:a="http://schemas.openxmlformats.org/drawingml/2006/main">
              <a:ext uri="{FF2B5EF4-FFF2-40B4-BE49-F238E27FC236}">
                <a16:creationId xmlns:a16="http://schemas.microsoft.com/office/drawing/2014/main" id="{C6DB176D-3292-4DDD-A31E-B2EEE75D6455}"/>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58B286CF-5164-40A5-AF1E-3B4051C12B7B}"/>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06 / 22</a:t>
            </a:r>
          </a:p>
        </p:txBody>
      </p:sp>
      <p:sp>
        <p:nvSpPr>
          <p:cNvPr id="28" name="">
            <a:extLst xmlns:a="http://schemas.openxmlformats.org/drawingml/2006/main">
              <a:ext uri="{FF2B5EF4-FFF2-40B4-BE49-F238E27FC236}">
                <a16:creationId xmlns:a16="http://schemas.microsoft.com/office/drawing/2014/main" id="{0CFF0438-9A67-44E8-9DCD-B8CDCA6CB148}"/>
              </a:ext>
            </a:extLst>
          </p:cNvPr>
          <p:cNvSpPr>
            <a:spLocks xmlns:a="http://schemas.openxmlformats.org/drawingml/2006/main" noGrp="1"/>
          </p:cNvSpPr>
          <p:nvPr/>
        </p:nvSpPr>
        <p:spPr>
          <a:xfrm xmlns:a="http://schemas.openxmlformats.org/drawingml/2006/main">
            <a:off x="571500" y="6705600"/>
            <a:ext cx="3013364"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610464765"/>
      </p:ext>
    </p:extLst>
  </p:cSld>
</p:sld>
</file>

<file path=ppt/slides/slide7.xml><?xml version="1.0" encoding="utf-8"?>
<p:sld xmlns:p="http://schemas.openxmlformats.org/presentationml/2006/main">
  <p:cSld>
    <p:bg>
      <p:bgPr>
        <a:solidFill xmlns:a="http://schemas.openxmlformats.org/drawingml/2006/main">
          <a:srgbClr val="0F141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80A6091-0B40-438F-890D-22FA2B47043B}"/>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CHAPTER 02</a:t>
            </a:r>
          </a:p>
        </p:txBody>
      </p:sp>
      <p:sp>
        <p:nvSpPr>
          <p:cNvPr id="2" name="">
            <a:extLst xmlns:a="http://schemas.openxmlformats.org/drawingml/2006/main">
              <a:ext uri="{FF2B5EF4-FFF2-40B4-BE49-F238E27FC236}">
                <a16:creationId xmlns:a16="http://schemas.microsoft.com/office/drawing/2014/main" id="{BF8CA9E1-A4CD-4D03-B8C4-8E1ABECF6DE6}"/>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見たくなる投稿を作る</a:t>
            </a:r>
          </a:p>
        </p:txBody>
      </p:sp>
      <p:sp>
        <p:nvSpPr>
          <p:cNvPr id="3" name="">
            <a:extLst xmlns:a="http://schemas.openxmlformats.org/drawingml/2006/main">
              <a:ext uri="{FF2B5EF4-FFF2-40B4-BE49-F238E27FC236}">
                <a16:creationId xmlns:a16="http://schemas.microsoft.com/office/drawing/2014/main" id="{0CFAD759-1DAE-4013-8F1C-3AD757CE3841}"/>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CBD5DC"/>
                </a:solidFill>
              </a:defRPr>
            </a:pPr>
            <a:r>
              <a:rPr sz="1575" b="1">
                <a:solidFill>
                  <a:srgbClr val="CBD5DC"/>
                </a:solidFill>
              </a:rPr>
              <a:t>写真で止め、言葉で熱量を伝え、継続で信頼をつくる。</a:t>
            </a:r>
          </a:p>
        </p:txBody>
      </p:sp>
      <p:sp>
        <p:nvSpPr>
          <p:cNvPr id="4" name="">
            <a:extLst xmlns:a="http://schemas.openxmlformats.org/drawingml/2006/main">
              <a:ext uri="{FF2B5EF4-FFF2-40B4-BE49-F238E27FC236}">
                <a16:creationId xmlns:a16="http://schemas.microsoft.com/office/drawing/2014/main" id="{ABC4E7F4-5561-47AC-8209-E0649153A203}"/>
              </a:ext>
            </a:extLst>
          </p:cNvPr>
          <p:cNvSpPr>
            <a:spLocks xmlns:a="http://schemas.openxmlformats.org/drawingml/2006/main" noGrp="1"/>
          </p:cNvSpPr>
          <p:nvPr/>
        </p:nvSpPr>
        <p:spPr>
          <a:xfrm xmlns:a="http://schemas.openxmlformats.org/drawingml/2006/main">
            <a:off x="6286500" y="1952625"/>
            <a:ext cx="533400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2844C2D6-94CF-4056-BD0F-A198CBCE4251}"/>
              </a:ext>
            </a:extLst>
          </p:cNvPr>
          <p:cNvSpPr>
            <a:spLocks xmlns:a="http://schemas.openxmlformats.org/drawingml/2006/main" noGrp="1"/>
          </p:cNvSpPr>
          <p:nvPr/>
        </p:nvSpPr>
        <p:spPr>
          <a:xfrm xmlns:a="http://schemas.openxmlformats.org/drawingml/2006/main">
            <a:off x="6715125" y="2476500"/>
            <a:ext cx="666750" cy="666750"/>
          </a:xfrm>
          <a:prstGeom xmlns:a="http://schemas.openxmlformats.org/drawingml/2006/main" prst="ellipse">
            <a:avLst/>
          </a:prstGeom>
          <a:solidFill xmlns:a="http://schemas.openxmlformats.org/drawingml/2006/main">
            <a:srgbClr val="1D9BF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18EED278-8FB4-4E56-80C9-F8178924CA5A}"/>
              </a:ext>
            </a:extLst>
          </p:cNvPr>
          <p:cNvSpPr>
            <a:spLocks xmlns:a="http://schemas.openxmlformats.org/drawingml/2006/main" noGrp="1"/>
          </p:cNvSpPr>
          <p:nvPr/>
        </p:nvSpPr>
        <p:spPr>
          <a:xfrm xmlns:a="http://schemas.openxmlformats.org/drawingml/2006/main">
            <a:off x="6886575" y="2638425"/>
            <a:ext cx="333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FFFFFF"/>
                </a:solidFill>
              </a:defRPr>
            </a:pPr>
            <a:r>
              <a:rPr sz="1875" b="1">
                <a:solidFill>
                  <a:srgbClr val="FFFFFF"/>
                </a:solidFill>
              </a:rPr>
              <a:t>X</a:t>
            </a:r>
          </a:p>
        </p:txBody>
      </p:sp>
      <p:sp>
        <p:nvSpPr>
          <p:cNvPr id="7" name="">
            <a:extLst xmlns:a="http://schemas.openxmlformats.org/drawingml/2006/main">
              <a:ext uri="{FF2B5EF4-FFF2-40B4-BE49-F238E27FC236}">
                <a16:creationId xmlns:a16="http://schemas.microsoft.com/office/drawing/2014/main" id="{69FF831F-D2B6-4993-A030-AC654C626434}"/>
              </a:ext>
            </a:extLst>
          </p:cNvPr>
          <p:cNvSpPr>
            <a:spLocks xmlns:a="http://schemas.openxmlformats.org/drawingml/2006/main" noGrp="1"/>
          </p:cNvSpPr>
          <p:nvPr/>
        </p:nvSpPr>
        <p:spPr>
          <a:xfrm xmlns:a="http://schemas.openxmlformats.org/drawingml/2006/main">
            <a:off x="7572375" y="2466975"/>
            <a:ext cx="3619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0F1419"/>
                </a:solidFill>
              </a:defRPr>
            </a:pPr>
            <a:r>
              <a:rPr sz="1500" b="1">
                <a:solidFill>
                  <a:srgbClr val="0F1419"/>
                </a:solidFill>
              </a:rPr>
              <a:t>書店スタッフ  @store</a:t>
            </a:r>
          </a:p>
        </p:txBody>
      </p:sp>
      <p:sp>
        <p:nvSpPr>
          <p:cNvPr id="8" name="">
            <a:extLst xmlns:a="http://schemas.openxmlformats.org/drawingml/2006/main">
              <a:ext uri="{FF2B5EF4-FFF2-40B4-BE49-F238E27FC236}">
                <a16:creationId xmlns:a16="http://schemas.microsoft.com/office/drawing/2014/main" id="{7C6D0D67-BEC4-4579-B091-F4DEB2433472}"/>
              </a:ext>
            </a:extLst>
          </p:cNvPr>
          <p:cNvSpPr>
            <a:spLocks xmlns:a="http://schemas.openxmlformats.org/drawingml/2006/main" noGrp="1"/>
          </p:cNvSpPr>
          <p:nvPr/>
        </p:nvSpPr>
        <p:spPr>
          <a:xfrm xmlns:a="http://schemas.openxmlformats.org/drawingml/2006/main">
            <a:off x="7572375" y="2905125"/>
            <a:ext cx="36195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0F1419"/>
                </a:solidFill>
              </a:defRPr>
            </a:pPr>
            <a:r>
              <a:rPr sz="1950" b="1">
                <a:solidFill>
                  <a:srgbClr val="0F1419"/>
                </a:solidFill>
              </a:rPr>
              <a:t>この一冊、売場で語らせてください。</a:t>
            </a:r>
          </a:p>
        </p:txBody>
      </p:sp>
      <p:sp>
        <p:nvSpPr>
          <p:cNvPr id="9" name="">
            <a:extLst xmlns:a="http://schemas.openxmlformats.org/drawingml/2006/main">
              <a:ext uri="{FF2B5EF4-FFF2-40B4-BE49-F238E27FC236}">
                <a16:creationId xmlns:a16="http://schemas.microsoft.com/office/drawing/2014/main" id="{78C1E673-93BC-4757-900B-1B2E86054B68}"/>
              </a:ext>
            </a:extLst>
          </p:cNvPr>
          <p:cNvSpPr>
            <a:spLocks xmlns:a="http://schemas.openxmlformats.org/drawingml/2006/main" noGrp="1"/>
          </p:cNvSpPr>
          <p:nvPr/>
        </p:nvSpPr>
        <p:spPr>
          <a:xfrm xmlns:a="http://schemas.openxmlformats.org/drawingml/2006/main">
            <a:off x="7572375" y="3762375"/>
            <a:ext cx="3524250" cy="1762125"/>
          </a:xfrm>
          <a:prstGeom xmlns:a="http://schemas.openxmlformats.org/drawingml/2006/main" prst="roundRect">
            <a:avLst>
              <a:gd name="adj" fmla="val 5405"/>
            </a:avLst>
          </a:prstGeom>
          <a:solidFill xmlns:a="http://schemas.openxmlformats.org/drawingml/2006/main">
            <a:srgbClr val="F5F7F9"/>
          </a:solidFill>
          <a:ln xmlns:a="http://schemas.openxmlformats.org/drawingml/2006/main" w="11430">
            <a:solidFill>
              <a:srgbClr val="E4E9ED"/>
            </a:solidFill>
            <a:prstDash val="solid"/>
          </a:ln>
        </p:spPr>
      </p:sp>
      <p:sp>
        <p:nvSpPr>
          <p:cNvPr id="10" name="">
            <a:extLst xmlns:a="http://schemas.openxmlformats.org/drawingml/2006/main">
              <a:ext uri="{FF2B5EF4-FFF2-40B4-BE49-F238E27FC236}">
                <a16:creationId xmlns:a16="http://schemas.microsoft.com/office/drawing/2014/main" id="{201F7D93-27D2-404B-8414-DE5B40AF529C}"/>
              </a:ext>
            </a:extLst>
          </p:cNvPr>
          <p:cNvSpPr>
            <a:spLocks xmlns:a="http://schemas.openxmlformats.org/drawingml/2006/main" noGrp="1"/>
          </p:cNvSpPr>
          <p:nvPr/>
        </p:nvSpPr>
        <p:spPr>
          <a:xfrm xmlns:a="http://schemas.openxmlformats.org/drawingml/2006/main">
            <a:off x="7858125" y="4238625"/>
            <a:ext cx="2952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D9BF0"/>
                </a:solidFill>
              </a:defRPr>
            </a:pPr>
            <a:r>
              <a:rPr sz="1500" b="1">
                <a:solidFill>
                  <a:srgbClr val="1D9BF0"/>
                </a:solidFill>
              </a:rPr>
              <a:t>現場にいる人だけが撮れる一枚</a:t>
            </a:r>
          </a:p>
        </p:txBody>
      </p:sp>
      <p:sp>
        <p:nvSpPr>
          <p:cNvPr id="11" name="">
            <a:extLst xmlns:a="http://schemas.openxmlformats.org/drawingml/2006/main">
              <a:ext uri="{FF2B5EF4-FFF2-40B4-BE49-F238E27FC236}">
                <a16:creationId xmlns:a16="http://schemas.microsoft.com/office/drawing/2014/main" id="{88859322-3D95-41FE-9851-865D24C84DCD}"/>
              </a:ext>
            </a:extLst>
          </p:cNvPr>
          <p:cNvSpPr>
            <a:spLocks xmlns:a="http://schemas.openxmlformats.org/drawingml/2006/main" noGrp="1"/>
          </p:cNvSpPr>
          <p:nvPr/>
        </p:nvSpPr>
        <p:spPr>
          <a:xfrm xmlns:a="http://schemas.openxmlformats.org/drawingml/2006/main">
            <a:off x="571500" y="2114550"/>
            <a:ext cx="4953000" cy="1123950"/>
          </a:xfrm>
          <a:prstGeom xmlns:a="http://schemas.openxmlformats.org/drawingml/2006/main" prst="roundRect">
            <a:avLst>
              <a:gd name="adj" fmla="val 8475"/>
            </a:avLst>
          </a:prstGeom>
          <a:solidFill xmlns:a="http://schemas.openxmlformats.org/drawingml/2006/main">
            <a:srgbClr val="151D23"/>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E8BE241B-4E57-4A04-BD87-34AA4240600B}"/>
              </a:ext>
            </a:extLst>
          </p:cNvPr>
          <p:cNvSpPr>
            <a:spLocks xmlns:a="http://schemas.openxmlformats.org/drawingml/2006/main" noGrp="1"/>
          </p:cNvSpPr>
          <p:nvPr/>
        </p:nvSpPr>
        <p:spPr>
          <a:xfrm xmlns:a="http://schemas.openxmlformats.org/drawingml/2006/main">
            <a:off x="742950" y="230505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912113E-3511-4F81-A917-BB7A0D19490D}"/>
              </a:ext>
            </a:extLst>
          </p:cNvPr>
          <p:cNvSpPr>
            <a:spLocks xmlns:a="http://schemas.openxmlformats.org/drawingml/2006/main" noGrp="1"/>
          </p:cNvSpPr>
          <p:nvPr/>
        </p:nvSpPr>
        <p:spPr>
          <a:xfrm xmlns:a="http://schemas.openxmlformats.org/drawingml/2006/main">
            <a:off x="838200" y="23812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4F091D46-E519-4CD3-9707-87CE4E2C7759}"/>
              </a:ext>
            </a:extLst>
          </p:cNvPr>
          <p:cNvSpPr>
            <a:spLocks xmlns:a="http://schemas.openxmlformats.org/drawingml/2006/main" noGrp="1"/>
          </p:cNvSpPr>
          <p:nvPr/>
        </p:nvSpPr>
        <p:spPr>
          <a:xfrm xmlns:a="http://schemas.openxmlformats.org/drawingml/2006/main">
            <a:off x="1314450" y="22669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WHY / 理由</a:t>
            </a:r>
          </a:p>
        </p:txBody>
      </p:sp>
      <p:sp>
        <p:nvSpPr>
          <p:cNvPr id="15" name="">
            <a:extLst xmlns:a="http://schemas.openxmlformats.org/drawingml/2006/main">
              <a:ext uri="{FF2B5EF4-FFF2-40B4-BE49-F238E27FC236}">
                <a16:creationId xmlns:a16="http://schemas.microsoft.com/office/drawing/2014/main" id="{6F79D47E-DA70-4CA7-B61C-FFB5B7E46E13}"/>
              </a:ext>
            </a:extLst>
          </p:cNvPr>
          <p:cNvSpPr>
            <a:spLocks xmlns:a="http://schemas.openxmlformats.org/drawingml/2006/main" noGrp="1"/>
          </p:cNvSpPr>
          <p:nvPr/>
        </p:nvSpPr>
        <p:spPr>
          <a:xfrm xmlns:a="http://schemas.openxmlformats.org/drawingml/2006/main">
            <a:off x="1314450" y="25336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店舗には、現場にいる人しか撮れない瞬間と語れない背景があります。</a:t>
            </a:r>
          </a:p>
        </p:txBody>
      </p:sp>
      <p:sp>
        <p:nvSpPr>
          <p:cNvPr id="16" name="">
            <a:extLst xmlns:a="http://schemas.openxmlformats.org/drawingml/2006/main">
              <a:ext uri="{FF2B5EF4-FFF2-40B4-BE49-F238E27FC236}">
                <a16:creationId xmlns:a16="http://schemas.microsoft.com/office/drawing/2014/main" id="{C96EEC14-8D68-4871-9A1D-D9B1E7ED3506}"/>
              </a:ext>
            </a:extLst>
          </p:cNvPr>
          <p:cNvSpPr>
            <a:spLocks xmlns:a="http://schemas.openxmlformats.org/drawingml/2006/main" noGrp="1"/>
          </p:cNvSpPr>
          <p:nvPr/>
        </p:nvSpPr>
        <p:spPr>
          <a:xfrm xmlns:a="http://schemas.openxmlformats.org/drawingml/2006/main">
            <a:off x="571500" y="3429000"/>
            <a:ext cx="4953000" cy="1123950"/>
          </a:xfrm>
          <a:prstGeom xmlns:a="http://schemas.openxmlformats.org/drawingml/2006/main" prst="roundRect">
            <a:avLst>
              <a:gd name="adj" fmla="val 8475"/>
            </a:avLst>
          </a:prstGeom>
          <a:solidFill xmlns:a="http://schemas.openxmlformats.org/drawingml/2006/main">
            <a:srgbClr val="151D23"/>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06183E48-592C-4E79-ACA6-D11059460A59}"/>
              </a:ext>
            </a:extLst>
          </p:cNvPr>
          <p:cNvSpPr>
            <a:spLocks xmlns:a="http://schemas.openxmlformats.org/drawingml/2006/main" noGrp="1"/>
          </p:cNvSpPr>
          <p:nvPr/>
        </p:nvSpPr>
        <p:spPr>
          <a:xfrm xmlns:a="http://schemas.openxmlformats.org/drawingml/2006/main">
            <a:off x="742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3B81830A-519C-42DE-B1A4-5DF780E7C156}"/>
              </a:ext>
            </a:extLst>
          </p:cNvPr>
          <p:cNvSpPr>
            <a:spLocks xmlns:a="http://schemas.openxmlformats.org/drawingml/2006/main" noGrp="1"/>
          </p:cNvSpPr>
          <p:nvPr/>
        </p:nvSpPr>
        <p:spPr>
          <a:xfrm xmlns:a="http://schemas.openxmlformats.org/drawingml/2006/main">
            <a:off x="838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8093E178-B365-4272-AA96-DAB5F7DA9FAE}"/>
              </a:ext>
            </a:extLst>
          </p:cNvPr>
          <p:cNvSpPr>
            <a:spLocks xmlns:a="http://schemas.openxmlformats.org/drawingml/2006/main" noGrp="1"/>
          </p:cNvSpPr>
          <p:nvPr/>
        </p:nvSpPr>
        <p:spPr>
          <a:xfrm xmlns:a="http://schemas.openxmlformats.org/drawingml/2006/main">
            <a:off x="1314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EXAMPLE / 具体例</a:t>
            </a:r>
          </a:p>
        </p:txBody>
      </p:sp>
      <p:sp>
        <p:nvSpPr>
          <p:cNvPr id="20" name="">
            <a:extLst xmlns:a="http://schemas.openxmlformats.org/drawingml/2006/main">
              <a:ext uri="{FF2B5EF4-FFF2-40B4-BE49-F238E27FC236}">
                <a16:creationId xmlns:a16="http://schemas.microsoft.com/office/drawing/2014/main" id="{64F5DDA4-6E7E-4762-BB5D-12663C05ED68}"/>
              </a:ext>
            </a:extLst>
          </p:cNvPr>
          <p:cNvSpPr>
            <a:spLocks xmlns:a="http://schemas.openxmlformats.org/drawingml/2006/main" noGrp="1"/>
          </p:cNvSpPr>
          <p:nvPr/>
        </p:nvSpPr>
        <p:spPr>
          <a:xfrm xmlns:a="http://schemas.openxmlformats.org/drawingml/2006/main">
            <a:off x="1314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入荷直後、売場づくり、スタッフの手元は店舗アカウント固有の素材です。</a:t>
            </a:r>
          </a:p>
        </p:txBody>
      </p:sp>
      <p:sp>
        <p:nvSpPr>
          <p:cNvPr id="21" name="">
            <a:extLst xmlns:a="http://schemas.openxmlformats.org/drawingml/2006/main">
              <a:ext uri="{FF2B5EF4-FFF2-40B4-BE49-F238E27FC236}">
                <a16:creationId xmlns:a16="http://schemas.microsoft.com/office/drawing/2014/main" id="{DD1947BC-7885-44B3-9146-206F2DAC9798}"/>
              </a:ext>
            </a:extLst>
          </p:cNvPr>
          <p:cNvSpPr>
            <a:spLocks xmlns:a="http://schemas.openxmlformats.org/drawingml/2006/main" noGrp="1"/>
          </p:cNvSpPr>
          <p:nvPr/>
        </p:nvSpPr>
        <p:spPr>
          <a:xfrm xmlns:a="http://schemas.openxmlformats.org/drawingml/2006/main">
            <a:off x="571500" y="4743450"/>
            <a:ext cx="4953000" cy="1123950"/>
          </a:xfrm>
          <a:prstGeom xmlns:a="http://schemas.openxmlformats.org/drawingml/2006/main" prst="roundRect">
            <a:avLst>
              <a:gd name="adj" fmla="val 8475"/>
            </a:avLst>
          </a:prstGeom>
          <a:solidFill xmlns:a="http://schemas.openxmlformats.org/drawingml/2006/main">
            <a:srgbClr val="10282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786C41D4-CEEF-4E6D-93E1-AADED81D546B}"/>
              </a:ext>
            </a:extLst>
          </p:cNvPr>
          <p:cNvSpPr>
            <a:spLocks xmlns:a="http://schemas.openxmlformats.org/drawingml/2006/main" noGrp="1"/>
          </p:cNvSpPr>
          <p:nvPr/>
        </p:nvSpPr>
        <p:spPr>
          <a:xfrm xmlns:a="http://schemas.openxmlformats.org/drawingml/2006/main">
            <a:off x="742950" y="493395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6DD3A24-AE0B-4168-A9ED-D6B4B298F9DF}"/>
              </a:ext>
            </a:extLst>
          </p:cNvPr>
          <p:cNvSpPr>
            <a:spLocks xmlns:a="http://schemas.openxmlformats.org/drawingml/2006/main" noGrp="1"/>
          </p:cNvSpPr>
          <p:nvPr/>
        </p:nvSpPr>
        <p:spPr>
          <a:xfrm xmlns:a="http://schemas.openxmlformats.org/drawingml/2006/main">
            <a:off x="838200" y="50101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3CB0FC04-B938-4956-ABA4-9907149F688D}"/>
              </a:ext>
            </a:extLst>
          </p:cNvPr>
          <p:cNvSpPr>
            <a:spLocks xmlns:a="http://schemas.openxmlformats.org/drawingml/2006/main" noGrp="1"/>
          </p:cNvSpPr>
          <p:nvPr/>
        </p:nvSpPr>
        <p:spPr>
          <a:xfrm xmlns:a="http://schemas.openxmlformats.org/drawingml/2006/main">
            <a:off x="1314450" y="48958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DO / 実践</a:t>
            </a:r>
          </a:p>
        </p:txBody>
      </p:sp>
      <p:sp>
        <p:nvSpPr>
          <p:cNvPr id="25" name="">
            <a:extLst xmlns:a="http://schemas.openxmlformats.org/drawingml/2006/main">
              <a:ext uri="{FF2B5EF4-FFF2-40B4-BE49-F238E27FC236}">
                <a16:creationId xmlns:a16="http://schemas.microsoft.com/office/drawing/2014/main" id="{DAB1724D-D367-462F-A1E3-5BCA08566D65}"/>
              </a:ext>
            </a:extLst>
          </p:cNvPr>
          <p:cNvSpPr>
            <a:spLocks xmlns:a="http://schemas.openxmlformats.org/drawingml/2006/main" noGrp="1"/>
          </p:cNvSpPr>
          <p:nvPr/>
        </p:nvSpPr>
        <p:spPr>
          <a:xfrm xmlns:a="http://schemas.openxmlformats.org/drawingml/2006/main">
            <a:off x="1314450" y="51625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今日の売場で『現場感が伝わる1枚』を探しましょう。</a:t>
            </a:r>
          </a:p>
        </p:txBody>
      </p:sp>
      <p:sp>
        <p:nvSpPr>
          <p:cNvPr id="26" name="">
            <a:extLst xmlns:a="http://schemas.openxmlformats.org/drawingml/2006/main">
              <a:ext uri="{FF2B5EF4-FFF2-40B4-BE49-F238E27FC236}">
                <a16:creationId xmlns:a16="http://schemas.microsoft.com/office/drawing/2014/main" id="{A70B4922-0005-4965-86BF-9CD913F20929}"/>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40DDDE7D-27F2-4D60-A1FF-13D20A111B10}"/>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07 / 22</a:t>
            </a:r>
          </a:p>
        </p:txBody>
      </p:sp>
      <p:sp>
        <p:nvSpPr>
          <p:cNvPr id="28" name="">
            <a:extLst xmlns:a="http://schemas.openxmlformats.org/drawingml/2006/main">
              <a:ext uri="{FF2B5EF4-FFF2-40B4-BE49-F238E27FC236}">
                <a16:creationId xmlns:a16="http://schemas.microsoft.com/office/drawing/2014/main" id="{2E37019C-B732-4575-86B4-7164038A7E46}"/>
              </a:ext>
            </a:extLst>
          </p:cNvPr>
          <p:cNvSpPr>
            <a:spLocks xmlns:a="http://schemas.openxmlformats.org/drawingml/2006/main" noGrp="1"/>
          </p:cNvSpPr>
          <p:nvPr/>
        </p:nvSpPr>
        <p:spPr>
          <a:xfrm xmlns:a="http://schemas.openxmlformats.org/drawingml/2006/main">
            <a:off x="571500" y="6705600"/>
            <a:ext cx="3515591"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556799054"/>
      </p:ext>
    </p:extLst>
  </p:cSld>
</p:sld>
</file>

<file path=ppt/slides/slide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6B3996C-9FB7-4001-8723-18F7452BEC1C}"/>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2-1 / VISUAL RHYTHM</a:t>
            </a:r>
          </a:p>
        </p:txBody>
      </p:sp>
      <p:sp>
        <p:nvSpPr>
          <p:cNvPr id="2" name="">
            <a:extLst xmlns:a="http://schemas.openxmlformats.org/drawingml/2006/main">
              <a:ext uri="{FF2B5EF4-FFF2-40B4-BE49-F238E27FC236}">
                <a16:creationId xmlns:a16="http://schemas.microsoft.com/office/drawing/2014/main" id="{2880097A-6573-47AB-AD92-66A8CD2DB0C0}"/>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写真はメリハリを付ける</a:t>
            </a:r>
          </a:p>
        </p:txBody>
      </p:sp>
      <p:sp>
        <p:nvSpPr>
          <p:cNvPr id="3" name="">
            <a:extLst xmlns:a="http://schemas.openxmlformats.org/drawingml/2006/main">
              <a:ext uri="{FF2B5EF4-FFF2-40B4-BE49-F238E27FC236}">
                <a16:creationId xmlns:a16="http://schemas.microsoft.com/office/drawing/2014/main" id="{95A05830-F3E4-4812-91FE-681A53B9709C}"/>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普段は寄り、ここぞで引く。スケール感に強弱をつける。</a:t>
            </a:r>
          </a:p>
        </p:txBody>
      </p:sp>
      <p:sp>
        <p:nvSpPr>
          <p:cNvPr id="4" name="">
            <a:extLst xmlns:a="http://schemas.openxmlformats.org/drawingml/2006/main">
              <a:ext uri="{FF2B5EF4-FFF2-40B4-BE49-F238E27FC236}">
                <a16:creationId xmlns:a16="http://schemas.microsoft.com/office/drawing/2014/main" id="{8DE3440A-A4DC-41BC-B014-C70E697090B3}"/>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C7E19320-BC04-4BA6-8C6F-2A4B613A6031}"/>
              </a:ext>
            </a:extLst>
          </p:cNvPr>
          <p:cNvSpPr>
            <a:spLocks xmlns:a="http://schemas.openxmlformats.org/drawingml/2006/main" noGrp="1"/>
          </p:cNvSpPr>
          <p:nvPr/>
        </p:nvSpPr>
        <p:spPr>
          <a:xfrm xmlns:a="http://schemas.openxmlformats.org/drawingml/2006/main">
            <a:off x="781050" y="2686050"/>
            <a:ext cx="1285875" cy="2724150"/>
          </a:xfrm>
          <a:prstGeom xmlns:a="http://schemas.openxmlformats.org/drawingml/2006/main" prst="roundRect">
            <a:avLst>
              <a:gd name="adj" fmla="val 7407"/>
            </a:avLst>
          </a:prstGeom>
          <a:solidFill xmlns:a="http://schemas.openxmlformats.org/drawingml/2006/main">
            <a:srgbClr val="E8F5FD"/>
          </a:solidFill>
          <a:ln xmlns:a="http://schemas.openxmlformats.org/drawingml/2006/main" w="11430">
            <a:solidFill>
              <a:srgbClr val="E4E9ED"/>
            </a:solidFill>
            <a:prstDash val="solid"/>
          </a:ln>
        </p:spPr>
      </p:sp>
      <p:sp>
        <p:nvSpPr>
          <p:cNvPr id="6" name="">
            <a:extLst xmlns:a="http://schemas.openxmlformats.org/drawingml/2006/main">
              <a:ext uri="{FF2B5EF4-FFF2-40B4-BE49-F238E27FC236}">
                <a16:creationId xmlns:a16="http://schemas.microsoft.com/office/drawing/2014/main" id="{ECCB0017-EC5D-461A-83EF-F8D37BD519C5}"/>
              </a:ext>
            </a:extLst>
          </p:cNvPr>
          <p:cNvSpPr>
            <a:spLocks xmlns:a="http://schemas.openxmlformats.org/drawingml/2006/main" noGrp="1"/>
          </p:cNvSpPr>
          <p:nvPr/>
        </p:nvSpPr>
        <p:spPr>
          <a:xfrm xmlns:a="http://schemas.openxmlformats.org/drawingml/2006/main">
            <a:off x="876300" y="3905250"/>
            <a:ext cx="10953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日常 / 寄り</a:t>
            </a:r>
          </a:p>
        </p:txBody>
      </p:sp>
      <p:sp>
        <p:nvSpPr>
          <p:cNvPr id="7" name="">
            <a:extLst xmlns:a="http://schemas.openxmlformats.org/drawingml/2006/main">
              <a:ext uri="{FF2B5EF4-FFF2-40B4-BE49-F238E27FC236}">
                <a16:creationId xmlns:a16="http://schemas.microsoft.com/office/drawing/2014/main" id="{9920BAF4-C03D-4A06-8DA4-1EAF9AD3B4B0}"/>
              </a:ext>
            </a:extLst>
          </p:cNvPr>
          <p:cNvSpPr>
            <a:spLocks xmlns:a="http://schemas.openxmlformats.org/drawingml/2006/main" noGrp="1"/>
          </p:cNvSpPr>
          <p:nvPr/>
        </p:nvSpPr>
        <p:spPr>
          <a:xfrm xmlns:a="http://schemas.openxmlformats.org/drawingml/2006/main">
            <a:off x="2200275" y="2686050"/>
            <a:ext cx="1619250" cy="2724150"/>
          </a:xfrm>
          <a:prstGeom xmlns:a="http://schemas.openxmlformats.org/drawingml/2006/main" prst="roundRect">
            <a:avLst>
              <a:gd name="adj" fmla="val 5882"/>
            </a:avLst>
          </a:prstGeom>
          <a:solidFill xmlns:a="http://schemas.openxmlformats.org/drawingml/2006/main">
            <a:srgbClr val="FFF8DF"/>
          </a:solidFill>
          <a:ln xmlns:a="http://schemas.openxmlformats.org/drawingml/2006/main" w="11430">
            <a:solidFill>
              <a:srgbClr val="E4E9ED"/>
            </a:solidFill>
            <a:prstDash val="solid"/>
          </a:ln>
        </p:spPr>
      </p:sp>
      <p:sp>
        <p:nvSpPr>
          <p:cNvPr id="8" name="">
            <a:extLst xmlns:a="http://schemas.openxmlformats.org/drawingml/2006/main">
              <a:ext uri="{FF2B5EF4-FFF2-40B4-BE49-F238E27FC236}">
                <a16:creationId xmlns:a16="http://schemas.microsoft.com/office/drawing/2014/main" id="{F6DB74F3-C5BA-4EDD-B5FF-C61A6C8A96E0}"/>
              </a:ext>
            </a:extLst>
          </p:cNvPr>
          <p:cNvSpPr>
            <a:spLocks xmlns:a="http://schemas.openxmlformats.org/drawingml/2006/main" noGrp="1"/>
          </p:cNvSpPr>
          <p:nvPr/>
        </p:nvSpPr>
        <p:spPr>
          <a:xfrm xmlns:a="http://schemas.openxmlformats.org/drawingml/2006/main">
            <a:off x="2295525" y="390525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企画 / 中</a:t>
            </a:r>
          </a:p>
        </p:txBody>
      </p:sp>
      <p:sp>
        <p:nvSpPr>
          <p:cNvPr id="9" name="">
            <a:extLst xmlns:a="http://schemas.openxmlformats.org/drawingml/2006/main">
              <a:ext uri="{FF2B5EF4-FFF2-40B4-BE49-F238E27FC236}">
                <a16:creationId xmlns:a16="http://schemas.microsoft.com/office/drawing/2014/main" id="{A8072463-3034-410F-8EF6-F2DB02C0EBCE}"/>
              </a:ext>
            </a:extLst>
          </p:cNvPr>
          <p:cNvSpPr>
            <a:spLocks xmlns:a="http://schemas.openxmlformats.org/drawingml/2006/main" noGrp="1"/>
          </p:cNvSpPr>
          <p:nvPr/>
        </p:nvSpPr>
        <p:spPr>
          <a:xfrm xmlns:a="http://schemas.openxmlformats.org/drawingml/2006/main">
            <a:off x="3952875" y="2686050"/>
            <a:ext cx="1952625" cy="2724150"/>
          </a:xfrm>
          <a:prstGeom xmlns:a="http://schemas.openxmlformats.org/drawingml/2006/main" prst="roundRect">
            <a:avLst>
              <a:gd name="adj" fmla="val 4878"/>
            </a:avLst>
          </a:prstGeom>
          <a:solidFill xmlns:a="http://schemas.openxmlformats.org/drawingml/2006/main">
            <a:srgbClr val="E5F8F0"/>
          </a:solidFill>
          <a:ln xmlns:a="http://schemas.openxmlformats.org/drawingml/2006/main" w="11430">
            <a:solidFill>
              <a:srgbClr val="E4E9ED"/>
            </a:solidFill>
            <a:prstDash val="solid"/>
          </a:ln>
        </p:spPr>
      </p:sp>
      <p:sp>
        <p:nvSpPr>
          <p:cNvPr id="10" name="">
            <a:extLst xmlns:a="http://schemas.openxmlformats.org/drawingml/2006/main">
              <a:ext uri="{FF2B5EF4-FFF2-40B4-BE49-F238E27FC236}">
                <a16:creationId xmlns:a16="http://schemas.microsoft.com/office/drawing/2014/main" id="{D22FC13F-D68A-459C-9ADB-C2781BA88329}"/>
              </a:ext>
            </a:extLst>
          </p:cNvPr>
          <p:cNvSpPr>
            <a:spLocks xmlns:a="http://schemas.openxmlformats.org/drawingml/2006/main" noGrp="1"/>
          </p:cNvSpPr>
          <p:nvPr/>
        </p:nvSpPr>
        <p:spPr>
          <a:xfrm xmlns:a="http://schemas.openxmlformats.org/drawingml/2006/main">
            <a:off x="4048125" y="3905250"/>
            <a:ext cx="176212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ここぞ / 引き</a:t>
            </a:r>
          </a:p>
        </p:txBody>
      </p:sp>
      <p:sp>
        <p:nvSpPr>
          <p:cNvPr id="11" name="">
            <a:extLst xmlns:a="http://schemas.openxmlformats.org/drawingml/2006/main">
              <a:ext uri="{FF2B5EF4-FFF2-40B4-BE49-F238E27FC236}">
                <a16:creationId xmlns:a16="http://schemas.microsoft.com/office/drawing/2014/main" id="{4F5B2809-A05E-49E4-B70C-957E3438681C}"/>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37BE33A6-E770-4FE5-92B6-C67DE44DF8A5}"/>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733039D-8213-4439-ADD2-F5EAC12091A5}"/>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92A2BA68-0282-46DF-AFE8-0BF610191FF1}"/>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7C323847-492D-4E93-A955-A0CCCA2E10F3}"/>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単品のおすすめが続くからこそ、大型フェアの全景が特別に見えます。</a:t>
            </a:r>
          </a:p>
        </p:txBody>
      </p:sp>
      <p:sp>
        <p:nvSpPr>
          <p:cNvPr id="16" name="">
            <a:extLst xmlns:a="http://schemas.openxmlformats.org/drawingml/2006/main">
              <a:ext uri="{FF2B5EF4-FFF2-40B4-BE49-F238E27FC236}">
                <a16:creationId xmlns:a16="http://schemas.microsoft.com/office/drawing/2014/main" id="{09343C8E-70C7-4FE7-B88F-D5FCB0C74D1D}"/>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7EAEAEBA-77E5-4AB1-968D-974585934296}"/>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7F8A998-F90C-4F6E-A713-C5D7D8C39925}"/>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2612E01F-3607-4E2E-8E1E-7C401BE7432B}"/>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EF393679-1397-4AD9-986E-5659E94E45D1}"/>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日常：本1冊の寄り／告知：平台のまとまり／本番：売場全景。</a:t>
            </a:r>
          </a:p>
        </p:txBody>
      </p:sp>
      <p:sp>
        <p:nvSpPr>
          <p:cNvPr id="21" name="">
            <a:extLst xmlns:a="http://schemas.openxmlformats.org/drawingml/2006/main">
              <a:ext uri="{FF2B5EF4-FFF2-40B4-BE49-F238E27FC236}">
                <a16:creationId xmlns:a16="http://schemas.microsoft.com/office/drawing/2014/main" id="{F65D03A3-8436-48BD-A8DB-01FCC571E66A}"/>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0CE2EBD3-B0DB-4507-997B-CED4D09E5EBD}"/>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2C25C4F-166F-4E65-BEE5-08F9197C1DA5}"/>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FFF542A2-4B1C-4EBE-8A0C-28FCB958B604}"/>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6994311A-3276-4BC6-80DA-95C3E663EA52}"/>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次の企画までに『寄り・中・引き』の3カットを撮影しましょう。</a:t>
            </a:r>
          </a:p>
        </p:txBody>
      </p:sp>
      <p:sp>
        <p:nvSpPr>
          <p:cNvPr id="26" name="">
            <a:extLst xmlns:a="http://schemas.openxmlformats.org/drawingml/2006/main">
              <a:ext uri="{FF2B5EF4-FFF2-40B4-BE49-F238E27FC236}">
                <a16:creationId xmlns:a16="http://schemas.microsoft.com/office/drawing/2014/main" id="{548A0EAE-CB3A-48E3-87CC-E6257E45FE87}"/>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4C8150B9-34AB-4039-B716-D1C674704A31}"/>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08 / 22</a:t>
            </a:r>
          </a:p>
        </p:txBody>
      </p:sp>
      <p:sp>
        <p:nvSpPr>
          <p:cNvPr id="28" name="">
            <a:extLst xmlns:a="http://schemas.openxmlformats.org/drawingml/2006/main">
              <a:ext uri="{FF2B5EF4-FFF2-40B4-BE49-F238E27FC236}">
                <a16:creationId xmlns:a16="http://schemas.microsoft.com/office/drawing/2014/main" id="{5C540766-CC82-4C0C-A32B-B2FC35905273}"/>
              </a:ext>
            </a:extLst>
          </p:cNvPr>
          <p:cNvSpPr>
            <a:spLocks xmlns:a="http://schemas.openxmlformats.org/drawingml/2006/main" noGrp="1"/>
          </p:cNvSpPr>
          <p:nvPr/>
        </p:nvSpPr>
        <p:spPr>
          <a:xfrm xmlns:a="http://schemas.openxmlformats.org/drawingml/2006/main">
            <a:off x="571500" y="6705600"/>
            <a:ext cx="4017818"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616367676"/>
      </p:ext>
    </p:extLst>
  </p:cSld>
</p:sld>
</file>

<file path=ppt/slides/slide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FBBD761-1FD0-4698-9C26-DBBFB4B7AD36}"/>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2-2 / HUMAN TOUCH</a:t>
            </a:r>
          </a:p>
        </p:txBody>
      </p:sp>
      <p:sp>
        <p:nvSpPr>
          <p:cNvPr id="2" name="">
            <a:extLst xmlns:a="http://schemas.openxmlformats.org/drawingml/2006/main">
              <a:ext uri="{FF2B5EF4-FFF2-40B4-BE49-F238E27FC236}">
                <a16:creationId xmlns:a16="http://schemas.microsoft.com/office/drawing/2014/main" id="{B2FE8992-DE56-4690-A522-FA5CC3A53ECA}"/>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『中の人』が見える写真</a:t>
            </a:r>
          </a:p>
        </p:txBody>
      </p:sp>
      <p:sp>
        <p:nvSpPr>
          <p:cNvPr id="3" name="">
            <a:extLst xmlns:a="http://schemas.openxmlformats.org/drawingml/2006/main">
              <a:ext uri="{FF2B5EF4-FFF2-40B4-BE49-F238E27FC236}">
                <a16:creationId xmlns:a16="http://schemas.microsoft.com/office/drawing/2014/main" id="{D6EFD3A4-943F-4C90-8311-E59AC9F389A0}"/>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人の気配が、店舗への親近感と信頼をつくる。</a:t>
            </a:r>
          </a:p>
        </p:txBody>
      </p:sp>
      <p:sp>
        <p:nvSpPr>
          <p:cNvPr id="4" name="">
            <a:extLst xmlns:a="http://schemas.openxmlformats.org/drawingml/2006/main">
              <a:ext uri="{FF2B5EF4-FFF2-40B4-BE49-F238E27FC236}">
                <a16:creationId xmlns:a16="http://schemas.microsoft.com/office/drawing/2014/main" id="{9C0AD90C-8059-4226-A1B1-ABE86B7C969E}"/>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75D45C1D-AD56-440A-8857-2415F92D7436}"/>
              </a:ext>
            </a:extLst>
          </p:cNvPr>
          <p:cNvSpPr>
            <a:spLocks xmlns:a="http://schemas.openxmlformats.org/drawingml/2006/main" noGrp="1"/>
          </p:cNvSpPr>
          <p:nvPr/>
        </p:nvSpPr>
        <p:spPr>
          <a:xfrm xmlns:a="http://schemas.openxmlformats.org/drawingml/2006/main">
            <a:off x="809625" y="2333625"/>
            <a:ext cx="5143500" cy="3429000"/>
          </a:xfrm>
          <a:prstGeom xmlns:a="http://schemas.openxmlformats.org/drawingml/2006/main" prst="roundRect">
            <a:avLst>
              <a:gd name="adj" fmla="val 2778"/>
            </a:avLst>
          </a:prstGeom>
          <a:solidFill xmlns:a="http://schemas.openxmlformats.org/drawingml/2006/main">
            <a:srgbClr val="E8F5FD"/>
          </a:solidFill>
          <a:ln xmlns:a="http://schemas.openxmlformats.org/drawingml/2006/main" w="11430">
            <a:solidFill>
              <a:srgbClr val="E4E9ED"/>
            </a:solidFill>
            <a:prstDash val="solid"/>
          </a:ln>
        </p:spPr>
      </p:sp>
      <p:sp>
        <p:nvSpPr>
          <p:cNvPr id="6" name="">
            <a:extLst xmlns:a="http://schemas.openxmlformats.org/drawingml/2006/main">
              <a:ext uri="{FF2B5EF4-FFF2-40B4-BE49-F238E27FC236}">
                <a16:creationId xmlns:a16="http://schemas.microsoft.com/office/drawing/2014/main" id="{65E5B6A6-C592-49E4-A44D-A5B288EB66E7}"/>
              </a:ext>
            </a:extLst>
          </p:cNvPr>
          <p:cNvSpPr>
            <a:spLocks xmlns:a="http://schemas.openxmlformats.org/drawingml/2006/main" noGrp="1"/>
          </p:cNvSpPr>
          <p:nvPr/>
        </p:nvSpPr>
        <p:spPr>
          <a:xfrm xmlns:a="http://schemas.openxmlformats.org/drawingml/2006/main">
            <a:off x="1333500" y="2781300"/>
            <a:ext cx="838200" cy="838200"/>
          </a:xfrm>
          <a:prstGeom xmlns:a="http://schemas.openxmlformats.org/drawingml/2006/main" prst="ellipse">
            <a:avLst/>
          </a:prstGeom>
          <a:solidFill xmlns:a="http://schemas.openxmlformats.org/drawingml/2006/main">
            <a:srgbClr val="FFF8DF"/>
          </a:solidFill>
          <a:ln xmlns:a="http://schemas.openxmlformats.org/drawingml/2006/main" w="11430">
            <a:solidFill>
              <a:srgbClr val="E4E9ED"/>
            </a:solidFill>
            <a:prstDash val="solid"/>
          </a:ln>
        </p:spPr>
      </p:sp>
      <p:sp>
        <p:nvSpPr>
          <p:cNvPr id="7" name="">
            <a:extLst xmlns:a="http://schemas.openxmlformats.org/drawingml/2006/main">
              <a:ext uri="{FF2B5EF4-FFF2-40B4-BE49-F238E27FC236}">
                <a16:creationId xmlns:a16="http://schemas.microsoft.com/office/drawing/2014/main" id="{C7CEDBE8-78F1-4AFE-9DE0-2979E9E270DF}"/>
              </a:ext>
            </a:extLst>
          </p:cNvPr>
          <p:cNvSpPr>
            <a:spLocks xmlns:a="http://schemas.openxmlformats.org/drawingml/2006/main" noGrp="1"/>
          </p:cNvSpPr>
          <p:nvPr/>
        </p:nvSpPr>
        <p:spPr>
          <a:xfrm xmlns:a="http://schemas.openxmlformats.org/drawingml/2006/main">
            <a:off x="1123950" y="3667125"/>
            <a:ext cx="1257300" cy="1381125"/>
          </a:xfrm>
          <a:prstGeom xmlns:a="http://schemas.openxmlformats.org/drawingml/2006/main" prst="roundRect">
            <a:avLst>
              <a:gd name="adj" fmla="val 13636"/>
            </a:avLst>
          </a:prstGeom>
          <a:solidFill xmlns:a="http://schemas.openxmlformats.org/drawingml/2006/main">
            <a:srgbClr val="0F1419"/>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5C142943-2FF9-4277-85F1-A64DB9ABC55F}"/>
              </a:ext>
            </a:extLst>
          </p:cNvPr>
          <p:cNvSpPr>
            <a:spLocks xmlns:a="http://schemas.openxmlformats.org/drawingml/2006/main" noGrp="1"/>
          </p:cNvSpPr>
          <p:nvPr/>
        </p:nvSpPr>
        <p:spPr>
          <a:xfrm xmlns:a="http://schemas.openxmlformats.org/drawingml/2006/main">
            <a:off x="2667000" y="2876550"/>
            <a:ext cx="3000375" cy="2000250"/>
          </a:xfrm>
          <a:prstGeom xmlns:a="http://schemas.openxmlformats.org/drawingml/2006/main" prst="roundRect">
            <a:avLst>
              <a:gd name="adj" fmla="val 4762"/>
            </a:avLst>
          </a:prstGeom>
          <a:solidFill xmlns:a="http://schemas.openxmlformats.org/drawingml/2006/main">
            <a:srgbClr val="FFFFFF"/>
          </a:solidFill>
          <a:ln xmlns:a="http://schemas.openxmlformats.org/drawingml/2006/main" w="11430">
            <a:solidFill>
              <a:srgbClr val="E4E9ED"/>
            </a:solidFill>
            <a:prstDash val="solid"/>
          </a:ln>
        </p:spPr>
      </p:sp>
      <p:sp>
        <p:nvSpPr>
          <p:cNvPr id="9" name="">
            <a:extLst xmlns:a="http://schemas.openxmlformats.org/drawingml/2006/main">
              <a:ext uri="{FF2B5EF4-FFF2-40B4-BE49-F238E27FC236}">
                <a16:creationId xmlns:a16="http://schemas.microsoft.com/office/drawing/2014/main" id="{B69A73AE-F036-42E2-A313-0F1193D376B5}"/>
              </a:ext>
            </a:extLst>
          </p:cNvPr>
          <p:cNvSpPr>
            <a:spLocks xmlns:a="http://schemas.openxmlformats.org/drawingml/2006/main" noGrp="1"/>
          </p:cNvSpPr>
          <p:nvPr/>
        </p:nvSpPr>
        <p:spPr>
          <a:xfrm xmlns:a="http://schemas.openxmlformats.org/drawingml/2006/main">
            <a:off x="2905125" y="3143250"/>
            <a:ext cx="25241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F45D5D"/>
                </a:solidFill>
              </a:defRPr>
            </a:pPr>
            <a:r>
              <a:rPr sz="1800" b="1">
                <a:solidFill>
                  <a:srgbClr val="F45D5D"/>
                </a:solidFill>
              </a:rPr>
              <a:t>私の推し</a:t>
            </a:r>
          </a:p>
        </p:txBody>
      </p:sp>
      <p:sp>
        <p:nvSpPr>
          <p:cNvPr id="10" name="">
            <a:extLst xmlns:a="http://schemas.openxmlformats.org/drawingml/2006/main">
              <a:ext uri="{FF2B5EF4-FFF2-40B4-BE49-F238E27FC236}">
                <a16:creationId xmlns:a16="http://schemas.microsoft.com/office/drawing/2014/main" id="{565995E3-BF4B-4087-B2FC-572BD664F653}"/>
              </a:ext>
            </a:extLst>
          </p:cNvPr>
          <p:cNvSpPr>
            <a:spLocks xmlns:a="http://schemas.openxmlformats.org/drawingml/2006/main" noGrp="1"/>
          </p:cNvSpPr>
          <p:nvPr/>
        </p:nvSpPr>
        <p:spPr>
          <a:xfrm xmlns:a="http://schemas.openxmlformats.org/drawingml/2006/main">
            <a:off x="2905125" y="3714750"/>
            <a:ext cx="252412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0F1419"/>
                </a:solidFill>
              </a:defRPr>
            </a:pPr>
            <a:r>
              <a:rPr sz="1650" b="1">
                <a:solidFill>
                  <a:srgbClr val="0F1419"/>
                </a:solidFill>
              </a:rPr>
              <a:t>顔出しなしでも</a:t>
            </a:r>
          </a:p>
          <a:p xmlns:a="http://schemas.openxmlformats.org/drawingml/2006/main">
            <a:pPr algn="ctr">
              <a:defRPr sz="1650" b="1">
                <a:solidFill>
                  <a:srgbClr val="0F1419"/>
                </a:solidFill>
              </a:defRPr>
            </a:pPr>
            <a:r>
              <a:rPr sz="1650" b="1">
                <a:solidFill>
                  <a:srgbClr val="0F1419"/>
                </a:solidFill>
              </a:rPr>
              <a:t>人の気配は伝わる</a:t>
            </a:r>
          </a:p>
        </p:txBody>
      </p:sp>
      <p:sp>
        <p:nvSpPr>
          <p:cNvPr id="11" name="">
            <a:extLst xmlns:a="http://schemas.openxmlformats.org/drawingml/2006/main">
              <a:ext uri="{FF2B5EF4-FFF2-40B4-BE49-F238E27FC236}">
                <a16:creationId xmlns:a16="http://schemas.microsoft.com/office/drawing/2014/main" id="{D6CB2235-9454-4AD6-93E0-20FC8362FAD8}"/>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7E823F31-8A8B-4DEE-BA5A-1D2305814118}"/>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E3ECBF9-0CCF-4CDE-9625-32E3222CDADF}"/>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5EF59FE2-22B9-4288-AC0A-C881F828D156}"/>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C3A3E101-93D4-472F-A369-ED78396929DB}"/>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商品だけより、誰がどんな思いで紹介しているかが見えると話しかけやすくなります。</a:t>
            </a:r>
          </a:p>
        </p:txBody>
      </p:sp>
      <p:sp>
        <p:nvSpPr>
          <p:cNvPr id="16" name="">
            <a:extLst xmlns:a="http://schemas.openxmlformats.org/drawingml/2006/main">
              <a:ext uri="{FF2B5EF4-FFF2-40B4-BE49-F238E27FC236}">
                <a16:creationId xmlns:a16="http://schemas.microsoft.com/office/drawing/2014/main" id="{E790913D-9777-48B2-A786-2CAA738BA302}"/>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C97948E1-DFE1-408C-BA14-8A419B9676D9}"/>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A0D2D0E-BDDA-470B-A96D-58FEF624B293}"/>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41C4F574-BEE9-42C7-9D5F-DC0848643900}"/>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45548CCA-9263-4037-8A65-79C459513CAE}"/>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スタッフが本を手に持ち、背景に実際の売場を入れて撮影する。</a:t>
            </a:r>
          </a:p>
        </p:txBody>
      </p:sp>
      <p:sp>
        <p:nvSpPr>
          <p:cNvPr id="21" name="">
            <a:extLst xmlns:a="http://schemas.openxmlformats.org/drawingml/2006/main">
              <a:ext uri="{FF2B5EF4-FFF2-40B4-BE49-F238E27FC236}">
                <a16:creationId xmlns:a16="http://schemas.microsoft.com/office/drawing/2014/main" id="{7510F945-3C1C-4C87-9A65-5D522540AA8B}"/>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2927A76D-6DF5-4920-9373-A2A97D799745}"/>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9DE0D199-F583-4F4F-B9EA-BD016C362FB1}"/>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56D3986B-A2B1-43D4-A170-90FF2E324396}"/>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AEC18074-ABB9-4BC0-A9F5-2859FECC3B04}"/>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顔出し不要。手元、名札、選書コメントから始めましょう。</a:t>
            </a:r>
          </a:p>
        </p:txBody>
      </p:sp>
      <p:sp>
        <p:nvSpPr>
          <p:cNvPr id="26" name="">
            <a:extLst xmlns:a="http://schemas.openxmlformats.org/drawingml/2006/main">
              <a:ext uri="{FF2B5EF4-FFF2-40B4-BE49-F238E27FC236}">
                <a16:creationId xmlns:a16="http://schemas.microsoft.com/office/drawing/2014/main" id="{3731E745-0D68-47A4-8D47-E7D9F4CDA34E}"/>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E84F2D3E-3E3F-43CD-838A-CE2E6AB23A54}"/>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09 / 22</a:t>
            </a:r>
          </a:p>
        </p:txBody>
      </p:sp>
      <p:sp>
        <p:nvSpPr>
          <p:cNvPr id="28" name="">
            <a:extLst xmlns:a="http://schemas.openxmlformats.org/drawingml/2006/main">
              <a:ext uri="{FF2B5EF4-FFF2-40B4-BE49-F238E27FC236}">
                <a16:creationId xmlns:a16="http://schemas.microsoft.com/office/drawing/2014/main" id="{6D37E692-73AD-424B-AF6E-1242C1F3B3A7}"/>
              </a:ext>
            </a:extLst>
          </p:cNvPr>
          <p:cNvSpPr>
            <a:spLocks xmlns:a="http://schemas.openxmlformats.org/drawingml/2006/main" noGrp="1"/>
          </p:cNvSpPr>
          <p:nvPr/>
        </p:nvSpPr>
        <p:spPr>
          <a:xfrm xmlns:a="http://schemas.openxmlformats.org/drawingml/2006/main">
            <a:off x="571500" y="6705600"/>
            <a:ext cx="4520045"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974110198"/>
      </p:ext>
    </p:extLst>
  </p:cSld>
</p:sld>
</file>

<file path=ppt/slides/slide10.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B5D01FFE-454A-4FF6-ABC9-171D48F26C08}"/>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2-3 / COPYWRITING</a:t>
            </a:r>
          </a:p>
        </p:txBody>
      </p:sp>
      <p:sp>
        <p:nvSpPr>
          <p:cNvPr id="2" name="">
            <a:extLst xmlns:a="http://schemas.openxmlformats.org/drawingml/2006/main">
              <a:ext uri="{FF2B5EF4-FFF2-40B4-BE49-F238E27FC236}">
                <a16:creationId xmlns:a16="http://schemas.microsoft.com/office/drawing/2014/main" id="{D6D1306E-CC03-4BF0-92F5-1DFC06192B13}"/>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投稿文には、事実より先に熱量を書く</a:t>
            </a:r>
          </a:p>
        </p:txBody>
      </p:sp>
      <p:sp>
        <p:nvSpPr>
          <p:cNvPr id="3" name="">
            <a:extLst xmlns:a="http://schemas.openxmlformats.org/drawingml/2006/main">
              <a:ext uri="{FF2B5EF4-FFF2-40B4-BE49-F238E27FC236}">
                <a16:creationId xmlns:a16="http://schemas.microsoft.com/office/drawing/2014/main" id="{014FF56A-E4B7-4D0A-AD72-5C85258EF828}"/>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『入荷しました』を『見てほしい理由』に変える。</a:t>
            </a:r>
          </a:p>
        </p:txBody>
      </p:sp>
      <p:sp>
        <p:nvSpPr>
          <p:cNvPr id="4" name="">
            <a:extLst xmlns:a="http://schemas.openxmlformats.org/drawingml/2006/main">
              <a:ext uri="{FF2B5EF4-FFF2-40B4-BE49-F238E27FC236}">
                <a16:creationId xmlns:a16="http://schemas.microsoft.com/office/drawing/2014/main" id="{13430202-7848-4A9C-9919-18A5FB79D66D}"/>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36181F52-65F8-42BF-9A32-6CE05685B1D9}"/>
              </a:ext>
            </a:extLst>
          </p:cNvPr>
          <p:cNvSpPr>
            <a:spLocks xmlns:a="http://schemas.openxmlformats.org/drawingml/2006/main" noGrp="1"/>
          </p:cNvSpPr>
          <p:nvPr/>
        </p:nvSpPr>
        <p:spPr>
          <a:xfrm xmlns:a="http://schemas.openxmlformats.org/drawingml/2006/main">
            <a:off x="800100" y="2495550"/>
            <a:ext cx="2486025" cy="3105150"/>
          </a:xfrm>
          <a:prstGeom xmlns:a="http://schemas.openxmlformats.org/drawingml/2006/main" prst="roundRect">
            <a:avLst>
              <a:gd name="adj" fmla="val 4598"/>
            </a:avLst>
          </a:prstGeom>
          <a:solidFill xmlns:a="http://schemas.openxmlformats.org/drawingml/2006/main">
            <a:srgbClr val="FFF0EF"/>
          </a:solidFill>
          <a:ln xmlns:a="http://schemas.openxmlformats.org/drawingml/2006/main" w="11430">
            <a:solidFill>
              <a:srgbClr val="E4E9ED"/>
            </a:solidFill>
            <a:prstDash val="solid"/>
          </a:ln>
        </p:spPr>
      </p:sp>
      <p:sp>
        <p:nvSpPr>
          <p:cNvPr id="6" name="">
            <a:extLst xmlns:a="http://schemas.openxmlformats.org/drawingml/2006/main">
              <a:ext uri="{FF2B5EF4-FFF2-40B4-BE49-F238E27FC236}">
                <a16:creationId xmlns:a16="http://schemas.microsoft.com/office/drawing/2014/main" id="{3C129869-1ADE-43B2-A841-404452ADE12E}"/>
              </a:ext>
            </a:extLst>
          </p:cNvPr>
          <p:cNvSpPr>
            <a:spLocks xmlns:a="http://schemas.openxmlformats.org/drawingml/2006/main" noGrp="1"/>
          </p:cNvSpPr>
          <p:nvPr/>
        </p:nvSpPr>
        <p:spPr>
          <a:xfrm xmlns:a="http://schemas.openxmlformats.org/drawingml/2006/main">
            <a:off x="3476625" y="2495550"/>
            <a:ext cx="2486025" cy="3105150"/>
          </a:xfrm>
          <a:prstGeom xmlns:a="http://schemas.openxmlformats.org/drawingml/2006/main" prst="roundRect">
            <a:avLst>
              <a:gd name="adj" fmla="val 4598"/>
            </a:avLst>
          </a:prstGeom>
          <a:solidFill xmlns:a="http://schemas.openxmlformats.org/drawingml/2006/main">
            <a:srgbClr val="E5F8F0"/>
          </a:solidFill>
          <a:ln xmlns:a="http://schemas.openxmlformats.org/drawingml/2006/main" w="11430">
            <a:solidFill>
              <a:srgbClr val="E4E9ED"/>
            </a:solidFill>
            <a:prstDash val="solid"/>
          </a:ln>
        </p:spPr>
      </p:sp>
      <p:sp>
        <p:nvSpPr>
          <p:cNvPr id="7" name="">
            <a:extLst xmlns:a="http://schemas.openxmlformats.org/drawingml/2006/main">
              <a:ext uri="{FF2B5EF4-FFF2-40B4-BE49-F238E27FC236}">
                <a16:creationId xmlns:a16="http://schemas.microsoft.com/office/drawing/2014/main" id="{2421FEC8-68E9-4648-9B16-F1C82951309D}"/>
              </a:ext>
            </a:extLst>
          </p:cNvPr>
          <p:cNvSpPr>
            <a:spLocks xmlns:a="http://schemas.openxmlformats.org/drawingml/2006/main" noGrp="1"/>
          </p:cNvSpPr>
          <p:nvPr/>
        </p:nvSpPr>
        <p:spPr>
          <a:xfrm xmlns:a="http://schemas.openxmlformats.org/drawingml/2006/main">
            <a:off x="990600"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45D5D"/>
                </a:solidFill>
              </a:defRPr>
            </a:pPr>
            <a:r>
              <a:rPr sz="1050" b="1">
                <a:solidFill>
                  <a:srgbClr val="F45D5D"/>
                </a:solidFill>
              </a:rPr>
              <a:t>×  事務連絡</a:t>
            </a:r>
          </a:p>
        </p:txBody>
      </p:sp>
      <p:sp>
        <p:nvSpPr>
          <p:cNvPr id="8" name="">
            <a:extLst xmlns:a="http://schemas.openxmlformats.org/drawingml/2006/main">
              <a:ext uri="{FF2B5EF4-FFF2-40B4-BE49-F238E27FC236}">
                <a16:creationId xmlns:a16="http://schemas.microsoft.com/office/drawing/2014/main" id="{B9F69135-6A3E-4B9D-85FF-FADA62879153}"/>
              </a:ext>
            </a:extLst>
          </p:cNvPr>
          <p:cNvSpPr>
            <a:spLocks xmlns:a="http://schemas.openxmlformats.org/drawingml/2006/main" noGrp="1"/>
          </p:cNvSpPr>
          <p:nvPr/>
        </p:nvSpPr>
        <p:spPr>
          <a:xfrm xmlns:a="http://schemas.openxmlformats.org/drawingml/2006/main">
            <a:off x="3667125"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A86B"/>
                </a:solidFill>
              </a:defRPr>
            </a:pPr>
            <a:r>
              <a:rPr sz="1050" b="1">
                <a:solidFill>
                  <a:srgbClr val="00A86B"/>
                </a:solidFill>
              </a:rPr>
              <a:t>○  熱量が見える</a:t>
            </a:r>
          </a:p>
        </p:txBody>
      </p:sp>
      <p:sp>
        <p:nvSpPr>
          <p:cNvPr id="9" name="">
            <a:extLst xmlns:a="http://schemas.openxmlformats.org/drawingml/2006/main">
              <a:ext uri="{FF2B5EF4-FFF2-40B4-BE49-F238E27FC236}">
                <a16:creationId xmlns:a16="http://schemas.microsoft.com/office/drawing/2014/main" id="{92E4D9B1-ED00-4CCB-940D-AE4F5CE978C6}"/>
              </a:ext>
            </a:extLst>
          </p:cNvPr>
          <p:cNvSpPr>
            <a:spLocks xmlns:a="http://schemas.openxmlformats.org/drawingml/2006/main" noGrp="1"/>
          </p:cNvSpPr>
          <p:nvPr/>
        </p:nvSpPr>
        <p:spPr>
          <a:xfrm xmlns:a="http://schemas.openxmlformats.org/drawingml/2006/main">
            <a:off x="1047750"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〇〇文庫が</a:t>
            </a:r>
          </a:p>
          <a:p xmlns:a="http://schemas.openxmlformats.org/drawingml/2006/main">
            <a:pPr algn="ctr">
              <a:defRPr sz="1425" b="1">
                <a:solidFill>
                  <a:srgbClr val="0F1419"/>
                </a:solidFill>
              </a:defRPr>
            </a:pPr>
            <a:r>
              <a:rPr sz="1425" b="1">
                <a:solidFill>
                  <a:srgbClr val="0F1419"/>
                </a:solidFill>
              </a:rPr>
              <a:t>全点揃いました。</a:t>
            </a:r>
          </a:p>
        </p:txBody>
      </p:sp>
      <p:sp>
        <p:nvSpPr>
          <p:cNvPr id="10" name="">
            <a:extLst xmlns:a="http://schemas.openxmlformats.org/drawingml/2006/main">
              <a:ext uri="{FF2B5EF4-FFF2-40B4-BE49-F238E27FC236}">
                <a16:creationId xmlns:a16="http://schemas.microsoft.com/office/drawing/2014/main" id="{70D65D3C-3EA1-4820-9FFA-53C8E001BD95}"/>
              </a:ext>
            </a:extLst>
          </p:cNvPr>
          <p:cNvSpPr>
            <a:spLocks xmlns:a="http://schemas.openxmlformats.org/drawingml/2006/main" noGrp="1"/>
          </p:cNvSpPr>
          <p:nvPr/>
        </p:nvSpPr>
        <p:spPr>
          <a:xfrm xmlns:a="http://schemas.openxmlformats.org/drawingml/2006/main">
            <a:off x="3724275"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圧巻です…！</a:t>
            </a:r>
          </a:p>
          <a:p xmlns:a="http://schemas.openxmlformats.org/drawingml/2006/main">
            <a:pPr algn="ctr">
              <a:defRPr sz="1425" b="1">
                <a:solidFill>
                  <a:srgbClr val="0F1419"/>
                </a:solidFill>
              </a:defRPr>
            </a:pPr>
            <a:r>
              <a:rPr sz="1425" b="1">
                <a:solidFill>
                  <a:srgbClr val="0F1419"/>
                </a:solidFill>
              </a:rPr>
              <a:t>このスケールを</a:t>
            </a:r>
          </a:p>
          <a:p xmlns:a="http://schemas.openxmlformats.org/drawingml/2006/main">
            <a:pPr algn="ctr">
              <a:defRPr sz="1425" b="1">
                <a:solidFill>
                  <a:srgbClr val="0F1419"/>
                </a:solidFill>
              </a:defRPr>
            </a:pPr>
            <a:r>
              <a:rPr sz="1425" b="1">
                <a:solidFill>
                  <a:srgbClr val="0F1419"/>
                </a:solidFill>
              </a:rPr>
              <a:t>店頭で体感してください。</a:t>
            </a:r>
          </a:p>
        </p:txBody>
      </p:sp>
      <p:sp>
        <p:nvSpPr>
          <p:cNvPr id="11" name="">
            <a:extLst xmlns:a="http://schemas.openxmlformats.org/drawingml/2006/main">
              <a:ext uri="{FF2B5EF4-FFF2-40B4-BE49-F238E27FC236}">
                <a16:creationId xmlns:a16="http://schemas.microsoft.com/office/drawing/2014/main" id="{52DBBF54-2949-4723-A1C9-66C85679248F}"/>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D0D1A020-9A87-4CA9-87DB-76804054DB2C}"/>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7FC35DD-DD94-4FBD-B475-3DE445414346}"/>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0AB7C01F-1F59-4AFB-A6CC-B136037ECEAA}"/>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0515E3F0-B576-427D-8F80-63AD8CDC1FDF}"/>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事務連絡だけでは流されます。驚きやこだわりが、読む手を止めます。</a:t>
            </a:r>
          </a:p>
        </p:txBody>
      </p:sp>
      <p:sp>
        <p:nvSpPr>
          <p:cNvPr id="16" name="">
            <a:extLst xmlns:a="http://schemas.openxmlformats.org/drawingml/2006/main">
              <a:ext uri="{FF2B5EF4-FFF2-40B4-BE49-F238E27FC236}">
                <a16:creationId xmlns:a16="http://schemas.microsoft.com/office/drawing/2014/main" id="{379E4616-7BB9-46FD-80B8-FD8C5CA31462}"/>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45893F8D-EF50-4115-B67F-7D602D6B48F1}"/>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DC2DED54-B37C-433E-B567-6B58596C83BF}"/>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5C043AC4-B51C-40DD-B538-48D0BE79F34A}"/>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60162371-DF61-47F2-B3B3-2907ED58027F}"/>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『全点揃いました』より『圧巻です…！全点コンプリート！』。</a:t>
            </a:r>
          </a:p>
        </p:txBody>
      </p:sp>
      <p:sp>
        <p:nvSpPr>
          <p:cNvPr id="21" name="">
            <a:extLst xmlns:a="http://schemas.openxmlformats.org/drawingml/2006/main">
              <a:ext uri="{FF2B5EF4-FFF2-40B4-BE49-F238E27FC236}">
                <a16:creationId xmlns:a16="http://schemas.microsoft.com/office/drawing/2014/main" id="{F6E30618-44BF-4E11-AACA-917178247EFF}"/>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DE44B58B-E1FD-4A69-BAAA-62214A590E04}"/>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D2C459A2-9459-40E9-8E8C-3F6C4C755CFC}"/>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369BECBF-C2E6-40E6-ADEC-7AA2083F847F}"/>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51602C40-6AD1-4CCC-AD87-437488E40AC4}"/>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事実＋感情＋店頭での体験、の3要素で書き換えましょう。</a:t>
            </a:r>
          </a:p>
        </p:txBody>
      </p:sp>
      <p:sp>
        <p:nvSpPr>
          <p:cNvPr id="26" name="">
            <a:extLst xmlns:a="http://schemas.openxmlformats.org/drawingml/2006/main">
              <a:ext uri="{FF2B5EF4-FFF2-40B4-BE49-F238E27FC236}">
                <a16:creationId xmlns:a16="http://schemas.microsoft.com/office/drawing/2014/main" id="{D199EE11-2BC2-4708-83FE-04E110E69FE8}"/>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F59FD100-E9F7-4A89-AB01-F1FCF5C50826}"/>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10 / 22</a:t>
            </a:r>
          </a:p>
        </p:txBody>
      </p:sp>
      <p:sp>
        <p:nvSpPr>
          <p:cNvPr id="28" name="">
            <a:extLst xmlns:a="http://schemas.openxmlformats.org/drawingml/2006/main">
              <a:ext uri="{FF2B5EF4-FFF2-40B4-BE49-F238E27FC236}">
                <a16:creationId xmlns:a16="http://schemas.microsoft.com/office/drawing/2014/main" id="{00799878-FCEB-4612-88D9-6D588C172AD3}"/>
              </a:ext>
            </a:extLst>
          </p:cNvPr>
          <p:cNvSpPr>
            <a:spLocks xmlns:a="http://schemas.openxmlformats.org/drawingml/2006/main" noGrp="1"/>
          </p:cNvSpPr>
          <p:nvPr/>
        </p:nvSpPr>
        <p:spPr>
          <a:xfrm xmlns:a="http://schemas.openxmlformats.org/drawingml/2006/main">
            <a:off x="571500" y="6705600"/>
            <a:ext cx="5022273"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065382603"/>
      </p:ext>
    </p:extLst>
  </p:cSld>
</p:sld>
</file>

<file path=ppt/slides/slide1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4EE2A28-FB61-4AD7-B182-A36CE8CB1149}"/>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2-4 / CONSISTENCY</a:t>
            </a:r>
          </a:p>
        </p:txBody>
      </p:sp>
      <p:sp>
        <p:nvSpPr>
          <p:cNvPr id="2" name="">
            <a:extLst xmlns:a="http://schemas.openxmlformats.org/drawingml/2006/main">
              <a:ext uri="{FF2B5EF4-FFF2-40B4-BE49-F238E27FC236}">
                <a16:creationId xmlns:a16="http://schemas.microsoft.com/office/drawing/2014/main" id="{639EB06B-AFA5-42CC-B13D-CA32BF947BF8}"/>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バズだけを狙わない</a:t>
            </a:r>
          </a:p>
        </p:txBody>
      </p:sp>
      <p:sp>
        <p:nvSpPr>
          <p:cNvPr id="3" name="">
            <a:extLst xmlns:a="http://schemas.openxmlformats.org/drawingml/2006/main">
              <a:ext uri="{FF2B5EF4-FFF2-40B4-BE49-F238E27FC236}">
                <a16:creationId xmlns:a16="http://schemas.microsoft.com/office/drawing/2014/main" id="{3892CE14-1375-4F57-A01B-80177F562E2D}"/>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伸びない日の投稿が、伸びる日の土台になる。</a:t>
            </a:r>
          </a:p>
        </p:txBody>
      </p:sp>
      <p:sp>
        <p:nvSpPr>
          <p:cNvPr id="4" name="">
            <a:extLst xmlns:a="http://schemas.openxmlformats.org/drawingml/2006/main">
              <a:ext uri="{FF2B5EF4-FFF2-40B4-BE49-F238E27FC236}">
                <a16:creationId xmlns:a16="http://schemas.microsoft.com/office/drawing/2014/main" id="{7DBC77CC-4C82-4B1B-8EC9-363BA10C9437}"/>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96426844-DBE6-4353-B841-67F9E3797332}"/>
              </a:ext>
            </a:extLst>
          </p:cNvPr>
          <p:cNvSpPr>
            <a:spLocks xmlns:a="http://schemas.openxmlformats.org/drawingml/2006/main" noGrp="1"/>
          </p:cNvSpPr>
          <p:nvPr/>
        </p:nvSpPr>
        <p:spPr>
          <a:xfrm xmlns:a="http://schemas.openxmlformats.org/drawingml/2006/main">
            <a:off x="904875" y="5000625"/>
            <a:ext cx="4953000" cy="685800"/>
          </a:xfrm>
          <a:prstGeom xmlns:a="http://schemas.openxmlformats.org/drawingml/2006/main" prst="roundRect">
            <a:avLst>
              <a:gd name="adj" fmla="val 11111"/>
            </a:avLst>
          </a:prstGeom>
          <a:solidFill xmlns:a="http://schemas.openxmlformats.org/drawingml/2006/main">
            <a:srgbClr val="0F141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868B2BC2-9DC0-434A-B60A-8B15F67535BC}"/>
              </a:ext>
            </a:extLst>
          </p:cNvPr>
          <p:cNvSpPr>
            <a:spLocks xmlns:a="http://schemas.openxmlformats.org/drawingml/2006/main" noGrp="1"/>
          </p:cNvSpPr>
          <p:nvPr/>
        </p:nvSpPr>
        <p:spPr>
          <a:xfrm xmlns:a="http://schemas.openxmlformats.org/drawingml/2006/main">
            <a:off x="1000125" y="5191125"/>
            <a:ext cx="4762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日々の小さな投稿</a:t>
            </a:r>
          </a:p>
        </p:txBody>
      </p:sp>
      <p:sp>
        <p:nvSpPr>
          <p:cNvPr id="7" name="">
            <a:extLst xmlns:a="http://schemas.openxmlformats.org/drawingml/2006/main">
              <a:ext uri="{FF2B5EF4-FFF2-40B4-BE49-F238E27FC236}">
                <a16:creationId xmlns:a16="http://schemas.microsoft.com/office/drawing/2014/main" id="{D9083C6F-7261-40D1-8FB4-2D94A47B59BE}"/>
              </a:ext>
            </a:extLst>
          </p:cNvPr>
          <p:cNvSpPr>
            <a:spLocks xmlns:a="http://schemas.openxmlformats.org/drawingml/2006/main" noGrp="1"/>
          </p:cNvSpPr>
          <p:nvPr/>
        </p:nvSpPr>
        <p:spPr>
          <a:xfrm xmlns:a="http://schemas.openxmlformats.org/drawingml/2006/main">
            <a:off x="1524000" y="4143375"/>
            <a:ext cx="3714750" cy="685800"/>
          </a:xfrm>
          <a:prstGeom xmlns:a="http://schemas.openxmlformats.org/drawingml/2006/main" prst="roundRect">
            <a:avLst>
              <a:gd name="adj" fmla="val 11111"/>
            </a:avLst>
          </a:prstGeom>
          <a:solidFill xmlns:a="http://schemas.openxmlformats.org/drawingml/2006/main">
            <a:srgbClr val="00A86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92CDBFEA-185B-4C6B-AF43-A60DCEB5EB92}"/>
              </a:ext>
            </a:extLst>
          </p:cNvPr>
          <p:cNvSpPr>
            <a:spLocks xmlns:a="http://schemas.openxmlformats.org/drawingml/2006/main" noGrp="1"/>
          </p:cNvSpPr>
          <p:nvPr/>
        </p:nvSpPr>
        <p:spPr>
          <a:xfrm xmlns:a="http://schemas.openxmlformats.org/drawingml/2006/main">
            <a:off x="1619250" y="4333875"/>
            <a:ext cx="3524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信頼と期待</a:t>
            </a:r>
          </a:p>
        </p:txBody>
      </p:sp>
      <p:sp>
        <p:nvSpPr>
          <p:cNvPr id="9" name="">
            <a:extLst xmlns:a="http://schemas.openxmlformats.org/drawingml/2006/main">
              <a:ext uri="{FF2B5EF4-FFF2-40B4-BE49-F238E27FC236}">
                <a16:creationId xmlns:a16="http://schemas.microsoft.com/office/drawing/2014/main" id="{BD745A65-2BB5-4BB2-BD29-D2521EE39CE3}"/>
              </a:ext>
            </a:extLst>
          </p:cNvPr>
          <p:cNvSpPr>
            <a:spLocks xmlns:a="http://schemas.openxmlformats.org/drawingml/2006/main" noGrp="1"/>
          </p:cNvSpPr>
          <p:nvPr/>
        </p:nvSpPr>
        <p:spPr>
          <a:xfrm xmlns:a="http://schemas.openxmlformats.org/drawingml/2006/main">
            <a:off x="2143125" y="3286125"/>
            <a:ext cx="2476500" cy="685800"/>
          </a:xfrm>
          <a:prstGeom xmlns:a="http://schemas.openxmlformats.org/drawingml/2006/main" prst="roundRect">
            <a:avLst>
              <a:gd name="adj" fmla="val 11111"/>
            </a:avLst>
          </a:prstGeom>
          <a:solidFill xmlns:a="http://schemas.openxmlformats.org/drawingml/2006/main">
            <a:srgbClr val="1D9BF0"/>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16864E4E-8C2F-40FA-9E2D-F5AF0D41C4FB}"/>
              </a:ext>
            </a:extLst>
          </p:cNvPr>
          <p:cNvSpPr>
            <a:spLocks xmlns:a="http://schemas.openxmlformats.org/drawingml/2006/main" noGrp="1"/>
          </p:cNvSpPr>
          <p:nvPr/>
        </p:nvSpPr>
        <p:spPr>
          <a:xfrm xmlns:a="http://schemas.openxmlformats.org/drawingml/2006/main">
            <a:off x="2238375" y="3476625"/>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大きな反響</a:t>
            </a:r>
          </a:p>
        </p:txBody>
      </p:sp>
      <p:sp>
        <p:nvSpPr>
          <p:cNvPr id="11" name="">
            <a:extLst xmlns:a="http://schemas.openxmlformats.org/drawingml/2006/main">
              <a:ext uri="{FF2B5EF4-FFF2-40B4-BE49-F238E27FC236}">
                <a16:creationId xmlns:a16="http://schemas.microsoft.com/office/drawing/2014/main" id="{996BF93C-0DF9-474C-BEA1-70FDBBCFA149}"/>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59F4B243-5BAE-441D-B5C1-B47DF1BF36DE}"/>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FFCEEA8-263E-46AF-92D8-F7C4799EF4E9}"/>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5561688E-5E49-421E-A401-1BE879B92BCA}"/>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59EA82BB-B9BD-49C9-BD1A-BA59184B7492}"/>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日々の小さな投稿で専門性と期待が蓄積されるから、大型企画が反響を得ます。</a:t>
            </a:r>
          </a:p>
        </p:txBody>
      </p:sp>
      <p:sp>
        <p:nvSpPr>
          <p:cNvPr id="16" name="">
            <a:extLst xmlns:a="http://schemas.openxmlformats.org/drawingml/2006/main">
              <a:ext uri="{FF2B5EF4-FFF2-40B4-BE49-F238E27FC236}">
                <a16:creationId xmlns:a16="http://schemas.microsoft.com/office/drawing/2014/main" id="{27B854EB-F69A-4322-953C-17C592B9DC1E}"/>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91A05A0F-2E1F-4A93-AF80-B797DFDACFB9}"/>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EEA063C2-90A2-420E-ACFC-CFE4AA3130EE}"/>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94370549-5B5D-4035-BB99-22863D5B5FB8}"/>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38527842-82DB-4033-80F8-5E33619FF54A}"/>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日々の新刊・選書投稿→信頼→大型フェア投稿の大きな反響。</a:t>
            </a:r>
          </a:p>
        </p:txBody>
      </p:sp>
      <p:sp>
        <p:nvSpPr>
          <p:cNvPr id="21" name="">
            <a:extLst xmlns:a="http://schemas.openxmlformats.org/drawingml/2006/main">
              <a:ext uri="{FF2B5EF4-FFF2-40B4-BE49-F238E27FC236}">
                <a16:creationId xmlns:a16="http://schemas.microsoft.com/office/drawing/2014/main" id="{5BF28EEB-1923-4999-8601-1811EA8893EF}"/>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0905467F-34A6-4179-8F6D-8D93EA1CE51F}"/>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CC027EC-2E3F-4CC6-9C90-2EB48EB9FF6B}"/>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B515F64B-F1FA-4C6D-807F-D35588DE0C40}"/>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2097A65C-77D0-4604-9551-A758F74494AF}"/>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単発の数字で判断せず、4週間単位で投稿と反応を振り返りましょう。</a:t>
            </a:r>
          </a:p>
        </p:txBody>
      </p:sp>
      <p:sp>
        <p:nvSpPr>
          <p:cNvPr id="26" name="">
            <a:extLst xmlns:a="http://schemas.openxmlformats.org/drawingml/2006/main">
              <a:ext uri="{FF2B5EF4-FFF2-40B4-BE49-F238E27FC236}">
                <a16:creationId xmlns:a16="http://schemas.microsoft.com/office/drawing/2014/main" id="{9ABA2F30-1105-4096-9659-5D27E6314441}"/>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8CD025E6-2FC7-4F8A-A85D-48EE7CAC96F5}"/>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11 / 22</a:t>
            </a:r>
          </a:p>
        </p:txBody>
      </p:sp>
      <p:sp>
        <p:nvSpPr>
          <p:cNvPr id="28" name="">
            <a:extLst xmlns:a="http://schemas.openxmlformats.org/drawingml/2006/main">
              <a:ext uri="{FF2B5EF4-FFF2-40B4-BE49-F238E27FC236}">
                <a16:creationId xmlns:a16="http://schemas.microsoft.com/office/drawing/2014/main" id="{A039514B-F694-4488-923B-72C704C5B277}"/>
              </a:ext>
            </a:extLst>
          </p:cNvPr>
          <p:cNvSpPr>
            <a:spLocks xmlns:a="http://schemas.openxmlformats.org/drawingml/2006/main" noGrp="1"/>
          </p:cNvSpPr>
          <p:nvPr/>
        </p:nvSpPr>
        <p:spPr>
          <a:xfrm xmlns:a="http://schemas.openxmlformats.org/drawingml/2006/main">
            <a:off x="571500" y="6705600"/>
            <a:ext cx="5524500"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2040854007"/>
      </p:ext>
    </p:extLst>
  </p:cSld>
</p:sld>
</file>

<file path=ppt/slides/slide12.xml><?xml version="1.0" encoding="utf-8"?>
<p:sld xmlns:p="http://schemas.openxmlformats.org/presentationml/2006/main">
  <p:cSld>
    <p:bg>
      <p:bgPr>
        <a:solidFill xmlns:a="http://schemas.openxmlformats.org/drawingml/2006/main">
          <a:srgbClr val="0F141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CDF55A3-F8FB-4B33-82FA-45B376488F01}"/>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CHAPTER 03</a:t>
            </a:r>
          </a:p>
        </p:txBody>
      </p:sp>
      <p:sp>
        <p:nvSpPr>
          <p:cNvPr id="2" name="">
            <a:extLst xmlns:a="http://schemas.openxmlformats.org/drawingml/2006/main">
              <a:ext uri="{FF2B5EF4-FFF2-40B4-BE49-F238E27FC236}">
                <a16:creationId xmlns:a16="http://schemas.microsoft.com/office/drawing/2014/main" id="{49EBA993-BDFF-4368-87C6-C3993C87DBA9}"/>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FFFFFF"/>
                </a:solidFill>
              </a:defRPr>
            </a:pPr>
            <a:r>
              <a:rPr sz="3000" b="1">
                <a:solidFill>
                  <a:srgbClr val="FFFFFF"/>
                </a:solidFill>
              </a:rPr>
              <a:t>アルゴリズムを味方につける</a:t>
            </a:r>
          </a:p>
        </p:txBody>
      </p:sp>
      <p:sp>
        <p:nvSpPr>
          <p:cNvPr id="3" name="">
            <a:extLst xmlns:a="http://schemas.openxmlformats.org/drawingml/2006/main">
              <a:ext uri="{FF2B5EF4-FFF2-40B4-BE49-F238E27FC236}">
                <a16:creationId xmlns:a16="http://schemas.microsoft.com/office/drawing/2014/main" id="{8C9324B6-3711-4F46-82E7-B40D8DBDD1E6}"/>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CBD5DC"/>
                </a:solidFill>
              </a:defRPr>
            </a:pPr>
            <a:r>
              <a:rPr sz="1575" b="1">
                <a:solidFill>
                  <a:srgbClr val="CBD5DC"/>
                </a:solidFill>
              </a:rPr>
              <a:t>小手先ではなく、届きやすい形で価値と会話を積み重ねる。</a:t>
            </a:r>
          </a:p>
        </p:txBody>
      </p:sp>
      <p:sp>
        <p:nvSpPr>
          <p:cNvPr id="4" name="">
            <a:extLst xmlns:a="http://schemas.openxmlformats.org/drawingml/2006/main">
              <a:ext uri="{FF2B5EF4-FFF2-40B4-BE49-F238E27FC236}">
                <a16:creationId xmlns:a16="http://schemas.microsoft.com/office/drawing/2014/main" id="{9151675F-0863-4775-A7B2-43CA7368F311}"/>
              </a:ext>
            </a:extLst>
          </p:cNvPr>
          <p:cNvSpPr>
            <a:spLocks xmlns:a="http://schemas.openxmlformats.org/drawingml/2006/main" noGrp="1"/>
          </p:cNvSpPr>
          <p:nvPr/>
        </p:nvSpPr>
        <p:spPr>
          <a:xfrm xmlns:a="http://schemas.openxmlformats.org/drawingml/2006/main">
            <a:off x="6286500" y="1952625"/>
            <a:ext cx="533400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479CB0AB-DC37-4004-8EC1-ACD7B4CD5F27}"/>
              </a:ext>
            </a:extLst>
          </p:cNvPr>
          <p:cNvSpPr>
            <a:spLocks xmlns:a="http://schemas.openxmlformats.org/drawingml/2006/main" noGrp="1"/>
          </p:cNvSpPr>
          <p:nvPr/>
        </p:nvSpPr>
        <p:spPr>
          <a:xfrm xmlns:a="http://schemas.openxmlformats.org/drawingml/2006/main">
            <a:off x="8286750" y="3238500"/>
            <a:ext cx="1333500" cy="1333500"/>
          </a:xfrm>
          <a:prstGeom xmlns:a="http://schemas.openxmlformats.org/drawingml/2006/main" prst="ellipse">
            <a:avLst/>
          </a:prstGeom>
          <a:solidFill xmlns:a="http://schemas.openxmlformats.org/drawingml/2006/main">
            <a:srgbClr val="0F141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0E36D309-3002-4DE6-998D-F73DDB8D557B}"/>
              </a:ext>
            </a:extLst>
          </p:cNvPr>
          <p:cNvSpPr>
            <a:spLocks xmlns:a="http://schemas.openxmlformats.org/drawingml/2006/main" noGrp="1"/>
          </p:cNvSpPr>
          <p:nvPr/>
        </p:nvSpPr>
        <p:spPr>
          <a:xfrm xmlns:a="http://schemas.openxmlformats.org/drawingml/2006/main">
            <a:off x="8429625" y="3733800"/>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FFFFF"/>
                </a:solidFill>
              </a:defRPr>
            </a:pPr>
            <a:r>
              <a:rPr sz="1500" b="1">
                <a:solidFill>
                  <a:srgbClr val="FFFFFF"/>
                </a:solidFill>
              </a:rPr>
              <a:t>おすすめ</a:t>
            </a:r>
          </a:p>
        </p:txBody>
      </p:sp>
      <p:sp>
        <p:nvSpPr>
          <p:cNvPr id="7" name="">
            <a:extLst xmlns:a="http://schemas.openxmlformats.org/drawingml/2006/main">
              <a:ext uri="{FF2B5EF4-FFF2-40B4-BE49-F238E27FC236}">
                <a16:creationId xmlns:a16="http://schemas.microsoft.com/office/drawing/2014/main" id="{FC3FB1D7-2A66-4A93-8D41-03EEBE9EDE8C}"/>
              </a:ext>
            </a:extLst>
          </p:cNvPr>
          <p:cNvSpPr>
            <a:spLocks xmlns:a="http://schemas.openxmlformats.org/drawingml/2006/main" noGrp="1"/>
          </p:cNvSpPr>
          <p:nvPr/>
        </p:nvSpPr>
        <p:spPr>
          <a:xfrm xmlns:a="http://schemas.openxmlformats.org/drawingml/2006/main">
            <a:off x="6619875" y="2314575"/>
            <a:ext cx="1143000" cy="523875"/>
          </a:xfrm>
          <a:prstGeom xmlns:a="http://schemas.openxmlformats.org/drawingml/2006/main" prst="roundRect">
            <a:avLst>
              <a:gd name="adj" fmla="val 18182"/>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時間</a:t>
            </a:r>
          </a:p>
        </p:txBody>
      </p:sp>
      <p:sp>
        <p:nvSpPr>
          <p:cNvPr id="8" name="">
            <a:extLst xmlns:a="http://schemas.openxmlformats.org/drawingml/2006/main">
              <a:ext uri="{FF2B5EF4-FFF2-40B4-BE49-F238E27FC236}">
                <a16:creationId xmlns:a16="http://schemas.microsoft.com/office/drawing/2014/main" id="{C950CFD2-0BEA-45EB-865C-376F05045827}"/>
              </a:ext>
            </a:extLst>
          </p:cNvPr>
          <p:cNvSpPr>
            <a:spLocks xmlns:a="http://schemas.openxmlformats.org/drawingml/2006/main" noGrp="1"/>
          </p:cNvSpPr>
          <p:nvPr/>
        </p:nvSpPr>
        <p:spPr>
          <a:xfrm xmlns:a="http://schemas.openxmlformats.org/drawingml/2006/main">
            <a:off x="10144125" y="2314575"/>
            <a:ext cx="1143000" cy="523875"/>
          </a:xfrm>
          <a:prstGeom xmlns:a="http://schemas.openxmlformats.org/drawingml/2006/main" prst="roundRect">
            <a:avLst>
              <a:gd name="adj" fmla="val 18182"/>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価値</a:t>
            </a:r>
          </a:p>
        </p:txBody>
      </p:sp>
      <p:sp>
        <p:nvSpPr>
          <p:cNvPr id="9" name="">
            <a:extLst xmlns:a="http://schemas.openxmlformats.org/drawingml/2006/main">
              <a:ext uri="{FF2B5EF4-FFF2-40B4-BE49-F238E27FC236}">
                <a16:creationId xmlns:a16="http://schemas.microsoft.com/office/drawing/2014/main" id="{D91AC9AF-17DC-4509-A24A-216A0911F5E6}"/>
              </a:ext>
            </a:extLst>
          </p:cNvPr>
          <p:cNvSpPr>
            <a:spLocks xmlns:a="http://schemas.openxmlformats.org/drawingml/2006/main" noGrp="1"/>
          </p:cNvSpPr>
          <p:nvPr/>
        </p:nvSpPr>
        <p:spPr>
          <a:xfrm xmlns:a="http://schemas.openxmlformats.org/drawingml/2006/main">
            <a:off x="6619875" y="4981575"/>
            <a:ext cx="1143000" cy="523875"/>
          </a:xfrm>
          <a:prstGeom xmlns:a="http://schemas.openxmlformats.org/drawingml/2006/main" prst="roundRect">
            <a:avLst>
              <a:gd name="adj" fmla="val 18182"/>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会話</a:t>
            </a:r>
          </a:p>
        </p:txBody>
      </p:sp>
      <p:sp>
        <p:nvSpPr>
          <p:cNvPr id="10" name="">
            <a:extLst xmlns:a="http://schemas.openxmlformats.org/drawingml/2006/main">
              <a:ext uri="{FF2B5EF4-FFF2-40B4-BE49-F238E27FC236}">
                <a16:creationId xmlns:a16="http://schemas.microsoft.com/office/drawing/2014/main" id="{367DAB6C-D9DB-4804-8559-D3D2663C7335}"/>
              </a:ext>
            </a:extLst>
          </p:cNvPr>
          <p:cNvSpPr>
            <a:spLocks xmlns:a="http://schemas.openxmlformats.org/drawingml/2006/main" noGrp="1"/>
          </p:cNvSpPr>
          <p:nvPr/>
        </p:nvSpPr>
        <p:spPr>
          <a:xfrm xmlns:a="http://schemas.openxmlformats.org/drawingml/2006/main">
            <a:off x="10144125" y="4981575"/>
            <a:ext cx="1143000" cy="523875"/>
          </a:xfrm>
          <a:prstGeom xmlns:a="http://schemas.openxmlformats.org/drawingml/2006/main" prst="roundRect">
            <a:avLst>
              <a:gd name="adj" fmla="val 18182"/>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信頼</a:t>
            </a:r>
          </a:p>
        </p:txBody>
      </p:sp>
      <p:sp>
        <p:nvSpPr>
          <p:cNvPr id="11" name="">
            <a:extLst xmlns:a="http://schemas.openxmlformats.org/drawingml/2006/main">
              <a:ext uri="{FF2B5EF4-FFF2-40B4-BE49-F238E27FC236}">
                <a16:creationId xmlns:a16="http://schemas.microsoft.com/office/drawing/2014/main" id="{92656371-A5C5-4181-9FD7-65C0EB6F8C1A}"/>
              </a:ext>
            </a:extLst>
          </p:cNvPr>
          <p:cNvSpPr>
            <a:spLocks xmlns:a="http://schemas.openxmlformats.org/drawingml/2006/main" noGrp="1"/>
          </p:cNvSpPr>
          <p:nvPr/>
        </p:nvSpPr>
        <p:spPr>
          <a:xfrm xmlns:a="http://schemas.openxmlformats.org/drawingml/2006/main">
            <a:off x="571500" y="2114550"/>
            <a:ext cx="4953000" cy="1123950"/>
          </a:xfrm>
          <a:prstGeom xmlns:a="http://schemas.openxmlformats.org/drawingml/2006/main" prst="roundRect">
            <a:avLst>
              <a:gd name="adj" fmla="val 8475"/>
            </a:avLst>
          </a:prstGeom>
          <a:solidFill xmlns:a="http://schemas.openxmlformats.org/drawingml/2006/main">
            <a:srgbClr val="151D23"/>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B6966F2E-7030-40DB-BFA5-7CEFBCC84859}"/>
              </a:ext>
            </a:extLst>
          </p:cNvPr>
          <p:cNvSpPr>
            <a:spLocks xmlns:a="http://schemas.openxmlformats.org/drawingml/2006/main" noGrp="1"/>
          </p:cNvSpPr>
          <p:nvPr/>
        </p:nvSpPr>
        <p:spPr>
          <a:xfrm xmlns:a="http://schemas.openxmlformats.org/drawingml/2006/main">
            <a:off x="742950" y="230505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9192DC6B-A733-453C-9F0A-838752369683}"/>
              </a:ext>
            </a:extLst>
          </p:cNvPr>
          <p:cNvSpPr>
            <a:spLocks xmlns:a="http://schemas.openxmlformats.org/drawingml/2006/main" noGrp="1"/>
          </p:cNvSpPr>
          <p:nvPr/>
        </p:nvSpPr>
        <p:spPr>
          <a:xfrm xmlns:a="http://schemas.openxmlformats.org/drawingml/2006/main">
            <a:off x="838200" y="23812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A5CF30E1-01C4-467E-BBD1-23B395D7942B}"/>
              </a:ext>
            </a:extLst>
          </p:cNvPr>
          <p:cNvSpPr>
            <a:spLocks xmlns:a="http://schemas.openxmlformats.org/drawingml/2006/main" noGrp="1"/>
          </p:cNvSpPr>
          <p:nvPr/>
        </p:nvSpPr>
        <p:spPr>
          <a:xfrm xmlns:a="http://schemas.openxmlformats.org/drawingml/2006/main">
            <a:off x="1314450" y="22669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WHY / 理由</a:t>
            </a:r>
          </a:p>
        </p:txBody>
      </p:sp>
      <p:sp>
        <p:nvSpPr>
          <p:cNvPr id="15" name="">
            <a:extLst xmlns:a="http://schemas.openxmlformats.org/drawingml/2006/main">
              <a:ext uri="{FF2B5EF4-FFF2-40B4-BE49-F238E27FC236}">
                <a16:creationId xmlns:a16="http://schemas.microsoft.com/office/drawing/2014/main" id="{4F03FE1A-05FF-4264-9260-5BBD1409CC8A}"/>
              </a:ext>
            </a:extLst>
          </p:cNvPr>
          <p:cNvSpPr>
            <a:spLocks xmlns:a="http://schemas.openxmlformats.org/drawingml/2006/main" noGrp="1"/>
          </p:cNvSpPr>
          <p:nvPr/>
        </p:nvSpPr>
        <p:spPr>
          <a:xfrm xmlns:a="http://schemas.openxmlformats.org/drawingml/2006/main">
            <a:off x="1314450" y="25336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Xが見ているのは、投稿が誰に役立ち、どんな反応を生んだかです。</a:t>
            </a:r>
          </a:p>
        </p:txBody>
      </p:sp>
      <p:sp>
        <p:nvSpPr>
          <p:cNvPr id="16" name="">
            <a:extLst xmlns:a="http://schemas.openxmlformats.org/drawingml/2006/main">
              <a:ext uri="{FF2B5EF4-FFF2-40B4-BE49-F238E27FC236}">
                <a16:creationId xmlns:a16="http://schemas.microsoft.com/office/drawing/2014/main" id="{DA03A341-0BBD-4128-96E1-2F2CC8C1BFFB}"/>
              </a:ext>
            </a:extLst>
          </p:cNvPr>
          <p:cNvSpPr>
            <a:spLocks xmlns:a="http://schemas.openxmlformats.org/drawingml/2006/main" noGrp="1"/>
          </p:cNvSpPr>
          <p:nvPr/>
        </p:nvSpPr>
        <p:spPr>
          <a:xfrm xmlns:a="http://schemas.openxmlformats.org/drawingml/2006/main">
            <a:off x="571500" y="3429000"/>
            <a:ext cx="4953000" cy="1123950"/>
          </a:xfrm>
          <a:prstGeom xmlns:a="http://schemas.openxmlformats.org/drawingml/2006/main" prst="roundRect">
            <a:avLst>
              <a:gd name="adj" fmla="val 8475"/>
            </a:avLst>
          </a:prstGeom>
          <a:solidFill xmlns:a="http://schemas.openxmlformats.org/drawingml/2006/main">
            <a:srgbClr val="151D23"/>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131E2684-9559-4E74-9A62-266FA2DAFA4B}"/>
              </a:ext>
            </a:extLst>
          </p:cNvPr>
          <p:cNvSpPr>
            <a:spLocks xmlns:a="http://schemas.openxmlformats.org/drawingml/2006/main" noGrp="1"/>
          </p:cNvSpPr>
          <p:nvPr/>
        </p:nvSpPr>
        <p:spPr>
          <a:xfrm xmlns:a="http://schemas.openxmlformats.org/drawingml/2006/main">
            <a:off x="742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0CDF8AE6-B521-4CF6-8ECD-82DD62A5B6A7}"/>
              </a:ext>
            </a:extLst>
          </p:cNvPr>
          <p:cNvSpPr>
            <a:spLocks xmlns:a="http://schemas.openxmlformats.org/drawingml/2006/main" noGrp="1"/>
          </p:cNvSpPr>
          <p:nvPr/>
        </p:nvSpPr>
        <p:spPr>
          <a:xfrm xmlns:a="http://schemas.openxmlformats.org/drawingml/2006/main">
            <a:off x="838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889C2471-F509-45FD-80A1-4C37A15C22AC}"/>
              </a:ext>
            </a:extLst>
          </p:cNvPr>
          <p:cNvSpPr>
            <a:spLocks xmlns:a="http://schemas.openxmlformats.org/drawingml/2006/main" noGrp="1"/>
          </p:cNvSpPr>
          <p:nvPr/>
        </p:nvSpPr>
        <p:spPr>
          <a:xfrm xmlns:a="http://schemas.openxmlformats.org/drawingml/2006/main">
            <a:off x="1314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EXAMPLE / 具体例</a:t>
            </a:r>
          </a:p>
        </p:txBody>
      </p:sp>
      <p:sp>
        <p:nvSpPr>
          <p:cNvPr id="20" name="">
            <a:extLst xmlns:a="http://schemas.openxmlformats.org/drawingml/2006/main">
              <a:ext uri="{FF2B5EF4-FFF2-40B4-BE49-F238E27FC236}">
                <a16:creationId xmlns:a16="http://schemas.microsoft.com/office/drawing/2014/main" id="{277415CA-655A-493D-82B5-4CBC1339F5A2}"/>
              </a:ext>
            </a:extLst>
          </p:cNvPr>
          <p:cNvSpPr>
            <a:spLocks xmlns:a="http://schemas.openxmlformats.org/drawingml/2006/main" noGrp="1"/>
          </p:cNvSpPr>
          <p:nvPr/>
        </p:nvSpPr>
        <p:spPr>
          <a:xfrm xmlns:a="http://schemas.openxmlformats.org/drawingml/2006/main">
            <a:off x="1314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時間・書き方・会話・第三者の声を組み合わせます。</a:t>
            </a:r>
          </a:p>
        </p:txBody>
      </p:sp>
      <p:sp>
        <p:nvSpPr>
          <p:cNvPr id="21" name="">
            <a:extLst xmlns:a="http://schemas.openxmlformats.org/drawingml/2006/main">
              <a:ext uri="{FF2B5EF4-FFF2-40B4-BE49-F238E27FC236}">
                <a16:creationId xmlns:a16="http://schemas.microsoft.com/office/drawing/2014/main" id="{A43F8E47-079E-4A8A-9C83-985DBF81BCD0}"/>
              </a:ext>
            </a:extLst>
          </p:cNvPr>
          <p:cNvSpPr>
            <a:spLocks xmlns:a="http://schemas.openxmlformats.org/drawingml/2006/main" noGrp="1"/>
          </p:cNvSpPr>
          <p:nvPr/>
        </p:nvSpPr>
        <p:spPr>
          <a:xfrm xmlns:a="http://schemas.openxmlformats.org/drawingml/2006/main">
            <a:off x="571500" y="4743450"/>
            <a:ext cx="4953000" cy="1123950"/>
          </a:xfrm>
          <a:prstGeom xmlns:a="http://schemas.openxmlformats.org/drawingml/2006/main" prst="roundRect">
            <a:avLst>
              <a:gd name="adj" fmla="val 8475"/>
            </a:avLst>
          </a:prstGeom>
          <a:solidFill xmlns:a="http://schemas.openxmlformats.org/drawingml/2006/main">
            <a:srgbClr val="10282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10E0909E-A09F-41FF-BDBB-986DDE6BB84D}"/>
              </a:ext>
            </a:extLst>
          </p:cNvPr>
          <p:cNvSpPr>
            <a:spLocks xmlns:a="http://schemas.openxmlformats.org/drawingml/2006/main" noGrp="1"/>
          </p:cNvSpPr>
          <p:nvPr/>
        </p:nvSpPr>
        <p:spPr>
          <a:xfrm xmlns:a="http://schemas.openxmlformats.org/drawingml/2006/main">
            <a:off x="742950" y="493395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6A9CA8F9-EB53-4A86-B4D3-C9A5EBFDCD23}"/>
              </a:ext>
            </a:extLst>
          </p:cNvPr>
          <p:cNvSpPr>
            <a:spLocks xmlns:a="http://schemas.openxmlformats.org/drawingml/2006/main" noGrp="1"/>
          </p:cNvSpPr>
          <p:nvPr/>
        </p:nvSpPr>
        <p:spPr>
          <a:xfrm xmlns:a="http://schemas.openxmlformats.org/drawingml/2006/main">
            <a:off x="838200" y="501015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810FE78F-FAC6-4657-A963-438F00477993}"/>
              </a:ext>
            </a:extLst>
          </p:cNvPr>
          <p:cNvSpPr>
            <a:spLocks xmlns:a="http://schemas.openxmlformats.org/drawingml/2006/main" noGrp="1"/>
          </p:cNvSpPr>
          <p:nvPr/>
        </p:nvSpPr>
        <p:spPr>
          <a:xfrm xmlns:a="http://schemas.openxmlformats.org/drawingml/2006/main">
            <a:off x="1314450" y="489585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92A2AD"/>
                </a:solidFill>
              </a:defRPr>
            </a:pPr>
            <a:r>
              <a:rPr sz="900" b="1">
                <a:solidFill>
                  <a:srgbClr val="92A2AD"/>
                </a:solidFill>
              </a:rPr>
              <a:t>DO / 実践</a:t>
            </a:r>
          </a:p>
        </p:txBody>
      </p:sp>
      <p:sp>
        <p:nvSpPr>
          <p:cNvPr id="25" name="">
            <a:extLst xmlns:a="http://schemas.openxmlformats.org/drawingml/2006/main">
              <a:ext uri="{FF2B5EF4-FFF2-40B4-BE49-F238E27FC236}">
                <a16:creationId xmlns:a16="http://schemas.microsoft.com/office/drawing/2014/main" id="{1349DA7D-D150-49E2-9C39-F272C84E8EB5}"/>
              </a:ext>
            </a:extLst>
          </p:cNvPr>
          <p:cNvSpPr>
            <a:spLocks xmlns:a="http://schemas.openxmlformats.org/drawingml/2006/main" noGrp="1"/>
          </p:cNvSpPr>
          <p:nvPr/>
        </p:nvSpPr>
        <p:spPr>
          <a:xfrm xmlns:a="http://schemas.openxmlformats.org/drawingml/2006/main">
            <a:off x="1314450" y="516255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FFFFFF"/>
                </a:solidFill>
              </a:defRPr>
            </a:pPr>
            <a:r>
              <a:rPr sz="1200" b="1">
                <a:solidFill>
                  <a:srgbClr val="FFFFFF"/>
                </a:solidFill>
              </a:rPr>
              <a:t>10の運用ポイントを、自店のルールに落とし込みましょう。</a:t>
            </a:r>
          </a:p>
        </p:txBody>
      </p:sp>
      <p:sp>
        <p:nvSpPr>
          <p:cNvPr id="26" name="">
            <a:extLst xmlns:a="http://schemas.openxmlformats.org/drawingml/2006/main">
              <a:ext uri="{FF2B5EF4-FFF2-40B4-BE49-F238E27FC236}">
                <a16:creationId xmlns:a16="http://schemas.microsoft.com/office/drawing/2014/main" id="{B702F606-3A37-4A80-B047-5328A67B9D49}"/>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C76BE4EA-E00E-41E7-A7E7-5CC80803D89C}"/>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12 / 22</a:t>
            </a:r>
          </a:p>
        </p:txBody>
      </p:sp>
      <p:sp>
        <p:nvSpPr>
          <p:cNvPr id="28" name="">
            <a:extLst xmlns:a="http://schemas.openxmlformats.org/drawingml/2006/main">
              <a:ext uri="{FF2B5EF4-FFF2-40B4-BE49-F238E27FC236}">
                <a16:creationId xmlns:a16="http://schemas.microsoft.com/office/drawing/2014/main" id="{C3E84F3D-3B83-4E77-8E93-BAC8E6031597}"/>
              </a:ext>
            </a:extLst>
          </p:cNvPr>
          <p:cNvSpPr>
            <a:spLocks xmlns:a="http://schemas.openxmlformats.org/drawingml/2006/main" noGrp="1"/>
          </p:cNvSpPr>
          <p:nvPr/>
        </p:nvSpPr>
        <p:spPr>
          <a:xfrm xmlns:a="http://schemas.openxmlformats.org/drawingml/2006/main">
            <a:off x="571500" y="6705600"/>
            <a:ext cx="6026727"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779064663"/>
      </p:ext>
    </p:extLst>
  </p:cSld>
</p:sld>
</file>

<file path=ppt/slides/slide13.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2F35783D-D4EB-4A9A-902E-7DDD6F05BA68}"/>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3-1 / TIMING</a:t>
            </a:r>
          </a:p>
        </p:txBody>
      </p:sp>
      <p:sp>
        <p:nvSpPr>
          <p:cNvPr id="2" name="">
            <a:extLst xmlns:a="http://schemas.openxmlformats.org/drawingml/2006/main">
              <a:ext uri="{FF2B5EF4-FFF2-40B4-BE49-F238E27FC236}">
                <a16:creationId xmlns:a16="http://schemas.microsoft.com/office/drawing/2014/main" id="{6B0E8847-9BA6-4981-914F-30FC48A0DB56}"/>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投稿時間は、相手の生活で決める</a:t>
            </a:r>
          </a:p>
        </p:txBody>
      </p:sp>
      <p:sp>
        <p:nvSpPr>
          <p:cNvPr id="3" name="">
            <a:extLst xmlns:a="http://schemas.openxmlformats.org/drawingml/2006/main">
              <a:ext uri="{FF2B5EF4-FFF2-40B4-BE49-F238E27FC236}">
                <a16:creationId xmlns:a16="http://schemas.microsoft.com/office/drawing/2014/main" id="{09AC14D8-32BD-44A5-A490-C3EBEA962DF4}"/>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ここぞの投稿は、ターゲットがXを見る時間に合わせる。</a:t>
            </a:r>
          </a:p>
        </p:txBody>
      </p:sp>
      <p:sp>
        <p:nvSpPr>
          <p:cNvPr id="4" name="">
            <a:extLst xmlns:a="http://schemas.openxmlformats.org/drawingml/2006/main">
              <a:ext uri="{FF2B5EF4-FFF2-40B4-BE49-F238E27FC236}">
                <a16:creationId xmlns:a16="http://schemas.microsoft.com/office/drawing/2014/main" id="{F2896BC6-291B-4B28-A251-78AA55AAAAE7}"/>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5F4698F5-28C1-4544-88E9-AEBADB673AEE}"/>
              </a:ext>
            </a:extLst>
          </p:cNvPr>
          <p:cNvSpPr>
            <a:spLocks xmlns:a="http://schemas.openxmlformats.org/drawingml/2006/main" noGrp="1"/>
          </p:cNvSpPr>
          <p:nvPr/>
        </p:nvSpPr>
        <p:spPr>
          <a:xfrm xmlns:a="http://schemas.openxmlformats.org/drawingml/2006/main">
            <a:off x="1238250" y="4048125"/>
            <a:ext cx="4286250" cy="0"/>
          </a:xfrm>
          <a:prstGeom xmlns:a="http://schemas.openxmlformats.org/drawingml/2006/main" prst="line">
            <a:avLst/>
          </a:prstGeom>
          <a:noFill xmlns:a="http://schemas.openxmlformats.org/drawingml/2006/main"/>
          <a:ln xmlns:a="http://schemas.openxmlformats.org/drawingml/2006/main" w="38100">
            <a:solidFill>
              <a:srgbClr val="E4E9ED"/>
            </a:solidFill>
            <a:prstDash val="solid"/>
          </a:ln>
        </p:spPr>
      </p:sp>
      <p:sp>
        <p:nvSpPr>
          <p:cNvPr id="6" name="">
            <a:extLst xmlns:a="http://schemas.openxmlformats.org/drawingml/2006/main">
              <a:ext uri="{FF2B5EF4-FFF2-40B4-BE49-F238E27FC236}">
                <a16:creationId xmlns:a16="http://schemas.microsoft.com/office/drawing/2014/main" id="{8AA94B15-EB37-4F7A-A508-DDB4D135A745}"/>
              </a:ext>
            </a:extLst>
          </p:cNvPr>
          <p:cNvSpPr>
            <a:spLocks xmlns:a="http://schemas.openxmlformats.org/drawingml/2006/main" noGrp="1"/>
          </p:cNvSpPr>
          <p:nvPr/>
        </p:nvSpPr>
        <p:spPr>
          <a:xfrm xmlns:a="http://schemas.openxmlformats.org/drawingml/2006/main">
            <a:off x="1095375" y="3876675"/>
            <a:ext cx="342900" cy="342900"/>
          </a:xfrm>
          <a:prstGeom xmlns:a="http://schemas.openxmlformats.org/drawingml/2006/main" prst="ellipse">
            <a:avLst/>
          </a:prstGeom>
          <a:solidFill xmlns:a="http://schemas.openxmlformats.org/drawingml/2006/main">
            <a:srgbClr val="FFFFFF"/>
          </a:solidFill>
          <a:ln xmlns:a="http://schemas.openxmlformats.org/drawingml/2006/main" w="11430">
            <a:solidFill>
              <a:srgbClr val="1D9BF0"/>
            </a:solidFill>
            <a:prstDash val="solid"/>
          </a:ln>
        </p:spPr>
      </p:sp>
      <p:sp>
        <p:nvSpPr>
          <p:cNvPr id="7" name="">
            <a:extLst xmlns:a="http://schemas.openxmlformats.org/drawingml/2006/main">
              <a:ext uri="{FF2B5EF4-FFF2-40B4-BE49-F238E27FC236}">
                <a16:creationId xmlns:a16="http://schemas.microsoft.com/office/drawing/2014/main" id="{E8CA21C6-E28F-4551-A0AD-B85AA57986AD}"/>
              </a:ext>
            </a:extLst>
          </p:cNvPr>
          <p:cNvSpPr>
            <a:spLocks xmlns:a="http://schemas.openxmlformats.org/drawingml/2006/main" noGrp="1"/>
          </p:cNvSpPr>
          <p:nvPr/>
        </p:nvSpPr>
        <p:spPr>
          <a:xfrm xmlns:a="http://schemas.openxmlformats.org/drawingml/2006/main">
            <a:off x="809625" y="3333750"/>
            <a:ext cx="91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F1419"/>
                </a:solidFill>
              </a:defRPr>
            </a:pPr>
            <a:r>
              <a:rPr sz="1500" b="1">
                <a:solidFill>
                  <a:srgbClr val="0F1419"/>
                </a:solidFill>
              </a:rPr>
              <a:t>07:30</a:t>
            </a:r>
          </a:p>
        </p:txBody>
      </p:sp>
      <p:sp>
        <p:nvSpPr>
          <p:cNvPr id="8" name="">
            <a:extLst xmlns:a="http://schemas.openxmlformats.org/drawingml/2006/main">
              <a:ext uri="{FF2B5EF4-FFF2-40B4-BE49-F238E27FC236}">
                <a16:creationId xmlns:a16="http://schemas.microsoft.com/office/drawing/2014/main" id="{40C7A152-0B30-46E7-BEA7-411B16D348C4}"/>
              </a:ext>
            </a:extLst>
          </p:cNvPr>
          <p:cNvSpPr>
            <a:spLocks xmlns:a="http://schemas.openxmlformats.org/drawingml/2006/main" noGrp="1"/>
          </p:cNvSpPr>
          <p:nvPr/>
        </p:nvSpPr>
        <p:spPr>
          <a:xfrm xmlns:a="http://schemas.openxmlformats.org/drawingml/2006/main">
            <a:off x="695325" y="43815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536471"/>
                </a:solidFill>
              </a:defRPr>
            </a:pPr>
            <a:r>
              <a:rPr sz="1200" b="1">
                <a:solidFill>
                  <a:srgbClr val="536471"/>
                </a:solidFill>
              </a:rPr>
              <a:t>通勤・通学</a:t>
            </a:r>
          </a:p>
        </p:txBody>
      </p:sp>
      <p:sp>
        <p:nvSpPr>
          <p:cNvPr id="9" name="">
            <a:extLst xmlns:a="http://schemas.openxmlformats.org/drawingml/2006/main">
              <a:ext uri="{FF2B5EF4-FFF2-40B4-BE49-F238E27FC236}">
                <a16:creationId xmlns:a16="http://schemas.microsoft.com/office/drawing/2014/main" id="{65DF163D-181A-466E-86B4-EF6471C011B6}"/>
              </a:ext>
            </a:extLst>
          </p:cNvPr>
          <p:cNvSpPr>
            <a:spLocks xmlns:a="http://schemas.openxmlformats.org/drawingml/2006/main" noGrp="1"/>
          </p:cNvSpPr>
          <p:nvPr/>
        </p:nvSpPr>
        <p:spPr>
          <a:xfrm xmlns:a="http://schemas.openxmlformats.org/drawingml/2006/main">
            <a:off x="3095625" y="3876675"/>
            <a:ext cx="342900" cy="342900"/>
          </a:xfrm>
          <a:prstGeom xmlns:a="http://schemas.openxmlformats.org/drawingml/2006/main" prst="ellipse">
            <a:avLst/>
          </a:prstGeom>
          <a:solidFill xmlns:a="http://schemas.openxmlformats.org/drawingml/2006/main">
            <a:srgbClr val="1D9BF0"/>
          </a:solidFill>
          <a:ln xmlns:a="http://schemas.openxmlformats.org/drawingml/2006/main" w="11430">
            <a:solidFill>
              <a:srgbClr val="1D9BF0"/>
            </a:solidFill>
            <a:prstDash val="solid"/>
          </a:ln>
        </p:spPr>
      </p:sp>
      <p:sp>
        <p:nvSpPr>
          <p:cNvPr id="10" name="">
            <a:extLst xmlns:a="http://schemas.openxmlformats.org/drawingml/2006/main">
              <a:ext uri="{FF2B5EF4-FFF2-40B4-BE49-F238E27FC236}">
                <a16:creationId xmlns:a16="http://schemas.microsoft.com/office/drawing/2014/main" id="{61B3F83D-0EF4-4AE5-8F07-08B5D2C2A614}"/>
              </a:ext>
            </a:extLst>
          </p:cNvPr>
          <p:cNvSpPr>
            <a:spLocks xmlns:a="http://schemas.openxmlformats.org/drawingml/2006/main" noGrp="1"/>
          </p:cNvSpPr>
          <p:nvPr/>
        </p:nvSpPr>
        <p:spPr>
          <a:xfrm xmlns:a="http://schemas.openxmlformats.org/drawingml/2006/main">
            <a:off x="2809875" y="3333750"/>
            <a:ext cx="91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D9BF0"/>
                </a:solidFill>
              </a:defRPr>
            </a:pPr>
            <a:r>
              <a:rPr sz="1500" b="1">
                <a:solidFill>
                  <a:srgbClr val="1D9BF0"/>
                </a:solidFill>
              </a:rPr>
              <a:t>17:30</a:t>
            </a:r>
          </a:p>
        </p:txBody>
      </p:sp>
      <p:sp>
        <p:nvSpPr>
          <p:cNvPr id="11" name="">
            <a:extLst xmlns:a="http://schemas.openxmlformats.org/drawingml/2006/main">
              <a:ext uri="{FF2B5EF4-FFF2-40B4-BE49-F238E27FC236}">
                <a16:creationId xmlns:a16="http://schemas.microsoft.com/office/drawing/2014/main" id="{E530FBA5-1FE1-433D-8BAA-7F6269A0B3BF}"/>
              </a:ext>
            </a:extLst>
          </p:cNvPr>
          <p:cNvSpPr>
            <a:spLocks xmlns:a="http://schemas.openxmlformats.org/drawingml/2006/main" noGrp="1"/>
          </p:cNvSpPr>
          <p:nvPr/>
        </p:nvSpPr>
        <p:spPr>
          <a:xfrm xmlns:a="http://schemas.openxmlformats.org/drawingml/2006/main">
            <a:off x="2695575" y="43815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536471"/>
                </a:solidFill>
              </a:defRPr>
            </a:pPr>
            <a:r>
              <a:rPr sz="1200" b="1">
                <a:solidFill>
                  <a:srgbClr val="536471"/>
                </a:solidFill>
              </a:rPr>
              <a:t>放課後・退勤</a:t>
            </a:r>
          </a:p>
        </p:txBody>
      </p:sp>
      <p:sp>
        <p:nvSpPr>
          <p:cNvPr id="12" name="">
            <a:extLst xmlns:a="http://schemas.openxmlformats.org/drawingml/2006/main">
              <a:ext uri="{FF2B5EF4-FFF2-40B4-BE49-F238E27FC236}">
                <a16:creationId xmlns:a16="http://schemas.microsoft.com/office/drawing/2014/main" id="{4C748E41-9432-4B98-BF40-3A6E37C1EFF7}"/>
              </a:ext>
            </a:extLst>
          </p:cNvPr>
          <p:cNvSpPr>
            <a:spLocks xmlns:a="http://schemas.openxmlformats.org/drawingml/2006/main" noGrp="1"/>
          </p:cNvSpPr>
          <p:nvPr/>
        </p:nvSpPr>
        <p:spPr>
          <a:xfrm xmlns:a="http://schemas.openxmlformats.org/drawingml/2006/main">
            <a:off x="5095875" y="3876675"/>
            <a:ext cx="342900" cy="342900"/>
          </a:xfrm>
          <a:prstGeom xmlns:a="http://schemas.openxmlformats.org/drawingml/2006/main" prst="ellipse">
            <a:avLst/>
          </a:prstGeom>
          <a:solidFill xmlns:a="http://schemas.openxmlformats.org/drawingml/2006/main">
            <a:srgbClr val="FFFFFF"/>
          </a:solidFill>
          <a:ln xmlns:a="http://schemas.openxmlformats.org/drawingml/2006/main" w="11430">
            <a:solidFill>
              <a:srgbClr val="1D9BF0"/>
            </a:solidFill>
            <a:prstDash val="solid"/>
          </a:ln>
        </p:spPr>
      </p:sp>
      <p:sp>
        <p:nvSpPr>
          <p:cNvPr id="13" name="">
            <a:extLst xmlns:a="http://schemas.openxmlformats.org/drawingml/2006/main">
              <a:ext uri="{FF2B5EF4-FFF2-40B4-BE49-F238E27FC236}">
                <a16:creationId xmlns:a16="http://schemas.microsoft.com/office/drawing/2014/main" id="{5D289E30-EC48-4D87-8B82-AFA3B66812F3}"/>
              </a:ext>
            </a:extLst>
          </p:cNvPr>
          <p:cNvSpPr>
            <a:spLocks xmlns:a="http://schemas.openxmlformats.org/drawingml/2006/main" noGrp="1"/>
          </p:cNvSpPr>
          <p:nvPr/>
        </p:nvSpPr>
        <p:spPr>
          <a:xfrm xmlns:a="http://schemas.openxmlformats.org/drawingml/2006/main">
            <a:off x="4810125" y="3333750"/>
            <a:ext cx="914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F1419"/>
                </a:solidFill>
              </a:defRPr>
            </a:pPr>
            <a:r>
              <a:rPr sz="1500" b="1">
                <a:solidFill>
                  <a:srgbClr val="0F1419"/>
                </a:solidFill>
              </a:rPr>
              <a:t>20:30</a:t>
            </a:r>
          </a:p>
        </p:txBody>
      </p:sp>
      <p:sp>
        <p:nvSpPr>
          <p:cNvPr id="14" name="">
            <a:extLst xmlns:a="http://schemas.openxmlformats.org/drawingml/2006/main">
              <a:ext uri="{FF2B5EF4-FFF2-40B4-BE49-F238E27FC236}">
                <a16:creationId xmlns:a16="http://schemas.microsoft.com/office/drawing/2014/main" id="{090D2BE1-565E-4E42-906D-64B3BEA7DD4B}"/>
              </a:ext>
            </a:extLst>
          </p:cNvPr>
          <p:cNvSpPr>
            <a:spLocks xmlns:a="http://schemas.openxmlformats.org/drawingml/2006/main" noGrp="1"/>
          </p:cNvSpPr>
          <p:nvPr/>
        </p:nvSpPr>
        <p:spPr>
          <a:xfrm xmlns:a="http://schemas.openxmlformats.org/drawingml/2006/main">
            <a:off x="4695825" y="43815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536471"/>
                </a:solidFill>
              </a:defRPr>
            </a:pPr>
            <a:r>
              <a:rPr sz="1200" b="1">
                <a:solidFill>
                  <a:srgbClr val="536471"/>
                </a:solidFill>
              </a:rPr>
              <a:t>自宅時間</a:t>
            </a:r>
          </a:p>
        </p:txBody>
      </p:sp>
      <p:sp>
        <p:nvSpPr>
          <p:cNvPr id="15" name="">
            <a:extLst xmlns:a="http://schemas.openxmlformats.org/drawingml/2006/main">
              <a:ext uri="{FF2B5EF4-FFF2-40B4-BE49-F238E27FC236}">
                <a16:creationId xmlns:a16="http://schemas.microsoft.com/office/drawing/2014/main" id="{C78CCA31-B75D-4E71-B3E7-258B58A50A3B}"/>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6" name="">
            <a:extLst xmlns:a="http://schemas.openxmlformats.org/drawingml/2006/main">
              <a:ext uri="{FF2B5EF4-FFF2-40B4-BE49-F238E27FC236}">
                <a16:creationId xmlns:a16="http://schemas.microsoft.com/office/drawing/2014/main" id="{DC6F4204-C190-486C-B074-F643F2538220}"/>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257C0B63-B96B-4A2B-A49D-40FB42427560}"/>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8" name="">
            <a:extLst xmlns:a="http://schemas.openxmlformats.org/drawingml/2006/main">
              <a:ext uri="{FF2B5EF4-FFF2-40B4-BE49-F238E27FC236}">
                <a16:creationId xmlns:a16="http://schemas.microsoft.com/office/drawing/2014/main" id="{3B4AE8A0-B037-4325-B373-1BCE83C68839}"/>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9" name="">
            <a:extLst xmlns:a="http://schemas.openxmlformats.org/drawingml/2006/main">
              <a:ext uri="{FF2B5EF4-FFF2-40B4-BE49-F238E27FC236}">
                <a16:creationId xmlns:a16="http://schemas.microsoft.com/office/drawing/2014/main" id="{FE0DD0BB-488B-46B5-BDB0-FC1F75D319D8}"/>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投稿直後に反応が集まると、その後の会話や表示が広がりやすくなります。</a:t>
            </a:r>
          </a:p>
        </p:txBody>
      </p:sp>
      <p:sp>
        <p:nvSpPr>
          <p:cNvPr id="20" name="">
            <a:extLst xmlns:a="http://schemas.openxmlformats.org/drawingml/2006/main">
              <a:ext uri="{FF2B5EF4-FFF2-40B4-BE49-F238E27FC236}">
                <a16:creationId xmlns:a16="http://schemas.microsoft.com/office/drawing/2014/main" id="{651C6B0D-FADD-4819-B6DE-613E96F72D4D}"/>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21" name="">
            <a:extLst xmlns:a="http://schemas.openxmlformats.org/drawingml/2006/main">
              <a:ext uri="{FF2B5EF4-FFF2-40B4-BE49-F238E27FC236}">
                <a16:creationId xmlns:a16="http://schemas.microsoft.com/office/drawing/2014/main" id="{8BABF2FE-6071-45C8-9CA8-1C307AC3EA3E}"/>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991D7582-4C70-430F-8C26-C995590F8360}"/>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23" name="">
            <a:extLst xmlns:a="http://schemas.openxmlformats.org/drawingml/2006/main">
              <a:ext uri="{FF2B5EF4-FFF2-40B4-BE49-F238E27FC236}">
                <a16:creationId xmlns:a16="http://schemas.microsoft.com/office/drawing/2014/main" id="{E6A93264-D3EB-4149-9853-431D5B479432}"/>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4" name="">
            <a:extLst xmlns:a="http://schemas.openxmlformats.org/drawingml/2006/main">
              <a:ext uri="{FF2B5EF4-FFF2-40B4-BE49-F238E27FC236}">
                <a16:creationId xmlns:a16="http://schemas.microsoft.com/office/drawing/2014/main" id="{B6B687C7-B23C-43E1-9CD7-6422F98FF3B8}"/>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通勤層は朝・夕、学生は放課後、休日イベントは前日夜と当日朝。</a:t>
            </a:r>
          </a:p>
        </p:txBody>
      </p:sp>
      <p:sp>
        <p:nvSpPr>
          <p:cNvPr id="25" name="">
            <a:extLst xmlns:a="http://schemas.openxmlformats.org/drawingml/2006/main">
              <a:ext uri="{FF2B5EF4-FFF2-40B4-BE49-F238E27FC236}">
                <a16:creationId xmlns:a16="http://schemas.microsoft.com/office/drawing/2014/main" id="{0F6BF062-FF2A-4B87-A983-900D0482D253}"/>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6" name="">
            <a:extLst xmlns:a="http://schemas.openxmlformats.org/drawingml/2006/main">
              <a:ext uri="{FF2B5EF4-FFF2-40B4-BE49-F238E27FC236}">
                <a16:creationId xmlns:a16="http://schemas.microsoft.com/office/drawing/2014/main" id="{EC18D42E-9D6C-4117-A903-D80FC95C2285}"/>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6CC78DF0-6DC2-4C9A-BDD2-5758B3D31720}"/>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8" name="">
            <a:extLst xmlns:a="http://schemas.openxmlformats.org/drawingml/2006/main">
              <a:ext uri="{FF2B5EF4-FFF2-40B4-BE49-F238E27FC236}">
                <a16:creationId xmlns:a16="http://schemas.microsoft.com/office/drawing/2014/main" id="{52F7C525-347D-465B-8905-3FB9B03C5CC6}"/>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9" name="">
            <a:extLst xmlns:a="http://schemas.openxmlformats.org/drawingml/2006/main">
              <a:ext uri="{FF2B5EF4-FFF2-40B4-BE49-F238E27FC236}">
                <a16:creationId xmlns:a16="http://schemas.microsoft.com/office/drawing/2014/main" id="{2A00AA41-95D0-41B8-A544-C8D92BC776FB}"/>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3つの時間帯を2週間試し、反応の良い枠を見つけましょう。</a:t>
            </a:r>
          </a:p>
        </p:txBody>
      </p:sp>
      <p:sp>
        <p:nvSpPr>
          <p:cNvPr id="30" name="">
            <a:extLst xmlns:a="http://schemas.openxmlformats.org/drawingml/2006/main">
              <a:ext uri="{FF2B5EF4-FFF2-40B4-BE49-F238E27FC236}">
                <a16:creationId xmlns:a16="http://schemas.microsoft.com/office/drawing/2014/main" id="{0DD495CB-C4DF-426E-9BD9-A4BF63269755}"/>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31" name="">
            <a:extLst xmlns:a="http://schemas.openxmlformats.org/drawingml/2006/main">
              <a:ext uri="{FF2B5EF4-FFF2-40B4-BE49-F238E27FC236}">
                <a16:creationId xmlns:a16="http://schemas.microsoft.com/office/drawing/2014/main" id="{50D86F9F-ED2F-456E-8ED5-7CB2C5D97D0E}"/>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13 / 22</a:t>
            </a:r>
          </a:p>
        </p:txBody>
      </p:sp>
      <p:sp>
        <p:nvSpPr>
          <p:cNvPr id="32" name="">
            <a:extLst xmlns:a="http://schemas.openxmlformats.org/drawingml/2006/main">
              <a:ext uri="{FF2B5EF4-FFF2-40B4-BE49-F238E27FC236}">
                <a16:creationId xmlns:a16="http://schemas.microsoft.com/office/drawing/2014/main" id="{DE2421F4-AEE3-475F-B45B-271D70D50032}"/>
              </a:ext>
            </a:extLst>
          </p:cNvPr>
          <p:cNvSpPr>
            <a:spLocks xmlns:a="http://schemas.openxmlformats.org/drawingml/2006/main" noGrp="1"/>
          </p:cNvSpPr>
          <p:nvPr/>
        </p:nvSpPr>
        <p:spPr>
          <a:xfrm xmlns:a="http://schemas.openxmlformats.org/drawingml/2006/main">
            <a:off x="571500" y="6705600"/>
            <a:ext cx="6528955"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586204825"/>
      </p:ext>
    </p:extLst>
  </p:cSld>
</p:sld>
</file>

<file path=ppt/slides/slide14.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ADFB1B4-BD76-4986-AD53-AF903FC3C409}"/>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3-2 / SIGNAL</a:t>
            </a:r>
          </a:p>
        </p:txBody>
      </p:sp>
      <p:sp>
        <p:nvSpPr>
          <p:cNvPr id="2" name="">
            <a:extLst xmlns:a="http://schemas.openxmlformats.org/drawingml/2006/main">
              <a:ext uri="{FF2B5EF4-FFF2-40B4-BE49-F238E27FC236}">
                <a16:creationId xmlns:a16="http://schemas.microsoft.com/office/drawing/2014/main" id="{9B5938F8-E6BA-46E8-AA7F-671AB2988516}"/>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ハッシュタグは、足すより絞る</a:t>
            </a:r>
          </a:p>
        </p:txBody>
      </p:sp>
      <p:sp>
        <p:nvSpPr>
          <p:cNvPr id="3" name="">
            <a:extLst xmlns:a="http://schemas.openxmlformats.org/drawingml/2006/main">
              <a:ext uri="{FF2B5EF4-FFF2-40B4-BE49-F238E27FC236}">
                <a16:creationId xmlns:a16="http://schemas.microsoft.com/office/drawing/2014/main" id="{CAB740B4-13B1-40F5-B05B-18A44C003A0B}"/>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基本はなし。使うなら目的が明確な1個程度。</a:t>
            </a:r>
          </a:p>
        </p:txBody>
      </p:sp>
      <p:sp>
        <p:nvSpPr>
          <p:cNvPr id="4" name="">
            <a:extLst xmlns:a="http://schemas.openxmlformats.org/drawingml/2006/main">
              <a:ext uri="{FF2B5EF4-FFF2-40B4-BE49-F238E27FC236}">
                <a16:creationId xmlns:a16="http://schemas.microsoft.com/office/drawing/2014/main" id="{B619FEE7-B026-45E6-85A0-6EA0202F310E}"/>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6B59091D-FE19-46BB-90C8-1CE33E364C41}"/>
              </a:ext>
            </a:extLst>
          </p:cNvPr>
          <p:cNvSpPr>
            <a:spLocks xmlns:a="http://schemas.openxmlformats.org/drawingml/2006/main" noGrp="1"/>
          </p:cNvSpPr>
          <p:nvPr/>
        </p:nvSpPr>
        <p:spPr>
          <a:xfrm xmlns:a="http://schemas.openxmlformats.org/drawingml/2006/main">
            <a:off x="800100" y="2495550"/>
            <a:ext cx="2486025" cy="3105150"/>
          </a:xfrm>
          <a:prstGeom xmlns:a="http://schemas.openxmlformats.org/drawingml/2006/main" prst="roundRect">
            <a:avLst>
              <a:gd name="adj" fmla="val 4598"/>
            </a:avLst>
          </a:prstGeom>
          <a:solidFill xmlns:a="http://schemas.openxmlformats.org/drawingml/2006/main">
            <a:srgbClr val="FFF0EF"/>
          </a:solidFill>
          <a:ln xmlns:a="http://schemas.openxmlformats.org/drawingml/2006/main" w="11430">
            <a:solidFill>
              <a:srgbClr val="E4E9ED"/>
            </a:solidFill>
            <a:prstDash val="solid"/>
          </a:ln>
        </p:spPr>
      </p:sp>
      <p:sp>
        <p:nvSpPr>
          <p:cNvPr id="6" name="">
            <a:extLst xmlns:a="http://schemas.openxmlformats.org/drawingml/2006/main">
              <a:ext uri="{FF2B5EF4-FFF2-40B4-BE49-F238E27FC236}">
                <a16:creationId xmlns:a16="http://schemas.microsoft.com/office/drawing/2014/main" id="{B42E0253-7D7F-4E6C-AFED-C5B89CAA5BB6}"/>
              </a:ext>
            </a:extLst>
          </p:cNvPr>
          <p:cNvSpPr>
            <a:spLocks xmlns:a="http://schemas.openxmlformats.org/drawingml/2006/main" noGrp="1"/>
          </p:cNvSpPr>
          <p:nvPr/>
        </p:nvSpPr>
        <p:spPr>
          <a:xfrm xmlns:a="http://schemas.openxmlformats.org/drawingml/2006/main">
            <a:off x="3476625" y="2495550"/>
            <a:ext cx="2486025" cy="3105150"/>
          </a:xfrm>
          <a:prstGeom xmlns:a="http://schemas.openxmlformats.org/drawingml/2006/main" prst="roundRect">
            <a:avLst>
              <a:gd name="adj" fmla="val 4598"/>
            </a:avLst>
          </a:prstGeom>
          <a:solidFill xmlns:a="http://schemas.openxmlformats.org/drawingml/2006/main">
            <a:srgbClr val="E5F8F0"/>
          </a:solidFill>
          <a:ln xmlns:a="http://schemas.openxmlformats.org/drawingml/2006/main" w="11430">
            <a:solidFill>
              <a:srgbClr val="E4E9ED"/>
            </a:solidFill>
            <a:prstDash val="solid"/>
          </a:ln>
        </p:spPr>
      </p:sp>
      <p:sp>
        <p:nvSpPr>
          <p:cNvPr id="7" name="">
            <a:extLst xmlns:a="http://schemas.openxmlformats.org/drawingml/2006/main">
              <a:ext uri="{FF2B5EF4-FFF2-40B4-BE49-F238E27FC236}">
                <a16:creationId xmlns:a16="http://schemas.microsoft.com/office/drawing/2014/main" id="{11FEFDFC-2773-4F57-8523-8424BA694E0D}"/>
              </a:ext>
            </a:extLst>
          </p:cNvPr>
          <p:cNvSpPr>
            <a:spLocks xmlns:a="http://schemas.openxmlformats.org/drawingml/2006/main" noGrp="1"/>
          </p:cNvSpPr>
          <p:nvPr/>
        </p:nvSpPr>
        <p:spPr>
          <a:xfrm xmlns:a="http://schemas.openxmlformats.org/drawingml/2006/main">
            <a:off x="990600"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45D5D"/>
                </a:solidFill>
              </a:defRPr>
            </a:pPr>
            <a:r>
              <a:rPr sz="1050" b="1">
                <a:solidFill>
                  <a:srgbClr val="F45D5D"/>
                </a:solidFill>
              </a:rPr>
              <a:t>×  やりすぎ</a:t>
            </a:r>
          </a:p>
        </p:txBody>
      </p:sp>
      <p:sp>
        <p:nvSpPr>
          <p:cNvPr id="8" name="">
            <a:extLst xmlns:a="http://schemas.openxmlformats.org/drawingml/2006/main">
              <a:ext uri="{FF2B5EF4-FFF2-40B4-BE49-F238E27FC236}">
                <a16:creationId xmlns:a16="http://schemas.microsoft.com/office/drawing/2014/main" id="{06D904C8-6E2E-429A-B362-F0B3C8831195}"/>
              </a:ext>
            </a:extLst>
          </p:cNvPr>
          <p:cNvSpPr>
            <a:spLocks xmlns:a="http://schemas.openxmlformats.org/drawingml/2006/main" noGrp="1"/>
          </p:cNvSpPr>
          <p:nvPr/>
        </p:nvSpPr>
        <p:spPr>
          <a:xfrm xmlns:a="http://schemas.openxmlformats.org/drawingml/2006/main">
            <a:off x="3667125"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A86B"/>
                </a:solidFill>
              </a:defRPr>
            </a:pPr>
            <a:r>
              <a:rPr sz="1050" b="1">
                <a:solidFill>
                  <a:srgbClr val="00A86B"/>
                </a:solidFill>
              </a:rPr>
              <a:t>○  適量</a:t>
            </a:r>
          </a:p>
        </p:txBody>
      </p:sp>
      <p:sp>
        <p:nvSpPr>
          <p:cNvPr id="9" name="">
            <a:extLst xmlns:a="http://schemas.openxmlformats.org/drawingml/2006/main">
              <a:ext uri="{FF2B5EF4-FFF2-40B4-BE49-F238E27FC236}">
                <a16:creationId xmlns:a16="http://schemas.microsoft.com/office/drawing/2014/main" id="{5C16EAE2-9B82-4842-B56B-8E0F266FA6D9}"/>
              </a:ext>
            </a:extLst>
          </p:cNvPr>
          <p:cNvSpPr>
            <a:spLocks xmlns:a="http://schemas.openxmlformats.org/drawingml/2006/main" noGrp="1"/>
          </p:cNvSpPr>
          <p:nvPr/>
        </p:nvSpPr>
        <p:spPr>
          <a:xfrm xmlns:a="http://schemas.openxmlformats.org/drawingml/2006/main">
            <a:off x="1047750"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#本 #読書 #書店</a:t>
            </a:r>
          </a:p>
          <a:p xmlns:a="http://schemas.openxmlformats.org/drawingml/2006/main">
            <a:pPr algn="ctr">
              <a:defRPr sz="1425" b="1">
                <a:solidFill>
                  <a:srgbClr val="0F1419"/>
                </a:solidFill>
              </a:defRPr>
            </a:pPr>
            <a:r>
              <a:rPr sz="1425" b="1">
                <a:solidFill>
                  <a:srgbClr val="0F1419"/>
                </a:solidFill>
              </a:rPr>
              <a:t>#新刊 #おすすめ</a:t>
            </a:r>
          </a:p>
          <a:p xmlns:a="http://schemas.openxmlformats.org/drawingml/2006/main">
            <a:pPr algn="ctr">
              <a:defRPr sz="1425" b="1">
                <a:solidFill>
                  <a:srgbClr val="0F1419"/>
                </a:solidFill>
              </a:defRPr>
            </a:pPr>
            <a:r>
              <a:rPr sz="1425" b="1">
                <a:solidFill>
                  <a:srgbClr val="0F1419"/>
                </a:solidFill>
              </a:rPr>
              <a:t>@brand URL</a:t>
            </a:r>
          </a:p>
        </p:txBody>
      </p:sp>
      <p:sp>
        <p:nvSpPr>
          <p:cNvPr id="10" name="">
            <a:extLst xmlns:a="http://schemas.openxmlformats.org/drawingml/2006/main">
              <a:ext uri="{FF2B5EF4-FFF2-40B4-BE49-F238E27FC236}">
                <a16:creationId xmlns:a16="http://schemas.microsoft.com/office/drawing/2014/main" id="{D02EB448-510C-4B84-9348-4FD862A5EF79}"/>
              </a:ext>
            </a:extLst>
          </p:cNvPr>
          <p:cNvSpPr>
            <a:spLocks xmlns:a="http://schemas.openxmlformats.org/drawingml/2006/main" noGrp="1"/>
          </p:cNvSpPr>
          <p:nvPr/>
        </p:nvSpPr>
        <p:spPr>
          <a:xfrm xmlns:a="http://schemas.openxmlformats.org/drawingml/2006/main">
            <a:off x="3724275"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#夏の文庫フェア</a:t>
            </a:r>
          </a:p>
          <a:p xmlns:a="http://schemas.openxmlformats.org/drawingml/2006/main">
            <a:pPr algn="ctr">
              <a:defRPr sz="1425" b="1">
                <a:solidFill>
                  <a:srgbClr val="0F1419"/>
                </a:solidFill>
              </a:defRPr>
            </a:pPr>
            <a:r>
              <a:rPr sz="1425" b="1">
                <a:solidFill>
                  <a:srgbClr val="0F1419"/>
                </a:solidFill>
              </a:rPr>
              <a:t>目的のある1個</a:t>
            </a:r>
          </a:p>
        </p:txBody>
      </p:sp>
      <p:sp>
        <p:nvSpPr>
          <p:cNvPr id="11" name="">
            <a:extLst xmlns:a="http://schemas.openxmlformats.org/drawingml/2006/main">
              <a:ext uri="{FF2B5EF4-FFF2-40B4-BE49-F238E27FC236}">
                <a16:creationId xmlns:a16="http://schemas.microsoft.com/office/drawing/2014/main" id="{B336E710-5C53-4EC5-8F40-AC87C6AE4719}"/>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34CB867B-A343-4FF9-8A4B-56CC549977DA}"/>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3D469DD-86C6-4D7B-B19C-CDA07A86358D}"/>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50658516-6F14-4E45-9D37-962837CBAF4C}"/>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09DCAA9F-8D89-4E77-B2BB-E91ABF637CC6}"/>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タグ・メンション・外部リンクが多い投稿は、本文の焦点がぼやけます。</a:t>
            </a:r>
          </a:p>
        </p:txBody>
      </p:sp>
      <p:sp>
        <p:nvSpPr>
          <p:cNvPr id="16" name="">
            <a:extLst xmlns:a="http://schemas.openxmlformats.org/drawingml/2006/main">
              <a:ext uri="{FF2B5EF4-FFF2-40B4-BE49-F238E27FC236}">
                <a16:creationId xmlns:a16="http://schemas.microsoft.com/office/drawing/2014/main" id="{9E6124C5-F6AF-4E84-8B3C-77DA4CF72325}"/>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FC6222A1-C72C-4563-8D3E-F09BC9589BA2}"/>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1070BEED-4E3C-4ABD-B859-544FAFE8F376}"/>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4C57C474-6ABB-421D-80EC-B8BBFF9E6927}"/>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67342B2E-9818-4EC8-BB47-B06E00ECF7D0}"/>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#本 #読書 #書店 #新刊…ではなく、企画固有のタグを1つ。</a:t>
            </a:r>
          </a:p>
        </p:txBody>
      </p:sp>
      <p:sp>
        <p:nvSpPr>
          <p:cNvPr id="21" name="">
            <a:extLst xmlns:a="http://schemas.openxmlformats.org/drawingml/2006/main">
              <a:ext uri="{FF2B5EF4-FFF2-40B4-BE49-F238E27FC236}">
                <a16:creationId xmlns:a16="http://schemas.microsoft.com/office/drawing/2014/main" id="{9161E9B7-D8C2-4DED-8AC8-6A3A41A0C9A3}"/>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51B49A91-1049-447B-8C2A-7DCCA9F4EF33}"/>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04615667-98B0-403F-B74E-F5452776D25C}"/>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27314F6A-FCCB-4F3B-8760-91E3E9D0A495}"/>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EA3EA84E-CBFF-412E-9C9F-1C61036A0F9F}"/>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そのタグから実際に投稿を探す人がいるか、付ける前に確認しましょう。</a:t>
            </a:r>
          </a:p>
        </p:txBody>
      </p:sp>
      <p:sp>
        <p:nvSpPr>
          <p:cNvPr id="26" name="">
            <a:extLst xmlns:a="http://schemas.openxmlformats.org/drawingml/2006/main">
              <a:ext uri="{FF2B5EF4-FFF2-40B4-BE49-F238E27FC236}">
                <a16:creationId xmlns:a16="http://schemas.microsoft.com/office/drawing/2014/main" id="{7F4355BB-4E45-44A1-BFC9-88F8344C149D}"/>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7B045787-1F8C-4F47-A1F4-E660178632F6}"/>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14 / 22</a:t>
            </a:r>
          </a:p>
        </p:txBody>
      </p:sp>
      <p:sp>
        <p:nvSpPr>
          <p:cNvPr id="28" name="">
            <a:extLst xmlns:a="http://schemas.openxmlformats.org/drawingml/2006/main">
              <a:ext uri="{FF2B5EF4-FFF2-40B4-BE49-F238E27FC236}">
                <a16:creationId xmlns:a16="http://schemas.microsoft.com/office/drawing/2014/main" id="{B4AFF5F8-D377-44A0-95DB-46088038FF2B}"/>
              </a:ext>
            </a:extLst>
          </p:cNvPr>
          <p:cNvSpPr>
            <a:spLocks xmlns:a="http://schemas.openxmlformats.org/drawingml/2006/main" noGrp="1"/>
          </p:cNvSpPr>
          <p:nvPr/>
        </p:nvSpPr>
        <p:spPr>
          <a:xfrm xmlns:a="http://schemas.openxmlformats.org/drawingml/2006/main">
            <a:off x="571500" y="6705600"/>
            <a:ext cx="7031182"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343165505"/>
      </p:ext>
    </p:extLst>
  </p:cSld>
</p:sld>
</file>

<file path=ppt/slides/slide15.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3303ED8-CCFF-4459-964B-552C35B23E5A}"/>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3-3 / THREAD DESIGN</a:t>
            </a:r>
          </a:p>
        </p:txBody>
      </p:sp>
      <p:sp>
        <p:nvSpPr>
          <p:cNvPr id="2" name="">
            <a:extLst xmlns:a="http://schemas.openxmlformats.org/drawingml/2006/main">
              <a:ext uri="{FF2B5EF4-FFF2-40B4-BE49-F238E27FC236}">
                <a16:creationId xmlns:a16="http://schemas.microsoft.com/office/drawing/2014/main" id="{D8C1BAF9-82C7-42C9-93AC-F01B05CCEB61}"/>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URLはリプ欄で、情報をツリーにする</a:t>
            </a:r>
          </a:p>
        </p:txBody>
      </p:sp>
      <p:sp>
        <p:nvSpPr>
          <p:cNvPr id="3" name="">
            <a:extLst xmlns:a="http://schemas.openxmlformats.org/drawingml/2006/main">
              <a:ext uri="{FF2B5EF4-FFF2-40B4-BE49-F238E27FC236}">
                <a16:creationId xmlns:a16="http://schemas.microsoft.com/office/drawing/2014/main" id="{079D3616-D453-4FC5-820E-AAB01CA1D04D}"/>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本投稿は魅力に集中し、詳細情報は最初のリプへ。</a:t>
            </a:r>
          </a:p>
        </p:txBody>
      </p:sp>
      <p:sp>
        <p:nvSpPr>
          <p:cNvPr id="4" name="">
            <a:extLst xmlns:a="http://schemas.openxmlformats.org/drawingml/2006/main">
              <a:ext uri="{FF2B5EF4-FFF2-40B4-BE49-F238E27FC236}">
                <a16:creationId xmlns:a16="http://schemas.microsoft.com/office/drawing/2014/main" id="{68C5C650-AFA0-41BC-9755-4A7DC8107FD7}"/>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EB427C7D-5D10-4B8B-9ED1-8B5DA52DF166}"/>
              </a:ext>
            </a:extLst>
          </p:cNvPr>
          <p:cNvSpPr>
            <a:spLocks xmlns:a="http://schemas.openxmlformats.org/drawingml/2006/main" noGrp="1"/>
          </p:cNvSpPr>
          <p:nvPr/>
        </p:nvSpPr>
        <p:spPr>
          <a:xfrm xmlns:a="http://schemas.openxmlformats.org/drawingml/2006/main">
            <a:off x="1238250" y="2457450"/>
            <a:ext cx="4286250" cy="742950"/>
          </a:xfrm>
          <a:prstGeom xmlns:a="http://schemas.openxmlformats.org/drawingml/2006/main" prst="roundRect">
            <a:avLst>
              <a:gd name="adj" fmla="val 12821"/>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本投稿</a:t>
            </a:r>
          </a:p>
          <a:p xmlns:a="http://schemas.openxmlformats.org/drawingml/2006/main">
            <a:pPr algn="ctr">
              <a:defRPr sz="1275" b="1">
                <a:solidFill>
                  <a:srgbClr val="1D9BF0"/>
                </a:solidFill>
              </a:defRPr>
            </a:pPr>
            <a:r>
              <a:rPr sz="1275" b="1">
                <a:solidFill>
                  <a:srgbClr val="1D9BF0"/>
                </a:solidFill>
              </a:rPr>
              <a:t>フェアの魅力と来てほしい理由</a:t>
            </a:r>
          </a:p>
        </p:txBody>
      </p:sp>
      <p:sp>
        <p:nvSpPr>
          <p:cNvPr id="6" name="">
            <a:extLst xmlns:a="http://schemas.openxmlformats.org/drawingml/2006/main">
              <a:ext uri="{FF2B5EF4-FFF2-40B4-BE49-F238E27FC236}">
                <a16:creationId xmlns:a16="http://schemas.microsoft.com/office/drawing/2014/main" id="{D61D8474-E8A1-4D0F-87EE-F273490CAE29}"/>
              </a:ext>
            </a:extLst>
          </p:cNvPr>
          <p:cNvSpPr>
            <a:spLocks xmlns:a="http://schemas.openxmlformats.org/drawingml/2006/main" noGrp="1"/>
          </p:cNvSpPr>
          <p:nvPr/>
        </p:nvSpPr>
        <p:spPr>
          <a:xfrm xmlns:a="http://schemas.openxmlformats.org/drawingml/2006/main">
            <a:off x="3228975" y="3200400"/>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D9BF0"/>
                </a:solidFill>
              </a:defRPr>
            </a:pPr>
            <a:r>
              <a:rPr sz="1800" b="1">
                <a:solidFill>
                  <a:srgbClr val="1D9BF0"/>
                </a:solidFill>
              </a:rPr>
              <a:t>↓</a:t>
            </a:r>
          </a:p>
        </p:txBody>
      </p:sp>
      <p:sp>
        <p:nvSpPr>
          <p:cNvPr id="7" name="">
            <a:extLst xmlns:a="http://schemas.openxmlformats.org/drawingml/2006/main">
              <a:ext uri="{FF2B5EF4-FFF2-40B4-BE49-F238E27FC236}">
                <a16:creationId xmlns:a16="http://schemas.microsoft.com/office/drawing/2014/main" id="{A269ACDD-A6D0-4053-80FD-329DC8877EF8}"/>
              </a:ext>
            </a:extLst>
          </p:cNvPr>
          <p:cNvSpPr>
            <a:spLocks xmlns:a="http://schemas.openxmlformats.org/drawingml/2006/main" noGrp="1"/>
          </p:cNvSpPr>
          <p:nvPr/>
        </p:nvSpPr>
        <p:spPr>
          <a:xfrm xmlns:a="http://schemas.openxmlformats.org/drawingml/2006/main">
            <a:off x="1238250" y="3457575"/>
            <a:ext cx="4286250" cy="742950"/>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リプ 1</a:t>
            </a:r>
          </a:p>
          <a:p xmlns:a="http://schemas.openxmlformats.org/drawingml/2006/main">
            <a:pPr algn="ctr">
              <a:defRPr sz="1275" b="1">
                <a:solidFill>
                  <a:srgbClr val="0F1419"/>
                </a:solidFill>
              </a:defRPr>
            </a:pPr>
            <a:r>
              <a:rPr sz="1275" b="1">
                <a:solidFill>
                  <a:srgbClr val="0F1419"/>
                </a:solidFill>
              </a:rPr>
              <a:t>詳細URL・参加方法</a:t>
            </a:r>
          </a:p>
        </p:txBody>
      </p:sp>
      <p:sp>
        <p:nvSpPr>
          <p:cNvPr id="8" name="">
            <a:extLst xmlns:a="http://schemas.openxmlformats.org/drawingml/2006/main">
              <a:ext uri="{FF2B5EF4-FFF2-40B4-BE49-F238E27FC236}">
                <a16:creationId xmlns:a16="http://schemas.microsoft.com/office/drawing/2014/main" id="{3FBC778F-645F-47AA-B502-2B1F26A15258}"/>
              </a:ext>
            </a:extLst>
          </p:cNvPr>
          <p:cNvSpPr>
            <a:spLocks xmlns:a="http://schemas.openxmlformats.org/drawingml/2006/main" noGrp="1"/>
          </p:cNvSpPr>
          <p:nvPr/>
        </p:nvSpPr>
        <p:spPr>
          <a:xfrm xmlns:a="http://schemas.openxmlformats.org/drawingml/2006/main">
            <a:off x="3228975" y="4200525"/>
            <a:ext cx="304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1D9BF0"/>
                </a:solidFill>
              </a:defRPr>
            </a:pPr>
            <a:r>
              <a:rPr sz="1800" b="1">
                <a:solidFill>
                  <a:srgbClr val="1D9BF0"/>
                </a:solidFill>
              </a:rPr>
              <a:t>↓</a:t>
            </a:r>
          </a:p>
        </p:txBody>
      </p:sp>
      <p:sp>
        <p:nvSpPr>
          <p:cNvPr id="9" name="">
            <a:extLst xmlns:a="http://schemas.openxmlformats.org/drawingml/2006/main">
              <a:ext uri="{FF2B5EF4-FFF2-40B4-BE49-F238E27FC236}">
                <a16:creationId xmlns:a16="http://schemas.microsoft.com/office/drawing/2014/main" id="{4D6F1029-21D3-49AB-8CE4-E059F03C52E9}"/>
              </a:ext>
            </a:extLst>
          </p:cNvPr>
          <p:cNvSpPr>
            <a:spLocks xmlns:a="http://schemas.openxmlformats.org/drawingml/2006/main" noGrp="1"/>
          </p:cNvSpPr>
          <p:nvPr/>
        </p:nvSpPr>
        <p:spPr>
          <a:xfrm xmlns:a="http://schemas.openxmlformats.org/drawingml/2006/main">
            <a:off x="1238250" y="4457700"/>
            <a:ext cx="4286250" cy="742950"/>
          </a:xfrm>
          <a:prstGeom xmlns:a="http://schemas.openxmlformats.org/drawingml/2006/main" prst="roundRect">
            <a:avLst>
              <a:gd name="adj" fmla="val 12821"/>
            </a:avLst>
          </a:prstGeom>
          <a:solidFill xmlns:a="http://schemas.openxmlformats.org/drawingml/2006/main">
            <a:srgbClr val="FFFFFF"/>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リプ 2</a:t>
            </a:r>
          </a:p>
          <a:p xmlns:a="http://schemas.openxmlformats.org/drawingml/2006/main">
            <a:pPr algn="ctr">
              <a:defRPr sz="1275" b="1">
                <a:solidFill>
                  <a:srgbClr val="0F1419"/>
                </a:solidFill>
              </a:defRPr>
            </a:pPr>
            <a:r>
              <a:rPr sz="1275" b="1">
                <a:solidFill>
                  <a:srgbClr val="0F1419"/>
                </a:solidFill>
              </a:rPr>
              <a:t>対象商品・追加情報</a:t>
            </a:r>
          </a:p>
        </p:txBody>
      </p:sp>
      <p:sp>
        <p:nvSpPr>
          <p:cNvPr id="10" name="">
            <a:extLst xmlns:a="http://schemas.openxmlformats.org/drawingml/2006/main">
              <a:ext uri="{FF2B5EF4-FFF2-40B4-BE49-F238E27FC236}">
                <a16:creationId xmlns:a16="http://schemas.microsoft.com/office/drawing/2014/main" id="{DAAFF563-AA0F-4E3C-BEE7-3F4308659DB1}"/>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1" name="">
            <a:extLst xmlns:a="http://schemas.openxmlformats.org/drawingml/2006/main">
              <a:ext uri="{FF2B5EF4-FFF2-40B4-BE49-F238E27FC236}">
                <a16:creationId xmlns:a16="http://schemas.microsoft.com/office/drawing/2014/main" id="{78287188-7C8F-43B0-9371-30E5F653D2B5}"/>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9AE9E32-680C-4D2E-8DA4-FBB8B19A57C5}"/>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3" name="">
            <a:extLst xmlns:a="http://schemas.openxmlformats.org/drawingml/2006/main">
              <a:ext uri="{FF2B5EF4-FFF2-40B4-BE49-F238E27FC236}">
                <a16:creationId xmlns:a16="http://schemas.microsoft.com/office/drawing/2014/main" id="{05031245-852E-4588-B509-39A57A21AB54}"/>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4" name="">
            <a:extLst xmlns:a="http://schemas.openxmlformats.org/drawingml/2006/main">
              <a:ext uri="{FF2B5EF4-FFF2-40B4-BE49-F238E27FC236}">
                <a16:creationId xmlns:a16="http://schemas.microsoft.com/office/drawing/2014/main" id="{9BE0BEE1-3CD9-4B3F-B34E-EB6888738E3E}"/>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本文のリンクを減らすと読みやすく、リプ欄で有益な補足も積み上げられます。</a:t>
            </a:r>
          </a:p>
        </p:txBody>
      </p:sp>
      <p:sp>
        <p:nvSpPr>
          <p:cNvPr id="15" name="">
            <a:extLst xmlns:a="http://schemas.openxmlformats.org/drawingml/2006/main">
              <a:ext uri="{FF2B5EF4-FFF2-40B4-BE49-F238E27FC236}">
                <a16:creationId xmlns:a16="http://schemas.microsoft.com/office/drawing/2014/main" id="{2C59A390-F9FB-4D6A-99BB-CD5E42116117}"/>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6" name="">
            <a:extLst xmlns:a="http://schemas.openxmlformats.org/drawingml/2006/main">
              <a:ext uri="{FF2B5EF4-FFF2-40B4-BE49-F238E27FC236}">
                <a16:creationId xmlns:a16="http://schemas.microsoft.com/office/drawing/2014/main" id="{245FAF29-628E-4118-AB1A-40779247E431}"/>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6E7898C-E922-478E-B905-D16B41397DC6}"/>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8" name="">
            <a:extLst xmlns:a="http://schemas.openxmlformats.org/drawingml/2006/main">
              <a:ext uri="{FF2B5EF4-FFF2-40B4-BE49-F238E27FC236}">
                <a16:creationId xmlns:a16="http://schemas.microsoft.com/office/drawing/2014/main" id="{16773254-65AB-412B-9D30-F3C69EC489E8}"/>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19" name="">
            <a:extLst xmlns:a="http://schemas.openxmlformats.org/drawingml/2006/main">
              <a:ext uri="{FF2B5EF4-FFF2-40B4-BE49-F238E27FC236}">
                <a16:creationId xmlns:a16="http://schemas.microsoft.com/office/drawing/2014/main" id="{719504E7-C324-4479-834F-131984086347}"/>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本投稿：フェアの魅力／リプ1：詳細URL／リプ2：対象商品。</a:t>
            </a:r>
          </a:p>
        </p:txBody>
      </p:sp>
      <p:sp>
        <p:nvSpPr>
          <p:cNvPr id="20" name="">
            <a:extLst xmlns:a="http://schemas.openxmlformats.org/drawingml/2006/main">
              <a:ext uri="{FF2B5EF4-FFF2-40B4-BE49-F238E27FC236}">
                <a16:creationId xmlns:a16="http://schemas.microsoft.com/office/drawing/2014/main" id="{674087DA-3809-42DF-B2D5-5F2EEEA23916}"/>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1" name="">
            <a:extLst xmlns:a="http://schemas.openxmlformats.org/drawingml/2006/main">
              <a:ext uri="{FF2B5EF4-FFF2-40B4-BE49-F238E27FC236}">
                <a16:creationId xmlns:a16="http://schemas.microsoft.com/office/drawing/2014/main" id="{3692AE92-72D9-4794-BEFC-C59025AE9309}"/>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152D0E60-203D-44D1-92AA-69A750E3FEED}"/>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3" name="">
            <a:extLst xmlns:a="http://schemas.openxmlformats.org/drawingml/2006/main">
              <a:ext uri="{FF2B5EF4-FFF2-40B4-BE49-F238E27FC236}">
                <a16:creationId xmlns:a16="http://schemas.microsoft.com/office/drawing/2014/main" id="{6971707D-2A5C-454A-88EE-951A2DC66389}"/>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4" name="">
            <a:extLst xmlns:a="http://schemas.openxmlformats.org/drawingml/2006/main">
              <a:ext uri="{FF2B5EF4-FFF2-40B4-BE49-F238E27FC236}">
                <a16:creationId xmlns:a16="http://schemas.microsoft.com/office/drawing/2014/main" id="{7EEE74A9-3D32-4F88-A08D-0A80F5D0FB21}"/>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投稿前に、本投稿と最初のリプをセットで準備しましょう。</a:t>
            </a:r>
          </a:p>
        </p:txBody>
      </p:sp>
      <p:sp>
        <p:nvSpPr>
          <p:cNvPr id="25" name="">
            <a:extLst xmlns:a="http://schemas.openxmlformats.org/drawingml/2006/main">
              <a:ext uri="{FF2B5EF4-FFF2-40B4-BE49-F238E27FC236}">
                <a16:creationId xmlns:a16="http://schemas.microsoft.com/office/drawing/2014/main" id="{9B3F3DAD-524D-4E2A-917F-74BC0E893A0A}"/>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6" name="">
            <a:extLst xmlns:a="http://schemas.openxmlformats.org/drawingml/2006/main">
              <a:ext uri="{FF2B5EF4-FFF2-40B4-BE49-F238E27FC236}">
                <a16:creationId xmlns:a16="http://schemas.microsoft.com/office/drawing/2014/main" id="{41D01DF2-3BE0-4A81-9988-E91E27998DAB}"/>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15 / 22</a:t>
            </a:r>
          </a:p>
        </p:txBody>
      </p:sp>
      <p:sp>
        <p:nvSpPr>
          <p:cNvPr id="27" name="">
            <a:extLst xmlns:a="http://schemas.openxmlformats.org/drawingml/2006/main">
              <a:ext uri="{FF2B5EF4-FFF2-40B4-BE49-F238E27FC236}">
                <a16:creationId xmlns:a16="http://schemas.microsoft.com/office/drawing/2014/main" id="{4AA37E49-1B78-4D43-8837-0462609099A5}"/>
              </a:ext>
            </a:extLst>
          </p:cNvPr>
          <p:cNvSpPr>
            <a:spLocks xmlns:a="http://schemas.openxmlformats.org/drawingml/2006/main" noGrp="1"/>
          </p:cNvSpPr>
          <p:nvPr/>
        </p:nvSpPr>
        <p:spPr>
          <a:xfrm xmlns:a="http://schemas.openxmlformats.org/drawingml/2006/main">
            <a:off x="571500" y="6705600"/>
            <a:ext cx="7533409"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27988378"/>
      </p:ext>
    </p:extLst>
  </p:cSld>
</p:sld>
</file>

<file path=ppt/slides/slide16.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9FD0370A-BE1A-4F7F-9DBD-73449BDBED89}"/>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3-4 / CONTENT MIX</a:t>
            </a:r>
          </a:p>
        </p:txBody>
      </p:sp>
      <p:sp>
        <p:nvSpPr>
          <p:cNvPr id="2" name="">
            <a:extLst xmlns:a="http://schemas.openxmlformats.org/drawingml/2006/main">
              <a:ext uri="{FF2B5EF4-FFF2-40B4-BE49-F238E27FC236}">
                <a16:creationId xmlns:a16="http://schemas.microsoft.com/office/drawing/2014/main" id="{2F977320-3B44-4491-82DD-6959D480E123}"/>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セルフリポストは2〜3割に抑える</a:t>
            </a:r>
          </a:p>
        </p:txBody>
      </p:sp>
      <p:sp>
        <p:nvSpPr>
          <p:cNvPr id="3" name="">
            <a:extLst xmlns:a="http://schemas.openxmlformats.org/drawingml/2006/main">
              <a:ext uri="{FF2B5EF4-FFF2-40B4-BE49-F238E27FC236}">
                <a16:creationId xmlns:a16="http://schemas.microsoft.com/office/drawing/2014/main" id="{CB1A440F-5318-4891-A968-3518FABF4360}"/>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新しい価値を7〜8割、再掲を2〜3割。</a:t>
            </a:r>
          </a:p>
        </p:txBody>
      </p:sp>
      <p:sp>
        <p:nvSpPr>
          <p:cNvPr id="4" name="">
            <a:extLst xmlns:a="http://schemas.openxmlformats.org/drawingml/2006/main">
              <a:ext uri="{FF2B5EF4-FFF2-40B4-BE49-F238E27FC236}">
                <a16:creationId xmlns:a16="http://schemas.microsoft.com/office/drawing/2014/main" id="{5473C677-D436-489A-B254-68A5C579EE51}"/>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417E4898-ECFE-485C-BBDA-D8E18EDACEC2}"/>
              </a:ext>
            </a:extLst>
          </p:cNvPr>
          <p:cNvSpPr>
            <a:spLocks xmlns:a="http://schemas.openxmlformats.org/drawingml/2006/main" noGrp="1"/>
          </p:cNvSpPr>
          <p:nvPr/>
        </p:nvSpPr>
        <p:spPr>
          <a:xfrm xmlns:a="http://schemas.openxmlformats.org/drawingml/2006/main">
            <a:off x="1095375" y="2714625"/>
            <a:ext cx="2238375" cy="2238375"/>
          </a:xfrm>
          <a:prstGeom xmlns:a="http://schemas.openxmlformats.org/drawingml/2006/main" prst="ellipse">
            <a:avLst/>
          </a:prstGeom>
          <a:solidFill xmlns:a="http://schemas.openxmlformats.org/drawingml/2006/main">
            <a:srgbClr val="1D9BF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F654A49E-2A12-45DF-8EA6-E60276550CAA}"/>
              </a:ext>
            </a:extLst>
          </p:cNvPr>
          <p:cNvSpPr>
            <a:spLocks xmlns:a="http://schemas.openxmlformats.org/drawingml/2006/main" noGrp="1"/>
          </p:cNvSpPr>
          <p:nvPr/>
        </p:nvSpPr>
        <p:spPr>
          <a:xfrm xmlns:a="http://schemas.openxmlformats.org/drawingml/2006/main">
            <a:off x="1638300" y="3257550"/>
            <a:ext cx="1152525" cy="1152525"/>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7" name="">
            <a:extLst xmlns:a="http://schemas.openxmlformats.org/drawingml/2006/main">
              <a:ext uri="{FF2B5EF4-FFF2-40B4-BE49-F238E27FC236}">
                <a16:creationId xmlns:a16="http://schemas.microsoft.com/office/drawing/2014/main" id="{98C6908C-6B7F-44FE-BCAE-4E8A953E34DF}"/>
              </a:ext>
            </a:extLst>
          </p:cNvPr>
          <p:cNvSpPr>
            <a:spLocks xmlns:a="http://schemas.openxmlformats.org/drawingml/2006/main" noGrp="1"/>
          </p:cNvSpPr>
          <p:nvPr/>
        </p:nvSpPr>
        <p:spPr>
          <a:xfrm xmlns:a="http://schemas.openxmlformats.org/drawingml/2006/main">
            <a:off x="1790700" y="3571875"/>
            <a:ext cx="857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2250" b="1">
                <a:solidFill>
                  <a:srgbClr val="0F1419"/>
                </a:solidFill>
              </a:defRPr>
            </a:pPr>
            <a:r>
              <a:rPr sz="2250" b="1">
                <a:solidFill>
                  <a:srgbClr val="0F1419"/>
                </a:solidFill>
              </a:rPr>
              <a:t>80%</a:t>
            </a:r>
          </a:p>
        </p:txBody>
      </p:sp>
      <p:sp>
        <p:nvSpPr>
          <p:cNvPr id="8" name="">
            <a:extLst xmlns:a="http://schemas.openxmlformats.org/drawingml/2006/main">
              <a:ext uri="{FF2B5EF4-FFF2-40B4-BE49-F238E27FC236}">
                <a16:creationId xmlns:a16="http://schemas.microsoft.com/office/drawing/2014/main" id="{49D1DBD3-06CC-4F3F-AC20-2520C2A24816}"/>
              </a:ext>
            </a:extLst>
          </p:cNvPr>
          <p:cNvSpPr>
            <a:spLocks xmlns:a="http://schemas.openxmlformats.org/drawingml/2006/main" noGrp="1"/>
          </p:cNvSpPr>
          <p:nvPr/>
        </p:nvSpPr>
        <p:spPr>
          <a:xfrm xmlns:a="http://schemas.openxmlformats.org/drawingml/2006/main">
            <a:off x="3714750" y="3095625"/>
            <a:ext cx="2095500" cy="323850"/>
          </a:xfrm>
          <a:prstGeom xmlns:a="http://schemas.openxmlformats.org/drawingml/2006/main" prst="roundRect">
            <a:avLst>
              <a:gd name="adj" fmla="val 23529"/>
            </a:avLst>
          </a:prstGeom>
          <a:solidFill xmlns:a="http://schemas.openxmlformats.org/drawingml/2006/main">
            <a:srgbClr val="E8F5FD"/>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1D9BF0"/>
                </a:solidFill>
              </a:defRPr>
            </a:pPr>
            <a:r>
              <a:rPr sz="1050" b="1">
                <a:solidFill>
                  <a:srgbClr val="1D9BF0"/>
                </a:solidFill>
              </a:rPr>
              <a:t>新規投稿 70〜80%</a:t>
            </a:r>
          </a:p>
        </p:txBody>
      </p:sp>
      <p:sp>
        <p:nvSpPr>
          <p:cNvPr id="9" name="">
            <a:extLst xmlns:a="http://schemas.openxmlformats.org/drawingml/2006/main">
              <a:ext uri="{FF2B5EF4-FFF2-40B4-BE49-F238E27FC236}">
                <a16:creationId xmlns:a16="http://schemas.microsoft.com/office/drawing/2014/main" id="{FE9EACAF-1299-4D13-9B67-AE99792DF0A4}"/>
              </a:ext>
            </a:extLst>
          </p:cNvPr>
          <p:cNvSpPr>
            <a:spLocks xmlns:a="http://schemas.openxmlformats.org/drawingml/2006/main" noGrp="1"/>
          </p:cNvSpPr>
          <p:nvPr/>
        </p:nvSpPr>
        <p:spPr>
          <a:xfrm xmlns:a="http://schemas.openxmlformats.org/drawingml/2006/main">
            <a:off x="3714750" y="3762375"/>
            <a:ext cx="2095500" cy="323850"/>
          </a:xfrm>
          <a:prstGeom xmlns:a="http://schemas.openxmlformats.org/drawingml/2006/main" prst="roundRect">
            <a:avLst>
              <a:gd name="adj" fmla="val 23529"/>
            </a:avLst>
          </a:prstGeom>
          <a:solidFill xmlns:a="http://schemas.openxmlformats.org/drawingml/2006/main">
            <a:srgbClr val="FFF8D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9B6F00"/>
                </a:solidFill>
              </a:defRPr>
            </a:pPr>
            <a:r>
              <a:rPr sz="1050" b="1">
                <a:solidFill>
                  <a:srgbClr val="9B6F00"/>
                </a:solidFill>
              </a:rPr>
              <a:t>再掲 20〜30%</a:t>
            </a:r>
          </a:p>
        </p:txBody>
      </p:sp>
      <p:sp>
        <p:nvSpPr>
          <p:cNvPr id="10" name="">
            <a:extLst xmlns:a="http://schemas.openxmlformats.org/drawingml/2006/main">
              <a:ext uri="{FF2B5EF4-FFF2-40B4-BE49-F238E27FC236}">
                <a16:creationId xmlns:a16="http://schemas.microsoft.com/office/drawing/2014/main" id="{CBF23249-2A8B-49C5-9425-75DCD5E311BF}"/>
              </a:ext>
            </a:extLst>
          </p:cNvPr>
          <p:cNvSpPr>
            <a:spLocks xmlns:a="http://schemas.openxmlformats.org/drawingml/2006/main" noGrp="1"/>
          </p:cNvSpPr>
          <p:nvPr/>
        </p:nvSpPr>
        <p:spPr>
          <a:xfrm xmlns:a="http://schemas.openxmlformats.org/drawingml/2006/main">
            <a:off x="3714750" y="4429125"/>
            <a:ext cx="2095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536471"/>
                </a:solidFill>
              </a:defRPr>
            </a:pPr>
            <a:r>
              <a:rPr sz="1200" b="1">
                <a:solidFill>
                  <a:srgbClr val="536471"/>
                </a:solidFill>
              </a:rPr>
              <a:t>運用開始時の目安として検証</a:t>
            </a:r>
          </a:p>
        </p:txBody>
      </p:sp>
      <p:sp>
        <p:nvSpPr>
          <p:cNvPr id="11" name="">
            <a:extLst xmlns:a="http://schemas.openxmlformats.org/drawingml/2006/main">
              <a:ext uri="{FF2B5EF4-FFF2-40B4-BE49-F238E27FC236}">
                <a16:creationId xmlns:a16="http://schemas.microsoft.com/office/drawing/2014/main" id="{266BCA9F-022A-4298-B21F-1A68C8344902}"/>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7210DEA5-FD95-4819-BBB9-D5D38A4BE050}"/>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FCB1FC72-5BE8-4BDD-80DD-8D79957BA590}"/>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0F938BAA-A30E-4C40-9404-818FD7C608A4}"/>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A5ACC4E1-CCCD-4D2A-99AE-41BA6C4E9A59}"/>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リポストばかりでは新鮮な情報が減り、アカウントの価値が伝わりにくくなります。</a:t>
            </a:r>
          </a:p>
        </p:txBody>
      </p:sp>
      <p:sp>
        <p:nvSpPr>
          <p:cNvPr id="16" name="">
            <a:extLst xmlns:a="http://schemas.openxmlformats.org/drawingml/2006/main">
              <a:ext uri="{FF2B5EF4-FFF2-40B4-BE49-F238E27FC236}">
                <a16:creationId xmlns:a16="http://schemas.microsoft.com/office/drawing/2014/main" id="{6E3DC264-502C-403E-8567-E390BC130D3A}"/>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2E2127F8-8009-4FBF-B20B-0778F8A5BBEA}"/>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F6BE73C4-E7A3-48EA-B542-2B66BB18CF04}"/>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DCF292FE-278F-40DD-8ABA-8EC7586B8B54}"/>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C09699ED-052F-4F92-B631-C6A0750594DD}"/>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新規投稿8本に対し、見逃し防止のセルフリポストを2本。</a:t>
            </a:r>
          </a:p>
        </p:txBody>
      </p:sp>
      <p:sp>
        <p:nvSpPr>
          <p:cNvPr id="21" name="">
            <a:extLst xmlns:a="http://schemas.openxmlformats.org/drawingml/2006/main">
              <a:ext uri="{FF2B5EF4-FFF2-40B4-BE49-F238E27FC236}">
                <a16:creationId xmlns:a16="http://schemas.microsoft.com/office/drawing/2014/main" id="{D4328149-75A7-4479-A550-A406C0B9D647}"/>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B7308BF2-7DDC-4B43-8D7C-AADB93DEFBFE}"/>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21E82217-1A8A-4FCC-9D5C-840CC6ED6574}"/>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5C2BCEB9-31CB-40F3-9F82-BF64C6EFB64B}"/>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5C431775-E762-431C-AC18-D663731E2F46}"/>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直近10件を数え、新規投稿が7件以上ある状態を保ちましょう。</a:t>
            </a:r>
          </a:p>
        </p:txBody>
      </p:sp>
      <p:sp>
        <p:nvSpPr>
          <p:cNvPr id="26" name="">
            <a:extLst xmlns:a="http://schemas.openxmlformats.org/drawingml/2006/main">
              <a:ext uri="{FF2B5EF4-FFF2-40B4-BE49-F238E27FC236}">
                <a16:creationId xmlns:a16="http://schemas.microsoft.com/office/drawing/2014/main" id="{B35BD789-3881-4553-8B1F-B834699E5597}"/>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94A876E8-5FD5-42C4-87E5-F4D6415C957E}"/>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16 / 22</a:t>
            </a:r>
          </a:p>
        </p:txBody>
      </p:sp>
      <p:sp>
        <p:nvSpPr>
          <p:cNvPr id="28" name="">
            <a:extLst xmlns:a="http://schemas.openxmlformats.org/drawingml/2006/main">
              <a:ext uri="{FF2B5EF4-FFF2-40B4-BE49-F238E27FC236}">
                <a16:creationId xmlns:a16="http://schemas.microsoft.com/office/drawing/2014/main" id="{FC5B2CFC-3C77-4D3B-A348-13B1CC8DDE46}"/>
              </a:ext>
            </a:extLst>
          </p:cNvPr>
          <p:cNvSpPr>
            <a:spLocks xmlns:a="http://schemas.openxmlformats.org/drawingml/2006/main" noGrp="1"/>
          </p:cNvSpPr>
          <p:nvPr/>
        </p:nvSpPr>
        <p:spPr>
          <a:xfrm xmlns:a="http://schemas.openxmlformats.org/drawingml/2006/main">
            <a:off x="571500" y="6705600"/>
            <a:ext cx="8035636"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296111768"/>
      </p:ext>
    </p:extLst>
  </p:cSld>
</p:sld>
</file>

<file path=ppt/slides/slide17.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3D73E621-E0EC-43D2-9EDF-C9E16647809D}"/>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3-5 / CONVERSATION</a:t>
            </a:r>
          </a:p>
        </p:txBody>
      </p:sp>
      <p:sp>
        <p:nvSpPr>
          <p:cNvPr id="2" name="">
            <a:extLst xmlns:a="http://schemas.openxmlformats.org/drawingml/2006/main">
              <a:ext uri="{FF2B5EF4-FFF2-40B4-BE49-F238E27FC236}">
                <a16:creationId xmlns:a16="http://schemas.microsoft.com/office/drawing/2014/main" id="{321A0D77-86C1-4C8F-922A-C827B00A5184}"/>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リプライは、運用の付録ではなく本編</a:t>
            </a:r>
          </a:p>
        </p:txBody>
      </p:sp>
      <p:sp>
        <p:nvSpPr>
          <p:cNvPr id="3" name="">
            <a:extLst xmlns:a="http://schemas.openxmlformats.org/drawingml/2006/main">
              <a:ext uri="{FF2B5EF4-FFF2-40B4-BE49-F238E27FC236}">
                <a16:creationId xmlns:a16="http://schemas.microsoft.com/office/drawing/2014/main" id="{0381DD79-4A43-49B0-AEA1-B57BCA21B64D}"/>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反応には、いいねだけで終わらず会話を返す。</a:t>
            </a:r>
          </a:p>
        </p:txBody>
      </p:sp>
      <p:sp>
        <p:nvSpPr>
          <p:cNvPr id="4" name="">
            <a:extLst xmlns:a="http://schemas.openxmlformats.org/drawingml/2006/main">
              <a:ext uri="{FF2B5EF4-FFF2-40B4-BE49-F238E27FC236}">
                <a16:creationId xmlns:a16="http://schemas.microsoft.com/office/drawing/2014/main" id="{2092EDE0-9992-4E9F-A67F-AFF83728FEC4}"/>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4C872A90-8C2E-4601-9F33-05C0E60B084C}"/>
              </a:ext>
            </a:extLst>
          </p:cNvPr>
          <p:cNvSpPr>
            <a:spLocks xmlns:a="http://schemas.openxmlformats.org/drawingml/2006/main" noGrp="1"/>
          </p:cNvSpPr>
          <p:nvPr/>
        </p:nvSpPr>
        <p:spPr>
          <a:xfrm xmlns:a="http://schemas.openxmlformats.org/drawingml/2006/main">
            <a:off x="904875" y="2619375"/>
            <a:ext cx="4000500" cy="685800"/>
          </a:xfrm>
          <a:prstGeom xmlns:a="http://schemas.openxmlformats.org/drawingml/2006/main" prst="roundRect">
            <a:avLst>
              <a:gd name="adj" fmla="val 13889"/>
            </a:avLst>
          </a:prstGeom>
          <a:solidFill xmlns:a="http://schemas.openxmlformats.org/drawingml/2006/main">
            <a:srgbClr val="F5F7F9"/>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読者：この本、読みました！</a:t>
            </a:r>
          </a:p>
        </p:txBody>
      </p:sp>
      <p:sp>
        <p:nvSpPr>
          <p:cNvPr id="6" name="">
            <a:extLst xmlns:a="http://schemas.openxmlformats.org/drawingml/2006/main">
              <a:ext uri="{FF2B5EF4-FFF2-40B4-BE49-F238E27FC236}">
                <a16:creationId xmlns:a16="http://schemas.microsoft.com/office/drawing/2014/main" id="{948AE727-A7A8-4974-A371-26072C49BBE9}"/>
              </a:ext>
            </a:extLst>
          </p:cNvPr>
          <p:cNvSpPr>
            <a:spLocks xmlns:a="http://schemas.openxmlformats.org/drawingml/2006/main" noGrp="1"/>
          </p:cNvSpPr>
          <p:nvPr/>
        </p:nvSpPr>
        <p:spPr>
          <a:xfrm xmlns:a="http://schemas.openxmlformats.org/drawingml/2006/main">
            <a:off x="1857375" y="3571875"/>
            <a:ext cx="4000500" cy="685800"/>
          </a:xfrm>
          <a:prstGeom xmlns:a="http://schemas.openxmlformats.org/drawingml/2006/main" prst="roundRect">
            <a:avLst>
              <a:gd name="adj" fmla="val 13889"/>
            </a:avLst>
          </a:prstGeom>
          <a:solidFill xmlns:a="http://schemas.openxmlformats.org/drawingml/2006/main">
            <a:srgbClr val="1D9BF0"/>
          </a:solidFill>
          <a:ln xmlns:a="http://schemas.openxmlformats.org/drawingml/2006/main" w="11430">
            <a:solidFill>
              <a:srgbClr val="1D9BF0"/>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FFFFF"/>
                </a:solidFill>
              </a:defRPr>
            </a:pPr>
            <a:r>
              <a:rPr sz="1275" b="1">
                <a:solidFill>
                  <a:srgbClr val="FFFFFF"/>
                </a:solidFill>
              </a:rPr>
              <a:t>店舗：どの場面が印象的でしたか？</a:t>
            </a:r>
          </a:p>
        </p:txBody>
      </p:sp>
      <p:sp>
        <p:nvSpPr>
          <p:cNvPr id="7" name="">
            <a:extLst xmlns:a="http://schemas.openxmlformats.org/drawingml/2006/main">
              <a:ext uri="{FF2B5EF4-FFF2-40B4-BE49-F238E27FC236}">
                <a16:creationId xmlns:a16="http://schemas.microsoft.com/office/drawing/2014/main" id="{B90F39A6-B97E-4F1F-B750-B823F8CDD313}"/>
              </a:ext>
            </a:extLst>
          </p:cNvPr>
          <p:cNvSpPr>
            <a:spLocks xmlns:a="http://schemas.openxmlformats.org/drawingml/2006/main" noGrp="1"/>
          </p:cNvSpPr>
          <p:nvPr/>
        </p:nvSpPr>
        <p:spPr>
          <a:xfrm xmlns:a="http://schemas.openxmlformats.org/drawingml/2006/main">
            <a:off x="904875" y="4524375"/>
            <a:ext cx="4000500" cy="685800"/>
          </a:xfrm>
          <a:prstGeom xmlns:a="http://schemas.openxmlformats.org/drawingml/2006/main" prst="roundRect">
            <a:avLst>
              <a:gd name="adj" fmla="val 13889"/>
            </a:avLst>
          </a:prstGeom>
          <a:solidFill xmlns:a="http://schemas.openxmlformats.org/drawingml/2006/main">
            <a:srgbClr val="F5F7F9"/>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F1419"/>
                </a:solidFill>
              </a:defRPr>
            </a:pPr>
            <a:r>
              <a:rPr sz="1275" b="1">
                <a:solidFill>
                  <a:srgbClr val="0F1419"/>
                </a:solidFill>
              </a:rPr>
              <a:t>読者：主人公の選択です。</a:t>
            </a:r>
          </a:p>
        </p:txBody>
      </p:sp>
      <p:sp>
        <p:nvSpPr>
          <p:cNvPr id="8" name="">
            <a:extLst xmlns:a="http://schemas.openxmlformats.org/drawingml/2006/main">
              <a:ext uri="{FF2B5EF4-FFF2-40B4-BE49-F238E27FC236}">
                <a16:creationId xmlns:a16="http://schemas.microsoft.com/office/drawing/2014/main" id="{B782AEB2-0EF3-4F40-99E5-AFA63045B58C}"/>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9" name="">
            <a:extLst xmlns:a="http://schemas.openxmlformats.org/drawingml/2006/main">
              <a:ext uri="{FF2B5EF4-FFF2-40B4-BE49-F238E27FC236}">
                <a16:creationId xmlns:a16="http://schemas.microsoft.com/office/drawing/2014/main" id="{FB071239-8DA0-4F05-8DB6-F93B893FB851}"/>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EC1DAA09-5D4F-493A-9803-A52363D44AF6}"/>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1" name="">
            <a:extLst xmlns:a="http://schemas.openxmlformats.org/drawingml/2006/main">
              <a:ext uri="{FF2B5EF4-FFF2-40B4-BE49-F238E27FC236}">
                <a16:creationId xmlns:a16="http://schemas.microsoft.com/office/drawing/2014/main" id="{A3C761F7-DB9A-4A8C-8052-192DC7AC1E62}"/>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2" name="">
            <a:extLst xmlns:a="http://schemas.openxmlformats.org/drawingml/2006/main">
              <a:ext uri="{FF2B5EF4-FFF2-40B4-BE49-F238E27FC236}">
                <a16:creationId xmlns:a16="http://schemas.microsoft.com/office/drawing/2014/main" id="{CB0701F3-3203-4FF0-AAB0-9CA146796231}"/>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双方向のやり取りは、投稿が関心を生んだという強い手がかりになります。</a:t>
            </a:r>
          </a:p>
        </p:txBody>
      </p:sp>
      <p:sp>
        <p:nvSpPr>
          <p:cNvPr id="13" name="">
            <a:extLst xmlns:a="http://schemas.openxmlformats.org/drawingml/2006/main">
              <a:ext uri="{FF2B5EF4-FFF2-40B4-BE49-F238E27FC236}">
                <a16:creationId xmlns:a16="http://schemas.microsoft.com/office/drawing/2014/main" id="{7E11FEF1-ACBE-46DE-B056-57910FB41ADF}"/>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4" name="">
            <a:extLst xmlns:a="http://schemas.openxmlformats.org/drawingml/2006/main">
              <a:ext uri="{FF2B5EF4-FFF2-40B4-BE49-F238E27FC236}">
                <a16:creationId xmlns:a16="http://schemas.microsoft.com/office/drawing/2014/main" id="{33DD13B4-298D-4014-9BB0-05A3310E80D6}"/>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E9215B1-F95B-4CEE-9F73-B8F73CA4BE13}"/>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6" name="">
            <a:extLst xmlns:a="http://schemas.openxmlformats.org/drawingml/2006/main">
              <a:ext uri="{FF2B5EF4-FFF2-40B4-BE49-F238E27FC236}">
                <a16:creationId xmlns:a16="http://schemas.microsoft.com/office/drawing/2014/main" id="{92277007-E9ED-4E45-B59A-DBA464F0C2CB}"/>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17" name="">
            <a:extLst xmlns:a="http://schemas.openxmlformats.org/drawingml/2006/main">
              <a:ext uri="{FF2B5EF4-FFF2-40B4-BE49-F238E27FC236}">
                <a16:creationId xmlns:a16="http://schemas.microsoft.com/office/drawing/2014/main" id="{8FE43B9F-06E5-4D94-AC95-DC24ED220C78}"/>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『読みました』に『どの場面が印象的でしたか？』と返して会話を広げる。</a:t>
            </a:r>
          </a:p>
        </p:txBody>
      </p:sp>
      <p:sp>
        <p:nvSpPr>
          <p:cNvPr id="18" name="">
            <a:extLst xmlns:a="http://schemas.openxmlformats.org/drawingml/2006/main">
              <a:ext uri="{FF2B5EF4-FFF2-40B4-BE49-F238E27FC236}">
                <a16:creationId xmlns:a16="http://schemas.microsoft.com/office/drawing/2014/main" id="{CC13CAC3-06E6-4A2A-8F2B-09AE93DB323B}"/>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19" name="">
            <a:extLst xmlns:a="http://schemas.openxmlformats.org/drawingml/2006/main">
              <a:ext uri="{FF2B5EF4-FFF2-40B4-BE49-F238E27FC236}">
                <a16:creationId xmlns:a16="http://schemas.microsoft.com/office/drawing/2014/main" id="{FA098360-6BFC-44E9-8366-F6EC9D6F686F}"/>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4396DB4E-6ED0-49D7-B735-FCBF26ED195B}"/>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1" name="">
            <a:extLst xmlns:a="http://schemas.openxmlformats.org/drawingml/2006/main">
              <a:ext uri="{FF2B5EF4-FFF2-40B4-BE49-F238E27FC236}">
                <a16:creationId xmlns:a16="http://schemas.microsoft.com/office/drawing/2014/main" id="{59898B34-25E7-451B-AD5D-ECE470CC7A6E}"/>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2" name="">
            <a:extLst xmlns:a="http://schemas.openxmlformats.org/drawingml/2006/main">
              <a:ext uri="{FF2B5EF4-FFF2-40B4-BE49-F238E27FC236}">
                <a16:creationId xmlns:a16="http://schemas.microsoft.com/office/drawing/2014/main" id="{14C6E788-483D-4827-A9E3-AACFCD7CE1DE}"/>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投稿後30分は、返信と引用へのリアクション時間にしましょう。</a:t>
            </a:r>
          </a:p>
        </p:txBody>
      </p:sp>
      <p:sp>
        <p:nvSpPr>
          <p:cNvPr id="23" name="">
            <a:extLst xmlns:a="http://schemas.openxmlformats.org/drawingml/2006/main">
              <a:ext uri="{FF2B5EF4-FFF2-40B4-BE49-F238E27FC236}">
                <a16:creationId xmlns:a16="http://schemas.microsoft.com/office/drawing/2014/main" id="{9C9D9141-ECBA-4CC6-9152-EBFEDC47E608}"/>
              </a:ext>
            </a:extLst>
          </p:cNvPr>
          <p:cNvSpPr>
            <a:spLocks xmlns:a="http://schemas.openxmlformats.org/drawingml/2006/main" noGrp="1"/>
          </p:cNvSpPr>
          <p:nvPr/>
        </p:nvSpPr>
        <p:spPr>
          <a:xfrm xmlns:a="http://schemas.openxmlformats.org/drawingml/2006/main">
            <a:off x="6667500" y="5981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36471"/>
                </a:solidFill>
              </a:defRPr>
            </a:pPr>
            <a:r>
              <a:rPr sz="975" b="0">
                <a:solidFill>
                  <a:srgbClr val="536471"/>
                </a:solidFill>
              </a:rPr>
              <a:t>引用リポストは、自分のコメントを付ける新しい投稿として活用できます</a:t>
            </a:r>
          </a:p>
        </p:txBody>
      </p:sp>
      <p:sp>
        <p:nvSpPr>
          <p:cNvPr id="24" name="">
            <a:extLst xmlns:a="http://schemas.openxmlformats.org/drawingml/2006/main">
              <a:ext uri="{FF2B5EF4-FFF2-40B4-BE49-F238E27FC236}">
                <a16:creationId xmlns:a16="http://schemas.microsoft.com/office/drawing/2014/main" id="{69757818-8DC9-4611-B329-07C57358353C}"/>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5" name="">
            <a:extLst xmlns:a="http://schemas.openxmlformats.org/drawingml/2006/main">
              <a:ext uri="{FF2B5EF4-FFF2-40B4-BE49-F238E27FC236}">
                <a16:creationId xmlns:a16="http://schemas.microsoft.com/office/drawing/2014/main" id="{6D3A25FC-8D37-449B-8557-0B1153AC6711}"/>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17 / 22</a:t>
            </a:r>
          </a:p>
        </p:txBody>
      </p:sp>
      <p:sp>
        <p:nvSpPr>
          <p:cNvPr id="26" name="">
            <a:extLst xmlns:a="http://schemas.openxmlformats.org/drawingml/2006/main">
              <a:ext uri="{FF2B5EF4-FFF2-40B4-BE49-F238E27FC236}">
                <a16:creationId xmlns:a16="http://schemas.microsoft.com/office/drawing/2014/main" id="{F80DA1C1-36C8-4001-86CA-FCEAFB71CEC6}"/>
              </a:ext>
            </a:extLst>
          </p:cNvPr>
          <p:cNvSpPr>
            <a:spLocks xmlns:a="http://schemas.openxmlformats.org/drawingml/2006/main" noGrp="1"/>
          </p:cNvSpPr>
          <p:nvPr/>
        </p:nvSpPr>
        <p:spPr>
          <a:xfrm xmlns:a="http://schemas.openxmlformats.org/drawingml/2006/main">
            <a:off x="571500" y="6705600"/>
            <a:ext cx="8537864"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844357572"/>
      </p:ext>
    </p:extLst>
  </p:cSld>
</p:sld>
</file>

<file path=ppt/slides/slide18.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189C82A-56C6-4B9D-B5D7-ECD9E934A3FA}"/>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3-6 / SOCIAL PROOF</a:t>
            </a:r>
          </a:p>
        </p:txBody>
      </p:sp>
      <p:sp>
        <p:nvSpPr>
          <p:cNvPr id="2" name="">
            <a:extLst xmlns:a="http://schemas.openxmlformats.org/drawingml/2006/main">
              <a:ext uri="{FF2B5EF4-FFF2-40B4-BE49-F238E27FC236}">
                <a16:creationId xmlns:a16="http://schemas.microsoft.com/office/drawing/2014/main" id="{F665A35D-AAB8-4C90-B953-42D35EE8B912}"/>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自分の宣伝より、第三者の紹介が強い</a:t>
            </a:r>
          </a:p>
        </p:txBody>
      </p:sp>
      <p:sp>
        <p:nvSpPr>
          <p:cNvPr id="3" name="">
            <a:extLst xmlns:a="http://schemas.openxmlformats.org/drawingml/2006/main">
              <a:ext uri="{FF2B5EF4-FFF2-40B4-BE49-F238E27FC236}">
                <a16:creationId xmlns:a16="http://schemas.microsoft.com/office/drawing/2014/main" id="{CAF3A61F-2729-4D62-9759-01FC6D56A26C}"/>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お客様の言葉が、店舗の魅力に客観的な説得力を加える。</a:t>
            </a:r>
          </a:p>
        </p:txBody>
      </p:sp>
      <p:sp>
        <p:nvSpPr>
          <p:cNvPr id="4" name="">
            <a:extLst xmlns:a="http://schemas.openxmlformats.org/drawingml/2006/main">
              <a:ext uri="{FF2B5EF4-FFF2-40B4-BE49-F238E27FC236}">
                <a16:creationId xmlns:a16="http://schemas.microsoft.com/office/drawing/2014/main" id="{27BAF4BA-9287-4D38-B168-4550023469E1}"/>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6281A3B0-85E5-42DF-AC86-8A8CF0BF544B}"/>
              </a:ext>
            </a:extLst>
          </p:cNvPr>
          <p:cNvSpPr>
            <a:spLocks xmlns:a="http://schemas.openxmlformats.org/drawingml/2006/main" noGrp="1"/>
          </p:cNvSpPr>
          <p:nvPr/>
        </p:nvSpPr>
        <p:spPr>
          <a:xfrm xmlns:a="http://schemas.openxmlformats.org/drawingml/2006/main">
            <a:off x="800100" y="2495550"/>
            <a:ext cx="2486025" cy="3105150"/>
          </a:xfrm>
          <a:prstGeom xmlns:a="http://schemas.openxmlformats.org/drawingml/2006/main" prst="roundRect">
            <a:avLst>
              <a:gd name="adj" fmla="val 4598"/>
            </a:avLst>
          </a:prstGeom>
          <a:solidFill xmlns:a="http://schemas.openxmlformats.org/drawingml/2006/main">
            <a:srgbClr val="FFF0EF"/>
          </a:solidFill>
          <a:ln xmlns:a="http://schemas.openxmlformats.org/drawingml/2006/main" w="11430">
            <a:solidFill>
              <a:srgbClr val="E4E9ED"/>
            </a:solidFill>
            <a:prstDash val="solid"/>
          </a:ln>
        </p:spPr>
      </p:sp>
      <p:sp>
        <p:nvSpPr>
          <p:cNvPr id="6" name="">
            <a:extLst xmlns:a="http://schemas.openxmlformats.org/drawingml/2006/main">
              <a:ext uri="{FF2B5EF4-FFF2-40B4-BE49-F238E27FC236}">
                <a16:creationId xmlns:a16="http://schemas.microsoft.com/office/drawing/2014/main" id="{977B1231-868E-424F-BF46-FF29A7EB7EF1}"/>
              </a:ext>
            </a:extLst>
          </p:cNvPr>
          <p:cNvSpPr>
            <a:spLocks xmlns:a="http://schemas.openxmlformats.org/drawingml/2006/main" noGrp="1"/>
          </p:cNvSpPr>
          <p:nvPr/>
        </p:nvSpPr>
        <p:spPr>
          <a:xfrm xmlns:a="http://schemas.openxmlformats.org/drawingml/2006/main">
            <a:off x="3476625" y="2495550"/>
            <a:ext cx="2486025" cy="3105150"/>
          </a:xfrm>
          <a:prstGeom xmlns:a="http://schemas.openxmlformats.org/drawingml/2006/main" prst="roundRect">
            <a:avLst>
              <a:gd name="adj" fmla="val 4598"/>
            </a:avLst>
          </a:prstGeom>
          <a:solidFill xmlns:a="http://schemas.openxmlformats.org/drawingml/2006/main">
            <a:srgbClr val="E5F8F0"/>
          </a:solidFill>
          <a:ln xmlns:a="http://schemas.openxmlformats.org/drawingml/2006/main" w="11430">
            <a:solidFill>
              <a:srgbClr val="E4E9ED"/>
            </a:solidFill>
            <a:prstDash val="solid"/>
          </a:ln>
        </p:spPr>
      </p:sp>
      <p:sp>
        <p:nvSpPr>
          <p:cNvPr id="7" name="">
            <a:extLst xmlns:a="http://schemas.openxmlformats.org/drawingml/2006/main">
              <a:ext uri="{FF2B5EF4-FFF2-40B4-BE49-F238E27FC236}">
                <a16:creationId xmlns:a16="http://schemas.microsoft.com/office/drawing/2014/main" id="{E74D2571-8C63-4CB5-8151-9F93892B9B4F}"/>
              </a:ext>
            </a:extLst>
          </p:cNvPr>
          <p:cNvSpPr>
            <a:spLocks xmlns:a="http://schemas.openxmlformats.org/drawingml/2006/main" noGrp="1"/>
          </p:cNvSpPr>
          <p:nvPr/>
        </p:nvSpPr>
        <p:spPr>
          <a:xfrm xmlns:a="http://schemas.openxmlformats.org/drawingml/2006/main">
            <a:off x="990600"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45D5D"/>
                </a:solidFill>
              </a:defRPr>
            </a:pPr>
            <a:r>
              <a:rPr sz="1050" b="1">
                <a:solidFill>
                  <a:srgbClr val="F45D5D"/>
                </a:solidFill>
              </a:rPr>
              <a:t>×  自分で宣伝</a:t>
            </a:r>
          </a:p>
        </p:txBody>
      </p:sp>
      <p:sp>
        <p:nvSpPr>
          <p:cNvPr id="8" name="">
            <a:extLst xmlns:a="http://schemas.openxmlformats.org/drawingml/2006/main">
              <a:ext uri="{FF2B5EF4-FFF2-40B4-BE49-F238E27FC236}">
                <a16:creationId xmlns:a16="http://schemas.microsoft.com/office/drawing/2014/main" id="{393F1129-19AB-4576-9863-17CB5EE9DB9A}"/>
              </a:ext>
            </a:extLst>
          </p:cNvPr>
          <p:cNvSpPr>
            <a:spLocks xmlns:a="http://schemas.openxmlformats.org/drawingml/2006/main" noGrp="1"/>
          </p:cNvSpPr>
          <p:nvPr/>
        </p:nvSpPr>
        <p:spPr>
          <a:xfrm xmlns:a="http://schemas.openxmlformats.org/drawingml/2006/main">
            <a:off x="3667125"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A86B"/>
                </a:solidFill>
              </a:defRPr>
            </a:pPr>
            <a:r>
              <a:rPr sz="1050" b="1">
                <a:solidFill>
                  <a:srgbClr val="00A86B"/>
                </a:solidFill>
              </a:rPr>
              <a:t>○  お客様の紹介</a:t>
            </a:r>
          </a:p>
        </p:txBody>
      </p:sp>
      <p:sp>
        <p:nvSpPr>
          <p:cNvPr id="9" name="">
            <a:extLst xmlns:a="http://schemas.openxmlformats.org/drawingml/2006/main">
              <a:ext uri="{FF2B5EF4-FFF2-40B4-BE49-F238E27FC236}">
                <a16:creationId xmlns:a16="http://schemas.microsoft.com/office/drawing/2014/main" id="{C6D33D1C-E3A1-4D22-8AB6-A21F52E8E146}"/>
              </a:ext>
            </a:extLst>
          </p:cNvPr>
          <p:cNvSpPr>
            <a:spLocks xmlns:a="http://schemas.openxmlformats.org/drawingml/2006/main" noGrp="1"/>
          </p:cNvSpPr>
          <p:nvPr/>
        </p:nvSpPr>
        <p:spPr>
          <a:xfrm xmlns:a="http://schemas.openxmlformats.org/drawingml/2006/main">
            <a:off x="1047750"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当店のフェアは</a:t>
            </a:r>
          </a:p>
          <a:p xmlns:a="http://schemas.openxmlformats.org/drawingml/2006/main">
            <a:pPr algn="ctr">
              <a:defRPr sz="1425" b="1">
                <a:solidFill>
                  <a:srgbClr val="0F1419"/>
                </a:solidFill>
              </a:defRPr>
            </a:pPr>
            <a:r>
              <a:rPr sz="1425" b="1">
                <a:solidFill>
                  <a:srgbClr val="0F1419"/>
                </a:solidFill>
              </a:rPr>
              <a:t>おすすめです。</a:t>
            </a:r>
          </a:p>
        </p:txBody>
      </p:sp>
      <p:sp>
        <p:nvSpPr>
          <p:cNvPr id="10" name="">
            <a:extLst xmlns:a="http://schemas.openxmlformats.org/drawingml/2006/main">
              <a:ext uri="{FF2B5EF4-FFF2-40B4-BE49-F238E27FC236}">
                <a16:creationId xmlns:a16="http://schemas.microsoft.com/office/drawing/2014/main" id="{410BCE83-6CF5-4258-B6A0-5045F89E0BE7}"/>
              </a:ext>
            </a:extLst>
          </p:cNvPr>
          <p:cNvSpPr>
            <a:spLocks xmlns:a="http://schemas.openxmlformats.org/drawingml/2006/main" noGrp="1"/>
          </p:cNvSpPr>
          <p:nvPr/>
        </p:nvSpPr>
        <p:spPr>
          <a:xfrm xmlns:a="http://schemas.openxmlformats.org/drawingml/2006/main">
            <a:off x="3724275"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選書が面白くて</a:t>
            </a:r>
          </a:p>
          <a:p xmlns:a="http://schemas.openxmlformats.org/drawingml/2006/main">
            <a:pPr algn="ctr">
              <a:defRPr sz="1425" b="1">
                <a:solidFill>
                  <a:srgbClr val="0F1419"/>
                </a:solidFill>
              </a:defRPr>
            </a:pPr>
            <a:r>
              <a:rPr sz="1425" b="1">
                <a:solidFill>
                  <a:srgbClr val="0F1419"/>
                </a:solidFill>
              </a:rPr>
              <a:t>長居しました。</a:t>
            </a:r>
          </a:p>
        </p:txBody>
      </p:sp>
      <p:sp>
        <p:nvSpPr>
          <p:cNvPr id="11" name="">
            <a:extLst xmlns:a="http://schemas.openxmlformats.org/drawingml/2006/main">
              <a:ext uri="{FF2B5EF4-FFF2-40B4-BE49-F238E27FC236}">
                <a16:creationId xmlns:a16="http://schemas.microsoft.com/office/drawing/2014/main" id="{45648C41-46BD-41FA-AC03-C12F88B8C925}"/>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35518B6F-3F58-4B31-B7C3-99A108BF1C46}"/>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4DEB9AF0-2F2A-40B0-BA01-6B7E08C8BE9D}"/>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965C9A8C-AFAC-4978-BDEE-A408544C6B61}"/>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679D6238-58B9-46ED-9A1F-5E73BFD3D9D6}"/>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第三者の推奨は、店自身の宣伝より信頼されやすい傾向があります。</a:t>
            </a:r>
          </a:p>
        </p:txBody>
      </p:sp>
      <p:sp>
        <p:nvSpPr>
          <p:cNvPr id="16" name="">
            <a:extLst xmlns:a="http://schemas.openxmlformats.org/drawingml/2006/main">
              <a:ext uri="{FF2B5EF4-FFF2-40B4-BE49-F238E27FC236}">
                <a16:creationId xmlns:a16="http://schemas.microsoft.com/office/drawing/2014/main" id="{BBC2267D-68E9-4335-8E4C-3B2ABB27A124}"/>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8A8FDBBA-342B-4518-93E5-38159260AB19}"/>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649640BB-90A5-4EAD-9F04-CFA6B451AE17}"/>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ED2CD99C-9AB1-4540-BA31-DF9E5BD6BC53}"/>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B87B8C27-653D-436A-A7DD-ED8EF5994C2F}"/>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良い紹介をリポストし、引用で感謝と『伝えたかった点』を補足する。</a:t>
            </a:r>
          </a:p>
        </p:txBody>
      </p:sp>
      <p:sp>
        <p:nvSpPr>
          <p:cNvPr id="21" name="">
            <a:extLst xmlns:a="http://schemas.openxmlformats.org/drawingml/2006/main">
              <a:ext uri="{FF2B5EF4-FFF2-40B4-BE49-F238E27FC236}">
                <a16:creationId xmlns:a16="http://schemas.microsoft.com/office/drawing/2014/main" id="{74975BF3-D46C-4E73-959A-AC0275BD3EDD}"/>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273DE570-FFA3-4D61-B915-3B7AF353D0B7}"/>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14C50E19-C808-435D-9089-673E7A316A76}"/>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7472BEFE-8E05-4CF3-8269-0312D72ED530}"/>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0794F14B-5AF8-4C97-AF61-EECAF28C425C}"/>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紹介を見つけたら、感謝→共感→補足の順で引用しましょう。</a:t>
            </a:r>
          </a:p>
        </p:txBody>
      </p:sp>
      <p:sp>
        <p:nvSpPr>
          <p:cNvPr id="26" name="">
            <a:extLst xmlns:a="http://schemas.openxmlformats.org/drawingml/2006/main">
              <a:ext uri="{FF2B5EF4-FFF2-40B4-BE49-F238E27FC236}">
                <a16:creationId xmlns:a16="http://schemas.microsoft.com/office/drawing/2014/main" id="{E2C33222-2F15-4AA4-8467-DCE64CCDB9A6}"/>
              </a:ext>
            </a:extLst>
          </p:cNvPr>
          <p:cNvSpPr>
            <a:spLocks xmlns:a="http://schemas.openxmlformats.org/drawingml/2006/main" noGrp="1"/>
          </p:cNvSpPr>
          <p:nvPr/>
        </p:nvSpPr>
        <p:spPr>
          <a:xfrm xmlns:a="http://schemas.openxmlformats.org/drawingml/2006/main">
            <a:off x="6667500" y="5981700"/>
            <a:ext cx="476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0">
                <a:solidFill>
                  <a:srgbClr val="536471"/>
                </a:solidFill>
              </a:defRPr>
            </a:pPr>
            <a:r>
              <a:rPr sz="975" b="0">
                <a:solidFill>
                  <a:srgbClr val="536471"/>
                </a:solidFill>
              </a:rPr>
              <a:t>サードパーティ・エンドースメント＝第三者の推奨による信頼効果</a:t>
            </a:r>
          </a:p>
        </p:txBody>
      </p:sp>
      <p:sp>
        <p:nvSpPr>
          <p:cNvPr id="27" name="">
            <a:extLst xmlns:a="http://schemas.openxmlformats.org/drawingml/2006/main">
              <a:ext uri="{FF2B5EF4-FFF2-40B4-BE49-F238E27FC236}">
                <a16:creationId xmlns:a16="http://schemas.microsoft.com/office/drawing/2014/main" id="{E9AC03A8-9610-4330-A781-15AD1032EA51}"/>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8" name="">
            <a:extLst xmlns:a="http://schemas.openxmlformats.org/drawingml/2006/main">
              <a:ext uri="{FF2B5EF4-FFF2-40B4-BE49-F238E27FC236}">
                <a16:creationId xmlns:a16="http://schemas.microsoft.com/office/drawing/2014/main" id="{47744C6D-CCE7-4039-98C8-7EAFC3493E2A}"/>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18 / 22</a:t>
            </a:r>
          </a:p>
        </p:txBody>
      </p:sp>
      <p:sp>
        <p:nvSpPr>
          <p:cNvPr id="29" name="">
            <a:extLst xmlns:a="http://schemas.openxmlformats.org/drawingml/2006/main">
              <a:ext uri="{FF2B5EF4-FFF2-40B4-BE49-F238E27FC236}">
                <a16:creationId xmlns:a16="http://schemas.microsoft.com/office/drawing/2014/main" id="{6D05C68E-FDA2-4C13-A03D-FA60A88A6074}"/>
              </a:ext>
            </a:extLst>
          </p:cNvPr>
          <p:cNvSpPr>
            <a:spLocks xmlns:a="http://schemas.openxmlformats.org/drawingml/2006/main" noGrp="1"/>
          </p:cNvSpPr>
          <p:nvPr/>
        </p:nvSpPr>
        <p:spPr>
          <a:xfrm xmlns:a="http://schemas.openxmlformats.org/drawingml/2006/main">
            <a:off x="571500" y="6705600"/>
            <a:ext cx="9040091"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21598192"/>
      </p:ext>
    </p:extLst>
  </p:cSld>
</p:sld>
</file>

<file path=ppt/slides/slide19.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7087A05D-BBE1-464C-AF62-74072F2A11CA}"/>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3-7 / RESPONSE POLICY</a:t>
            </a:r>
          </a:p>
        </p:txBody>
      </p:sp>
      <p:sp>
        <p:nvSpPr>
          <p:cNvPr id="2" name="">
            <a:extLst xmlns:a="http://schemas.openxmlformats.org/drawingml/2006/main">
              <a:ext uri="{FF2B5EF4-FFF2-40B4-BE49-F238E27FC236}">
                <a16:creationId xmlns:a16="http://schemas.microsoft.com/office/drawing/2014/main" id="{9DD2A25F-405A-44CA-A9CD-3FA4AD671B86}"/>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ネガティブには、速さより冷静さ</a:t>
            </a:r>
          </a:p>
        </p:txBody>
      </p:sp>
      <p:sp>
        <p:nvSpPr>
          <p:cNvPr id="3" name="">
            <a:extLst xmlns:a="http://schemas.openxmlformats.org/drawingml/2006/main">
              <a:ext uri="{FF2B5EF4-FFF2-40B4-BE49-F238E27FC236}">
                <a16:creationId xmlns:a16="http://schemas.microsoft.com/office/drawing/2014/main" id="{C8F82614-C113-49D1-9ED9-6CBB45D8C5E1}"/>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基本は反応しない。必要な案件だけ事実確認して対応する。</a:t>
            </a:r>
          </a:p>
        </p:txBody>
      </p:sp>
      <p:sp>
        <p:nvSpPr>
          <p:cNvPr id="4" name="">
            <a:extLst xmlns:a="http://schemas.openxmlformats.org/drawingml/2006/main">
              <a:ext uri="{FF2B5EF4-FFF2-40B4-BE49-F238E27FC236}">
                <a16:creationId xmlns:a16="http://schemas.microsoft.com/office/drawing/2014/main" id="{60210A7C-CC24-4AFF-9E80-9AEF66A07ED4}"/>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A311EA58-5BE9-4D5B-AF9C-1F59F69F3DAD}"/>
              </a:ext>
            </a:extLst>
          </p:cNvPr>
          <p:cNvSpPr>
            <a:spLocks xmlns:a="http://schemas.openxmlformats.org/drawingml/2006/main" noGrp="1"/>
          </p:cNvSpPr>
          <p:nvPr/>
        </p:nvSpPr>
        <p:spPr>
          <a:xfrm xmlns:a="http://schemas.openxmlformats.org/drawingml/2006/main">
            <a:off x="2238375" y="2381250"/>
            <a:ext cx="2286000" cy="571500"/>
          </a:xfrm>
          <a:prstGeom xmlns:a="http://schemas.openxmlformats.org/drawingml/2006/main" prst="roundRect">
            <a:avLst>
              <a:gd name="adj" fmla="val 16667"/>
            </a:avLst>
          </a:prstGeom>
          <a:solidFill xmlns:a="http://schemas.openxmlformats.org/drawingml/2006/main">
            <a:srgbClr val="FFF0EF"/>
          </a:solidFill>
          <a:ln xmlns:a="http://schemas.openxmlformats.org/drawingml/2006/main" w="11430">
            <a:solidFill>
              <a:srgbClr val="F45D5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F45D5D"/>
                </a:solidFill>
              </a:defRPr>
            </a:pPr>
            <a:r>
              <a:rPr sz="1275" b="1">
                <a:solidFill>
                  <a:srgbClr val="F45D5D"/>
                </a:solidFill>
              </a:rPr>
              <a:t>ネガティブな反応</a:t>
            </a:r>
          </a:p>
        </p:txBody>
      </p:sp>
      <p:sp>
        <p:nvSpPr>
          <p:cNvPr id="6" name="">
            <a:extLst xmlns:a="http://schemas.openxmlformats.org/drawingml/2006/main">
              <a:ext uri="{FF2B5EF4-FFF2-40B4-BE49-F238E27FC236}">
                <a16:creationId xmlns:a16="http://schemas.microsoft.com/office/drawing/2014/main" id="{3F92272E-DD09-4A04-BCDA-5FB4E1EA2AC5}"/>
              </a:ext>
            </a:extLst>
          </p:cNvPr>
          <p:cNvSpPr>
            <a:spLocks xmlns:a="http://schemas.openxmlformats.org/drawingml/2006/main" noGrp="1"/>
          </p:cNvSpPr>
          <p:nvPr/>
        </p:nvSpPr>
        <p:spPr>
          <a:xfrm xmlns:a="http://schemas.openxmlformats.org/drawingml/2006/main">
            <a:off x="3238500" y="3000375"/>
            <a:ext cx="28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536471"/>
                </a:solidFill>
              </a:defRPr>
            </a:pPr>
            <a:r>
              <a:rPr sz="1800" b="1">
                <a:solidFill>
                  <a:srgbClr val="536471"/>
                </a:solidFill>
              </a:rPr>
              <a:t>↓</a:t>
            </a:r>
          </a:p>
        </p:txBody>
      </p:sp>
      <p:sp>
        <p:nvSpPr>
          <p:cNvPr id="7" name="">
            <a:extLst xmlns:a="http://schemas.openxmlformats.org/drawingml/2006/main">
              <a:ext uri="{FF2B5EF4-FFF2-40B4-BE49-F238E27FC236}">
                <a16:creationId xmlns:a16="http://schemas.microsoft.com/office/drawing/2014/main" id="{CC871ECD-9912-4A53-9291-A9ED77EA4219}"/>
              </a:ext>
            </a:extLst>
          </p:cNvPr>
          <p:cNvSpPr>
            <a:spLocks xmlns:a="http://schemas.openxmlformats.org/drawingml/2006/main" noGrp="1"/>
          </p:cNvSpPr>
          <p:nvPr/>
        </p:nvSpPr>
        <p:spPr>
          <a:xfrm xmlns:a="http://schemas.openxmlformats.org/drawingml/2006/main">
            <a:off x="1714500" y="3333750"/>
            <a:ext cx="3333750" cy="666750"/>
          </a:xfrm>
          <a:prstGeom xmlns:a="http://schemas.openxmlformats.org/drawingml/2006/main" prst="roundRect">
            <a:avLst>
              <a:gd name="adj" fmla="val 14286"/>
            </a:avLst>
          </a:prstGeom>
          <a:solidFill xmlns:a="http://schemas.openxmlformats.org/drawingml/2006/main">
            <a:srgbClr val="E8F5FD"/>
          </a:solidFill>
          <a:ln xmlns:a="http://schemas.openxmlformats.org/drawingml/2006/main" w="11430">
            <a:solidFill>
              <a:srgbClr val="1D9BF0"/>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事実確認・社内ルールを確認</a:t>
            </a:r>
          </a:p>
        </p:txBody>
      </p:sp>
      <p:sp>
        <p:nvSpPr>
          <p:cNvPr id="8" name="">
            <a:extLst xmlns:a="http://schemas.openxmlformats.org/drawingml/2006/main">
              <a:ext uri="{FF2B5EF4-FFF2-40B4-BE49-F238E27FC236}">
                <a16:creationId xmlns:a16="http://schemas.microsoft.com/office/drawing/2014/main" id="{9D121C4C-DF6E-4D39-AD87-098B7DE04070}"/>
              </a:ext>
            </a:extLst>
          </p:cNvPr>
          <p:cNvSpPr>
            <a:spLocks xmlns:a="http://schemas.openxmlformats.org/drawingml/2006/main" noGrp="1"/>
          </p:cNvSpPr>
          <p:nvPr/>
        </p:nvSpPr>
        <p:spPr>
          <a:xfrm xmlns:a="http://schemas.openxmlformats.org/drawingml/2006/main">
            <a:off x="1000125" y="4429125"/>
            <a:ext cx="1905000" cy="762000"/>
          </a:xfrm>
          <a:prstGeom xmlns:a="http://schemas.openxmlformats.org/drawingml/2006/main" prst="roundRect">
            <a:avLst>
              <a:gd name="adj" fmla="val 12500"/>
            </a:avLst>
          </a:prstGeom>
          <a:solidFill xmlns:a="http://schemas.openxmlformats.org/drawingml/2006/main">
            <a:srgbClr val="E5F8F0"/>
          </a:solidFill>
          <a:ln xmlns:a="http://schemas.openxmlformats.org/drawingml/2006/main" w="11430">
            <a:solidFill>
              <a:srgbClr val="00A86B"/>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00A86B"/>
                </a:solidFill>
              </a:defRPr>
            </a:pPr>
            <a:r>
              <a:rPr sz="1275" b="1">
                <a:solidFill>
                  <a:srgbClr val="00A86B"/>
                </a:solidFill>
              </a:rPr>
              <a:t>対応不要</a:t>
            </a:r>
          </a:p>
          <a:p xmlns:a="http://schemas.openxmlformats.org/drawingml/2006/main">
            <a:pPr algn="ctr">
              <a:defRPr sz="1275" b="1">
                <a:solidFill>
                  <a:srgbClr val="00A86B"/>
                </a:solidFill>
              </a:defRPr>
            </a:pPr>
            <a:r>
              <a:rPr sz="1275" b="1">
                <a:solidFill>
                  <a:srgbClr val="00A86B"/>
                </a:solidFill>
              </a:rPr>
              <a:t>記録して静観</a:t>
            </a:r>
          </a:p>
        </p:txBody>
      </p:sp>
      <p:sp>
        <p:nvSpPr>
          <p:cNvPr id="9" name="">
            <a:extLst xmlns:a="http://schemas.openxmlformats.org/drawingml/2006/main">
              <a:ext uri="{FF2B5EF4-FFF2-40B4-BE49-F238E27FC236}">
                <a16:creationId xmlns:a16="http://schemas.microsoft.com/office/drawing/2014/main" id="{E22E8E84-7DF7-4B6F-9522-FF1A224C7CC4}"/>
              </a:ext>
            </a:extLst>
          </p:cNvPr>
          <p:cNvSpPr>
            <a:spLocks xmlns:a="http://schemas.openxmlformats.org/drawingml/2006/main" noGrp="1"/>
          </p:cNvSpPr>
          <p:nvPr/>
        </p:nvSpPr>
        <p:spPr>
          <a:xfrm xmlns:a="http://schemas.openxmlformats.org/drawingml/2006/main">
            <a:off x="3857625" y="4429125"/>
            <a:ext cx="1905000" cy="762000"/>
          </a:xfrm>
          <a:prstGeom xmlns:a="http://schemas.openxmlformats.org/drawingml/2006/main" prst="roundRect">
            <a:avLst>
              <a:gd name="adj" fmla="val 12500"/>
            </a:avLst>
          </a:prstGeom>
          <a:solidFill xmlns:a="http://schemas.openxmlformats.org/drawingml/2006/main">
            <a:srgbClr val="FFFFFF"/>
          </a:solidFill>
          <a:ln xmlns:a="http://schemas.openxmlformats.org/drawingml/2006/main" w="11430">
            <a:solidFill>
              <a:srgbClr val="1D9BF0"/>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対応必要</a:t>
            </a:r>
          </a:p>
          <a:p xmlns:a="http://schemas.openxmlformats.org/drawingml/2006/main">
            <a:pPr algn="ctr">
              <a:defRPr sz="1275" b="1">
                <a:solidFill>
                  <a:srgbClr val="1D9BF0"/>
                </a:solidFill>
              </a:defRPr>
            </a:pPr>
            <a:r>
              <a:rPr sz="1275" b="1">
                <a:solidFill>
                  <a:srgbClr val="1D9BF0"/>
                </a:solidFill>
              </a:rPr>
              <a:t>責任者へ共有</a:t>
            </a:r>
          </a:p>
        </p:txBody>
      </p:sp>
      <p:sp>
        <p:nvSpPr>
          <p:cNvPr id="10" name="">
            <a:extLst xmlns:a="http://schemas.openxmlformats.org/drawingml/2006/main">
              <a:ext uri="{FF2B5EF4-FFF2-40B4-BE49-F238E27FC236}">
                <a16:creationId xmlns:a16="http://schemas.microsoft.com/office/drawing/2014/main" id="{C0BA1DC0-4DB5-4308-AA7A-C5B71FB07721}"/>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1" name="">
            <a:extLst xmlns:a="http://schemas.openxmlformats.org/drawingml/2006/main">
              <a:ext uri="{FF2B5EF4-FFF2-40B4-BE49-F238E27FC236}">
                <a16:creationId xmlns:a16="http://schemas.microsoft.com/office/drawing/2014/main" id="{79351A5D-B24F-4554-91C1-0500FB0976E0}"/>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F93818A-4666-4572-A65F-CE10644F7D43}"/>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3" name="">
            <a:extLst xmlns:a="http://schemas.openxmlformats.org/drawingml/2006/main">
              <a:ext uri="{FF2B5EF4-FFF2-40B4-BE49-F238E27FC236}">
                <a16:creationId xmlns:a16="http://schemas.microsoft.com/office/drawing/2014/main" id="{3B198D30-9A1A-46C5-AA0F-636A54333417}"/>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4" name="">
            <a:extLst xmlns:a="http://schemas.openxmlformats.org/drawingml/2006/main">
              <a:ext uri="{FF2B5EF4-FFF2-40B4-BE49-F238E27FC236}">
                <a16:creationId xmlns:a16="http://schemas.microsoft.com/office/drawing/2014/main" id="{516C7877-0FE0-4F29-BEF5-9B0027476764}"/>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感情的な応酬は話題を広げ、店舗とお客様の双方に不利益を生みます。</a:t>
            </a:r>
          </a:p>
        </p:txBody>
      </p:sp>
      <p:sp>
        <p:nvSpPr>
          <p:cNvPr id="15" name="">
            <a:extLst xmlns:a="http://schemas.openxmlformats.org/drawingml/2006/main">
              <a:ext uri="{FF2B5EF4-FFF2-40B4-BE49-F238E27FC236}">
                <a16:creationId xmlns:a16="http://schemas.microsoft.com/office/drawing/2014/main" id="{70B75EB8-29C4-4EDA-9539-919A611EE601}"/>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6" name="">
            <a:extLst xmlns:a="http://schemas.openxmlformats.org/drawingml/2006/main">
              <a:ext uri="{FF2B5EF4-FFF2-40B4-BE49-F238E27FC236}">
                <a16:creationId xmlns:a16="http://schemas.microsoft.com/office/drawing/2014/main" id="{95FD499B-805F-42AA-8BAF-C103262B6A13}"/>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598AA83B-0180-4474-B5AE-E8DC9646A309}"/>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8" name="">
            <a:extLst xmlns:a="http://schemas.openxmlformats.org/drawingml/2006/main">
              <a:ext uri="{FF2B5EF4-FFF2-40B4-BE49-F238E27FC236}">
                <a16:creationId xmlns:a16="http://schemas.microsoft.com/office/drawing/2014/main" id="{818B3E3F-8E93-407A-898D-F5060C404080}"/>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19" name="">
            <a:extLst xmlns:a="http://schemas.openxmlformats.org/drawingml/2006/main">
              <a:ext uri="{FF2B5EF4-FFF2-40B4-BE49-F238E27FC236}">
                <a16:creationId xmlns:a16="http://schemas.microsoft.com/office/drawing/2014/main" id="{37CAB145-251A-415A-9706-EF99DEBB7B2F}"/>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意見は記録してスルー。誤情報・安全・個人情報は社内ルールへ即時共有。</a:t>
            </a:r>
          </a:p>
        </p:txBody>
      </p:sp>
      <p:sp>
        <p:nvSpPr>
          <p:cNvPr id="20" name="">
            <a:extLst xmlns:a="http://schemas.openxmlformats.org/drawingml/2006/main">
              <a:ext uri="{FF2B5EF4-FFF2-40B4-BE49-F238E27FC236}">
                <a16:creationId xmlns:a16="http://schemas.microsoft.com/office/drawing/2014/main" id="{AC7CE683-4DF9-4750-875C-1302CBF18098}"/>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1" name="">
            <a:extLst xmlns:a="http://schemas.openxmlformats.org/drawingml/2006/main">
              <a:ext uri="{FF2B5EF4-FFF2-40B4-BE49-F238E27FC236}">
                <a16:creationId xmlns:a16="http://schemas.microsoft.com/office/drawing/2014/main" id="{C9C77903-AA5F-49DA-9319-5654BDC17F1F}"/>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76B334A4-96A8-4DAA-B05B-84850D637BA2}"/>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3" name="">
            <a:extLst xmlns:a="http://schemas.openxmlformats.org/drawingml/2006/main">
              <a:ext uri="{FF2B5EF4-FFF2-40B4-BE49-F238E27FC236}">
                <a16:creationId xmlns:a16="http://schemas.microsoft.com/office/drawing/2014/main" id="{E203C2DE-7678-45EF-AE2F-82780F3171F2}"/>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4" name="">
            <a:extLst xmlns:a="http://schemas.openxmlformats.org/drawingml/2006/main">
              <a:ext uri="{FF2B5EF4-FFF2-40B4-BE49-F238E27FC236}">
                <a16:creationId xmlns:a16="http://schemas.microsoft.com/office/drawing/2014/main" id="{2C093F36-D115-402F-BA6B-39F23ECC82B9}"/>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返信前に『公開回答が必要か』を確認する判断フローを決めましょう。</a:t>
            </a:r>
          </a:p>
        </p:txBody>
      </p:sp>
      <p:sp>
        <p:nvSpPr>
          <p:cNvPr id="25" name="">
            <a:extLst xmlns:a="http://schemas.openxmlformats.org/drawingml/2006/main">
              <a:ext uri="{FF2B5EF4-FFF2-40B4-BE49-F238E27FC236}">
                <a16:creationId xmlns:a16="http://schemas.microsoft.com/office/drawing/2014/main" id="{CC8E06F2-108A-4A4D-885D-374DF1921574}"/>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6" name="">
            <a:extLst xmlns:a="http://schemas.openxmlformats.org/drawingml/2006/main">
              <a:ext uri="{FF2B5EF4-FFF2-40B4-BE49-F238E27FC236}">
                <a16:creationId xmlns:a16="http://schemas.microsoft.com/office/drawing/2014/main" id="{6A946C72-3D85-4808-8F31-D5FB2DC25DF2}"/>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19 / 22</a:t>
            </a:r>
          </a:p>
        </p:txBody>
      </p:sp>
      <p:sp>
        <p:nvSpPr>
          <p:cNvPr id="27" name="">
            <a:extLst xmlns:a="http://schemas.openxmlformats.org/drawingml/2006/main">
              <a:ext uri="{FF2B5EF4-FFF2-40B4-BE49-F238E27FC236}">
                <a16:creationId xmlns:a16="http://schemas.microsoft.com/office/drawing/2014/main" id="{6738CAB4-4161-4EBB-85B6-F50308EE9220}"/>
              </a:ext>
            </a:extLst>
          </p:cNvPr>
          <p:cNvSpPr>
            <a:spLocks xmlns:a="http://schemas.openxmlformats.org/drawingml/2006/main" noGrp="1"/>
          </p:cNvSpPr>
          <p:nvPr/>
        </p:nvSpPr>
        <p:spPr>
          <a:xfrm xmlns:a="http://schemas.openxmlformats.org/drawingml/2006/main">
            <a:off x="571500" y="6705600"/>
            <a:ext cx="9542318"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633482663"/>
      </p:ext>
    </p:extLst>
  </p:cSld>
</p:sld>
</file>

<file path=ppt/slides/slide20.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03B1FD31-7948-4262-B482-88307620F2D3}"/>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3-8 / BRAND FIT</a:t>
            </a:r>
          </a:p>
        </p:txBody>
      </p:sp>
      <p:sp>
        <p:nvSpPr>
          <p:cNvPr id="2" name="">
            <a:extLst xmlns:a="http://schemas.openxmlformats.org/drawingml/2006/main">
              <a:ext uri="{FF2B5EF4-FFF2-40B4-BE49-F238E27FC236}">
                <a16:creationId xmlns:a16="http://schemas.microsoft.com/office/drawing/2014/main" id="{E0EBD486-649C-416D-A40E-21BEF73EF9B9}"/>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本以外の投稿も、本との接点をつくる</a:t>
            </a:r>
          </a:p>
        </p:txBody>
      </p:sp>
      <p:sp>
        <p:nvSpPr>
          <p:cNvPr id="3" name="">
            <a:extLst xmlns:a="http://schemas.openxmlformats.org/drawingml/2006/main">
              <a:ext uri="{FF2B5EF4-FFF2-40B4-BE49-F238E27FC236}">
                <a16:creationId xmlns:a16="http://schemas.microsoft.com/office/drawing/2014/main" id="{0DA9F797-A631-4E45-B591-9D3D09B8543C}"/>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話題を広げても、アカウントの軸は手放さない。</a:t>
            </a:r>
          </a:p>
        </p:txBody>
      </p:sp>
      <p:sp>
        <p:nvSpPr>
          <p:cNvPr id="4" name="">
            <a:extLst xmlns:a="http://schemas.openxmlformats.org/drawingml/2006/main">
              <a:ext uri="{FF2B5EF4-FFF2-40B4-BE49-F238E27FC236}">
                <a16:creationId xmlns:a16="http://schemas.microsoft.com/office/drawing/2014/main" id="{3BD6B716-58F7-45A2-8F58-4CCCEF30FEC5}"/>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27A31D56-FEFE-4C5D-B340-1770D902AEEC}"/>
              </a:ext>
            </a:extLst>
          </p:cNvPr>
          <p:cNvSpPr>
            <a:spLocks xmlns:a="http://schemas.openxmlformats.org/drawingml/2006/main" noGrp="1"/>
          </p:cNvSpPr>
          <p:nvPr/>
        </p:nvSpPr>
        <p:spPr>
          <a:xfrm xmlns:a="http://schemas.openxmlformats.org/drawingml/2006/main">
            <a:off x="2695575" y="3362325"/>
            <a:ext cx="1371600" cy="1371600"/>
          </a:xfrm>
          <a:prstGeom xmlns:a="http://schemas.openxmlformats.org/drawingml/2006/main" prst="ellipse">
            <a:avLst/>
          </a:prstGeom>
          <a:solidFill xmlns:a="http://schemas.openxmlformats.org/drawingml/2006/main">
            <a:srgbClr val="0F1419"/>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CDF51F49-D4BE-438D-894C-B2AB2307AC84}"/>
              </a:ext>
            </a:extLst>
          </p:cNvPr>
          <p:cNvSpPr>
            <a:spLocks xmlns:a="http://schemas.openxmlformats.org/drawingml/2006/main" noGrp="1"/>
          </p:cNvSpPr>
          <p:nvPr/>
        </p:nvSpPr>
        <p:spPr>
          <a:xfrm xmlns:a="http://schemas.openxmlformats.org/drawingml/2006/main">
            <a:off x="2857500" y="3876675"/>
            <a:ext cx="1047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FFFFF"/>
                </a:solidFill>
              </a:defRPr>
            </a:pPr>
            <a:r>
              <a:rPr sz="1425" b="1">
                <a:solidFill>
                  <a:srgbClr val="FFFFFF"/>
                </a:solidFill>
              </a:rPr>
              <a:t>本との接点</a:t>
            </a:r>
          </a:p>
        </p:txBody>
      </p:sp>
      <p:sp>
        <p:nvSpPr>
          <p:cNvPr id="7" name="">
            <a:extLst xmlns:a="http://schemas.openxmlformats.org/drawingml/2006/main">
              <a:ext uri="{FF2B5EF4-FFF2-40B4-BE49-F238E27FC236}">
                <a16:creationId xmlns:a16="http://schemas.microsoft.com/office/drawing/2014/main" id="{5FF313AD-DA26-4377-941A-B34B7A4594B7}"/>
              </a:ext>
            </a:extLst>
          </p:cNvPr>
          <p:cNvSpPr>
            <a:spLocks xmlns:a="http://schemas.openxmlformats.org/drawingml/2006/main" noGrp="1"/>
          </p:cNvSpPr>
          <p:nvPr/>
        </p:nvSpPr>
        <p:spPr>
          <a:xfrm xmlns:a="http://schemas.openxmlformats.org/drawingml/2006/main">
            <a:off x="952500" y="2524125"/>
            <a:ext cx="1143000" cy="523875"/>
          </a:xfrm>
          <a:prstGeom xmlns:a="http://schemas.openxmlformats.org/drawingml/2006/main" prst="roundRect">
            <a:avLst>
              <a:gd name="adj" fmla="val 18182"/>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食品</a:t>
            </a:r>
          </a:p>
        </p:txBody>
      </p:sp>
      <p:sp>
        <p:nvSpPr>
          <p:cNvPr id="8" name="">
            <a:extLst xmlns:a="http://schemas.openxmlformats.org/drawingml/2006/main">
              <a:ext uri="{FF2B5EF4-FFF2-40B4-BE49-F238E27FC236}">
                <a16:creationId xmlns:a16="http://schemas.microsoft.com/office/drawing/2014/main" id="{FE56BC15-E750-43B8-BA7F-EC41CE626F31}"/>
              </a:ext>
            </a:extLst>
          </p:cNvPr>
          <p:cNvSpPr>
            <a:spLocks xmlns:a="http://schemas.openxmlformats.org/drawingml/2006/main" noGrp="1"/>
          </p:cNvSpPr>
          <p:nvPr/>
        </p:nvSpPr>
        <p:spPr>
          <a:xfrm xmlns:a="http://schemas.openxmlformats.org/drawingml/2006/main">
            <a:off x="4667250" y="2524125"/>
            <a:ext cx="1143000" cy="523875"/>
          </a:xfrm>
          <a:prstGeom xmlns:a="http://schemas.openxmlformats.org/drawingml/2006/main" prst="roundRect">
            <a:avLst>
              <a:gd name="adj" fmla="val 18182"/>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文具</a:t>
            </a:r>
          </a:p>
        </p:txBody>
      </p:sp>
      <p:sp>
        <p:nvSpPr>
          <p:cNvPr id="9" name="">
            <a:extLst xmlns:a="http://schemas.openxmlformats.org/drawingml/2006/main">
              <a:ext uri="{FF2B5EF4-FFF2-40B4-BE49-F238E27FC236}">
                <a16:creationId xmlns:a16="http://schemas.microsoft.com/office/drawing/2014/main" id="{620996C2-D0BB-40CE-BD4A-18691D46B390}"/>
              </a:ext>
            </a:extLst>
          </p:cNvPr>
          <p:cNvSpPr>
            <a:spLocks xmlns:a="http://schemas.openxmlformats.org/drawingml/2006/main" noGrp="1"/>
          </p:cNvSpPr>
          <p:nvPr/>
        </p:nvSpPr>
        <p:spPr>
          <a:xfrm xmlns:a="http://schemas.openxmlformats.org/drawingml/2006/main">
            <a:off x="2809875" y="5143500"/>
            <a:ext cx="1143000" cy="523875"/>
          </a:xfrm>
          <a:prstGeom xmlns:a="http://schemas.openxmlformats.org/drawingml/2006/main" prst="roundRect">
            <a:avLst>
              <a:gd name="adj" fmla="val 18182"/>
            </a:avLst>
          </a:prstGeom>
          <a:solidFill xmlns:a="http://schemas.openxmlformats.org/drawingml/2006/main">
            <a:srgbClr val="E8F5FD"/>
          </a:solidFill>
          <a:ln xmlns:a="http://schemas.openxmlformats.org/drawingml/2006/main" w="11430">
            <a:solidFill>
              <a:srgbClr val="E4E9ED"/>
            </a:solidFill>
            <a:prstDash val="solid"/>
          </a:ln>
        </p:spPr>
        <p:txBody>
          <a:bodyPr xmlns:a="http://schemas.openxmlformats.org/drawingml/2006/main"/>
          <a:lstStyle xmlns:a="http://schemas.openxmlformats.org/drawingml/2006/main"/>
          <a:p xmlns:a="http://schemas.openxmlformats.org/drawingml/2006/main">
            <a:pPr algn="ctr">
              <a:defRPr sz="1275" b="1">
                <a:solidFill>
                  <a:srgbClr val="1D9BF0"/>
                </a:solidFill>
              </a:defRPr>
            </a:pPr>
            <a:r>
              <a:rPr sz="1275" b="1">
                <a:solidFill>
                  <a:srgbClr val="1D9BF0"/>
                </a:solidFill>
              </a:rPr>
              <a:t>イベント</a:t>
            </a:r>
          </a:p>
        </p:txBody>
      </p:sp>
      <p:sp>
        <p:nvSpPr>
          <p:cNvPr id="10" name="">
            <a:extLst xmlns:a="http://schemas.openxmlformats.org/drawingml/2006/main">
              <a:ext uri="{FF2B5EF4-FFF2-40B4-BE49-F238E27FC236}">
                <a16:creationId xmlns:a16="http://schemas.microsoft.com/office/drawing/2014/main" id="{78AB1B85-2F77-417C-9D6B-9B8AB46C3306}"/>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1" name="">
            <a:extLst xmlns:a="http://schemas.openxmlformats.org/drawingml/2006/main">
              <a:ext uri="{FF2B5EF4-FFF2-40B4-BE49-F238E27FC236}">
                <a16:creationId xmlns:a16="http://schemas.microsoft.com/office/drawing/2014/main" id="{4D821AEF-20F9-4902-B8EA-30D1EF2532E8}"/>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D81A3DC1-1BE6-4A2F-8791-EE94A1113B60}"/>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3" name="">
            <a:extLst xmlns:a="http://schemas.openxmlformats.org/drawingml/2006/main">
              <a:ext uri="{FF2B5EF4-FFF2-40B4-BE49-F238E27FC236}">
                <a16:creationId xmlns:a16="http://schemas.microsoft.com/office/drawing/2014/main" id="{B117020A-E10E-4247-9698-872B445AB0E0}"/>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4" name="">
            <a:extLst xmlns:a="http://schemas.openxmlformats.org/drawingml/2006/main">
              <a:ext uri="{FF2B5EF4-FFF2-40B4-BE49-F238E27FC236}">
                <a16:creationId xmlns:a16="http://schemas.microsoft.com/office/drawing/2014/main" id="{AA7D533F-A9DB-4E90-839F-EFF6832BBB10}"/>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食品・文具・イベントも、書店らしい視点で語れば専門性の一部になります。</a:t>
            </a:r>
          </a:p>
        </p:txBody>
      </p:sp>
      <p:sp>
        <p:nvSpPr>
          <p:cNvPr id="15" name="">
            <a:extLst xmlns:a="http://schemas.openxmlformats.org/drawingml/2006/main">
              <a:ext uri="{FF2B5EF4-FFF2-40B4-BE49-F238E27FC236}">
                <a16:creationId xmlns:a16="http://schemas.microsoft.com/office/drawing/2014/main" id="{50EA86F2-3B92-4224-8ADC-FF1AE489054E}"/>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6" name="">
            <a:extLst xmlns:a="http://schemas.openxmlformats.org/drawingml/2006/main">
              <a:ext uri="{FF2B5EF4-FFF2-40B4-BE49-F238E27FC236}">
                <a16:creationId xmlns:a16="http://schemas.microsoft.com/office/drawing/2014/main" id="{48979FA1-F895-464F-B674-50A46F6BECF7}"/>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AE2101D8-3D7E-4053-9716-76BB99899C8A}"/>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8" name="">
            <a:extLst xmlns:a="http://schemas.openxmlformats.org/drawingml/2006/main">
              <a:ext uri="{FF2B5EF4-FFF2-40B4-BE49-F238E27FC236}">
                <a16:creationId xmlns:a16="http://schemas.microsoft.com/office/drawing/2014/main" id="{E1811ADF-1F97-4CB3-8429-B4D865F93C78}"/>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19" name="">
            <a:extLst xmlns:a="http://schemas.openxmlformats.org/drawingml/2006/main">
              <a:ext uri="{FF2B5EF4-FFF2-40B4-BE49-F238E27FC236}">
                <a16:creationId xmlns:a16="http://schemas.microsoft.com/office/drawing/2014/main" id="{68D9D2EA-5E7E-4481-B965-C4C8C12662F0}"/>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『北海道野菜が登場』→『料理本と巡る北海道フェア』へ。</a:t>
            </a:r>
          </a:p>
        </p:txBody>
      </p:sp>
      <p:sp>
        <p:nvSpPr>
          <p:cNvPr id="20" name="">
            <a:extLst xmlns:a="http://schemas.openxmlformats.org/drawingml/2006/main">
              <a:ext uri="{FF2B5EF4-FFF2-40B4-BE49-F238E27FC236}">
                <a16:creationId xmlns:a16="http://schemas.microsoft.com/office/drawing/2014/main" id="{2A1E7CF6-A46C-40EE-94A2-A8552BCED742}"/>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1" name="">
            <a:extLst xmlns:a="http://schemas.openxmlformats.org/drawingml/2006/main">
              <a:ext uri="{FF2B5EF4-FFF2-40B4-BE49-F238E27FC236}">
                <a16:creationId xmlns:a16="http://schemas.microsoft.com/office/drawing/2014/main" id="{9D977320-EA69-4C0E-95AA-7BF0605AE520}"/>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6AE7E7BB-7474-4FD8-A3B2-DA6DD167E43F}"/>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3" name="">
            <a:extLst xmlns:a="http://schemas.openxmlformats.org/drawingml/2006/main">
              <a:ext uri="{FF2B5EF4-FFF2-40B4-BE49-F238E27FC236}">
                <a16:creationId xmlns:a16="http://schemas.microsoft.com/office/drawing/2014/main" id="{9EB3DC3C-19C5-42DC-B862-6FEA1EE5A597}"/>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4" name="">
            <a:extLst xmlns:a="http://schemas.openxmlformats.org/drawingml/2006/main">
              <a:ext uri="{FF2B5EF4-FFF2-40B4-BE49-F238E27FC236}">
                <a16:creationId xmlns:a16="http://schemas.microsoft.com/office/drawing/2014/main" id="{47B7B158-123D-47ED-B2FD-BB84416D45C9}"/>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投稿前に『本・読書・書店との接点』を一言加えましょう。</a:t>
            </a:r>
          </a:p>
        </p:txBody>
      </p:sp>
      <p:sp>
        <p:nvSpPr>
          <p:cNvPr id="25" name="">
            <a:extLst xmlns:a="http://schemas.openxmlformats.org/drawingml/2006/main">
              <a:ext uri="{FF2B5EF4-FFF2-40B4-BE49-F238E27FC236}">
                <a16:creationId xmlns:a16="http://schemas.microsoft.com/office/drawing/2014/main" id="{E7944EBF-8DFE-4BEB-8063-CFBE4B70F687}"/>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6" name="">
            <a:extLst xmlns:a="http://schemas.openxmlformats.org/drawingml/2006/main">
              <a:ext uri="{FF2B5EF4-FFF2-40B4-BE49-F238E27FC236}">
                <a16:creationId xmlns:a16="http://schemas.microsoft.com/office/drawing/2014/main" id="{94BC2EFD-C13D-48DA-84D4-FFCA201210A1}"/>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20 / 22</a:t>
            </a:r>
          </a:p>
        </p:txBody>
      </p:sp>
      <p:sp>
        <p:nvSpPr>
          <p:cNvPr id="27" name="">
            <a:extLst xmlns:a="http://schemas.openxmlformats.org/drawingml/2006/main">
              <a:ext uri="{FF2B5EF4-FFF2-40B4-BE49-F238E27FC236}">
                <a16:creationId xmlns:a16="http://schemas.microsoft.com/office/drawing/2014/main" id="{38773812-E2AC-4F6A-BF21-ADAC1882C192}"/>
              </a:ext>
            </a:extLst>
          </p:cNvPr>
          <p:cNvSpPr>
            <a:spLocks xmlns:a="http://schemas.openxmlformats.org/drawingml/2006/main" noGrp="1"/>
          </p:cNvSpPr>
          <p:nvPr/>
        </p:nvSpPr>
        <p:spPr>
          <a:xfrm xmlns:a="http://schemas.openxmlformats.org/drawingml/2006/main">
            <a:off x="571500" y="6705600"/>
            <a:ext cx="10044545"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325614825"/>
      </p:ext>
    </p:extLst>
  </p:cSld>
</p:sld>
</file>

<file path=ppt/slides/slide21.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84A9634D-D8B0-4104-BE38-34A33F652448}"/>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3-9 / EVENT COPY</a:t>
            </a:r>
          </a:p>
        </p:txBody>
      </p:sp>
      <p:sp>
        <p:nvSpPr>
          <p:cNvPr id="2" name="">
            <a:extLst xmlns:a="http://schemas.openxmlformats.org/drawingml/2006/main">
              <a:ext uri="{FF2B5EF4-FFF2-40B4-BE49-F238E27FC236}">
                <a16:creationId xmlns:a16="http://schemas.microsoft.com/office/drawing/2014/main" id="{E0A653F9-22B5-4A26-B5F4-AA942AF4BA50}"/>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イベントは、告知より体験を予告する</a:t>
            </a:r>
          </a:p>
        </p:txBody>
      </p:sp>
      <p:sp>
        <p:nvSpPr>
          <p:cNvPr id="3" name="">
            <a:extLst xmlns:a="http://schemas.openxmlformats.org/drawingml/2006/main">
              <a:ext uri="{FF2B5EF4-FFF2-40B4-BE49-F238E27FC236}">
                <a16:creationId xmlns:a16="http://schemas.microsoft.com/office/drawing/2014/main" id="{C2C6C9E8-DFC8-440C-99AC-3F88DAB9AC36}"/>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日時を伝えるだけでなく、店頭で何が起きるかを想像させる。</a:t>
            </a:r>
          </a:p>
        </p:txBody>
      </p:sp>
      <p:sp>
        <p:nvSpPr>
          <p:cNvPr id="4" name="">
            <a:extLst xmlns:a="http://schemas.openxmlformats.org/drawingml/2006/main">
              <a:ext uri="{FF2B5EF4-FFF2-40B4-BE49-F238E27FC236}">
                <a16:creationId xmlns:a16="http://schemas.microsoft.com/office/drawing/2014/main" id="{59B78072-3374-4325-9C7F-421B37779C28}"/>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77E64325-5D5B-439A-AE5C-1B898FB47C4D}"/>
              </a:ext>
            </a:extLst>
          </p:cNvPr>
          <p:cNvSpPr>
            <a:spLocks xmlns:a="http://schemas.openxmlformats.org/drawingml/2006/main" noGrp="1"/>
          </p:cNvSpPr>
          <p:nvPr/>
        </p:nvSpPr>
        <p:spPr>
          <a:xfrm xmlns:a="http://schemas.openxmlformats.org/drawingml/2006/main">
            <a:off x="800100" y="2495550"/>
            <a:ext cx="2486025" cy="3105150"/>
          </a:xfrm>
          <a:prstGeom xmlns:a="http://schemas.openxmlformats.org/drawingml/2006/main" prst="roundRect">
            <a:avLst>
              <a:gd name="adj" fmla="val 4598"/>
            </a:avLst>
          </a:prstGeom>
          <a:solidFill xmlns:a="http://schemas.openxmlformats.org/drawingml/2006/main">
            <a:srgbClr val="FFF0EF"/>
          </a:solidFill>
          <a:ln xmlns:a="http://schemas.openxmlformats.org/drawingml/2006/main" w="11430">
            <a:solidFill>
              <a:srgbClr val="E4E9ED"/>
            </a:solidFill>
            <a:prstDash val="solid"/>
          </a:ln>
        </p:spPr>
      </p:sp>
      <p:sp>
        <p:nvSpPr>
          <p:cNvPr id="6" name="">
            <a:extLst xmlns:a="http://schemas.openxmlformats.org/drawingml/2006/main">
              <a:ext uri="{FF2B5EF4-FFF2-40B4-BE49-F238E27FC236}">
                <a16:creationId xmlns:a16="http://schemas.microsoft.com/office/drawing/2014/main" id="{1A8559FE-B0A7-4BB7-8377-5D1E6CE94D77}"/>
              </a:ext>
            </a:extLst>
          </p:cNvPr>
          <p:cNvSpPr>
            <a:spLocks xmlns:a="http://schemas.openxmlformats.org/drawingml/2006/main" noGrp="1"/>
          </p:cNvSpPr>
          <p:nvPr/>
        </p:nvSpPr>
        <p:spPr>
          <a:xfrm xmlns:a="http://schemas.openxmlformats.org/drawingml/2006/main">
            <a:off x="3476625" y="2495550"/>
            <a:ext cx="2486025" cy="3105150"/>
          </a:xfrm>
          <a:prstGeom xmlns:a="http://schemas.openxmlformats.org/drawingml/2006/main" prst="roundRect">
            <a:avLst>
              <a:gd name="adj" fmla="val 4598"/>
            </a:avLst>
          </a:prstGeom>
          <a:solidFill xmlns:a="http://schemas.openxmlformats.org/drawingml/2006/main">
            <a:srgbClr val="E5F8F0"/>
          </a:solidFill>
          <a:ln xmlns:a="http://schemas.openxmlformats.org/drawingml/2006/main" w="11430">
            <a:solidFill>
              <a:srgbClr val="E4E9ED"/>
            </a:solidFill>
            <a:prstDash val="solid"/>
          </a:ln>
        </p:spPr>
      </p:sp>
      <p:sp>
        <p:nvSpPr>
          <p:cNvPr id="7" name="">
            <a:extLst xmlns:a="http://schemas.openxmlformats.org/drawingml/2006/main">
              <a:ext uri="{FF2B5EF4-FFF2-40B4-BE49-F238E27FC236}">
                <a16:creationId xmlns:a16="http://schemas.microsoft.com/office/drawing/2014/main" id="{D3BDF0FB-3BA4-460F-8B66-AA4FFE454FE3}"/>
              </a:ext>
            </a:extLst>
          </p:cNvPr>
          <p:cNvSpPr>
            <a:spLocks xmlns:a="http://schemas.openxmlformats.org/drawingml/2006/main" noGrp="1"/>
          </p:cNvSpPr>
          <p:nvPr/>
        </p:nvSpPr>
        <p:spPr>
          <a:xfrm xmlns:a="http://schemas.openxmlformats.org/drawingml/2006/main">
            <a:off x="990600"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F45D5D"/>
                </a:solidFill>
              </a:defRPr>
            </a:pPr>
            <a:r>
              <a:rPr sz="1050" b="1">
                <a:solidFill>
                  <a:srgbClr val="F45D5D"/>
                </a:solidFill>
              </a:rPr>
              <a:t>×  事務連絡</a:t>
            </a:r>
          </a:p>
        </p:txBody>
      </p:sp>
      <p:sp>
        <p:nvSpPr>
          <p:cNvPr id="8" name="">
            <a:extLst xmlns:a="http://schemas.openxmlformats.org/drawingml/2006/main">
              <a:ext uri="{FF2B5EF4-FFF2-40B4-BE49-F238E27FC236}">
                <a16:creationId xmlns:a16="http://schemas.microsoft.com/office/drawing/2014/main" id="{8E493E86-A1F8-4B2B-9E68-ECA81F571F34}"/>
              </a:ext>
            </a:extLst>
          </p:cNvPr>
          <p:cNvSpPr>
            <a:spLocks xmlns:a="http://schemas.openxmlformats.org/drawingml/2006/main" noGrp="1"/>
          </p:cNvSpPr>
          <p:nvPr/>
        </p:nvSpPr>
        <p:spPr>
          <a:xfrm xmlns:a="http://schemas.openxmlformats.org/drawingml/2006/main">
            <a:off x="3667125" y="2686050"/>
            <a:ext cx="2105025" cy="323850"/>
          </a:xfrm>
          <a:prstGeom xmlns:a="http://schemas.openxmlformats.org/drawingml/2006/main" prst="roundRect">
            <a:avLst>
              <a:gd name="adj" fmla="val 23529"/>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050" b="1">
                <a:solidFill>
                  <a:srgbClr val="00A86B"/>
                </a:solidFill>
              </a:defRPr>
            </a:pPr>
            <a:r>
              <a:rPr sz="1050" b="1">
                <a:solidFill>
                  <a:srgbClr val="00A86B"/>
                </a:solidFill>
              </a:rPr>
              <a:t>○  体験を予告</a:t>
            </a:r>
          </a:p>
        </p:txBody>
      </p:sp>
      <p:sp>
        <p:nvSpPr>
          <p:cNvPr id="9" name="">
            <a:extLst xmlns:a="http://schemas.openxmlformats.org/drawingml/2006/main">
              <a:ext uri="{FF2B5EF4-FFF2-40B4-BE49-F238E27FC236}">
                <a16:creationId xmlns:a16="http://schemas.microsoft.com/office/drawing/2014/main" id="{F310D2E1-9DFD-43CB-BDED-CCAF07EB709E}"/>
              </a:ext>
            </a:extLst>
          </p:cNvPr>
          <p:cNvSpPr>
            <a:spLocks xmlns:a="http://schemas.openxmlformats.org/drawingml/2006/main" noGrp="1"/>
          </p:cNvSpPr>
          <p:nvPr/>
        </p:nvSpPr>
        <p:spPr>
          <a:xfrm xmlns:a="http://schemas.openxmlformats.org/drawingml/2006/main">
            <a:off x="1047750"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○月○日に</a:t>
            </a:r>
          </a:p>
          <a:p xmlns:a="http://schemas.openxmlformats.org/drawingml/2006/main">
            <a:pPr algn="ctr">
              <a:defRPr sz="1425" b="1">
                <a:solidFill>
                  <a:srgbClr val="0F1419"/>
                </a:solidFill>
              </a:defRPr>
            </a:pPr>
            <a:r>
              <a:rPr sz="1425" b="1">
                <a:solidFill>
                  <a:srgbClr val="0F1419"/>
                </a:solidFill>
              </a:rPr>
              <a:t>イベントを開催します。</a:t>
            </a:r>
          </a:p>
        </p:txBody>
      </p:sp>
      <p:sp>
        <p:nvSpPr>
          <p:cNvPr id="10" name="">
            <a:extLst xmlns:a="http://schemas.openxmlformats.org/drawingml/2006/main">
              <a:ext uri="{FF2B5EF4-FFF2-40B4-BE49-F238E27FC236}">
                <a16:creationId xmlns:a16="http://schemas.microsoft.com/office/drawing/2014/main" id="{D1F036F5-7715-497B-B18B-85AD57F537AE}"/>
              </a:ext>
            </a:extLst>
          </p:cNvPr>
          <p:cNvSpPr>
            <a:spLocks xmlns:a="http://schemas.openxmlformats.org/drawingml/2006/main" noGrp="1"/>
          </p:cNvSpPr>
          <p:nvPr/>
        </p:nvSpPr>
        <p:spPr>
          <a:xfrm xmlns:a="http://schemas.openxmlformats.org/drawingml/2006/main">
            <a:off x="3724275" y="3333750"/>
            <a:ext cx="1990725" cy="2000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F1419"/>
                </a:solidFill>
              </a:defRPr>
            </a:pPr>
            <a:r>
              <a:rPr sz="1425" b="1">
                <a:solidFill>
                  <a:srgbClr val="0F1419"/>
                </a:solidFill>
              </a:rPr>
              <a:t>書店の真ん中で</a:t>
            </a:r>
          </a:p>
          <a:p xmlns:a="http://schemas.openxmlformats.org/drawingml/2006/main">
            <a:pPr algn="ctr">
              <a:defRPr sz="1425" b="1">
                <a:solidFill>
                  <a:srgbClr val="0F1419"/>
                </a:solidFill>
              </a:defRPr>
            </a:pPr>
            <a:r>
              <a:rPr sz="1425" b="1">
                <a:solidFill>
                  <a:srgbClr val="0F1419"/>
                </a:solidFill>
              </a:rPr>
              <a:t>今週末開催します！</a:t>
            </a:r>
          </a:p>
        </p:txBody>
      </p:sp>
      <p:sp>
        <p:nvSpPr>
          <p:cNvPr id="11" name="">
            <a:extLst xmlns:a="http://schemas.openxmlformats.org/drawingml/2006/main">
              <a:ext uri="{FF2B5EF4-FFF2-40B4-BE49-F238E27FC236}">
                <a16:creationId xmlns:a16="http://schemas.microsoft.com/office/drawing/2014/main" id="{471E4057-7E05-4E9B-8416-15CFE43CA03B}"/>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2" name="">
            <a:extLst xmlns:a="http://schemas.openxmlformats.org/drawingml/2006/main">
              <a:ext uri="{FF2B5EF4-FFF2-40B4-BE49-F238E27FC236}">
                <a16:creationId xmlns:a16="http://schemas.microsoft.com/office/drawing/2014/main" id="{7CD16036-DD52-4808-9EDF-B79C6C95840A}"/>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A34840D2-DE37-4B27-8872-ABA0D161B676}"/>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4" name="">
            <a:extLst xmlns:a="http://schemas.openxmlformats.org/drawingml/2006/main">
              <a:ext uri="{FF2B5EF4-FFF2-40B4-BE49-F238E27FC236}">
                <a16:creationId xmlns:a16="http://schemas.microsoft.com/office/drawing/2014/main" id="{1E1A33D7-8F03-4FC8-B5E7-207B0CDC8A41}"/>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5" name="">
            <a:extLst xmlns:a="http://schemas.openxmlformats.org/drawingml/2006/main">
              <a:ext uri="{FF2B5EF4-FFF2-40B4-BE49-F238E27FC236}">
                <a16:creationId xmlns:a16="http://schemas.microsoft.com/office/drawing/2014/main" id="{C8ECAB67-1E05-4ECF-BC77-921278FAD3C4}"/>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イベントは直接の来店動機。規模感と現場の熱量が行動を後押しします。</a:t>
            </a:r>
          </a:p>
        </p:txBody>
      </p:sp>
      <p:sp>
        <p:nvSpPr>
          <p:cNvPr id="16" name="">
            <a:extLst xmlns:a="http://schemas.openxmlformats.org/drawingml/2006/main">
              <a:ext uri="{FF2B5EF4-FFF2-40B4-BE49-F238E27FC236}">
                <a16:creationId xmlns:a16="http://schemas.microsoft.com/office/drawing/2014/main" id="{D7D1CE46-F2A3-41CF-99FC-32A7628DA3E0}"/>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7" name="">
            <a:extLst xmlns:a="http://schemas.openxmlformats.org/drawingml/2006/main">
              <a:ext uri="{FF2B5EF4-FFF2-40B4-BE49-F238E27FC236}">
                <a16:creationId xmlns:a16="http://schemas.microsoft.com/office/drawing/2014/main" id="{C56199BF-9423-49D9-91A3-F97D87394105}"/>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4A0AAE58-EF31-45B0-9CE7-9C3641794DE1}"/>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19" name="">
            <a:extLst xmlns:a="http://schemas.openxmlformats.org/drawingml/2006/main">
              <a:ext uri="{FF2B5EF4-FFF2-40B4-BE49-F238E27FC236}">
                <a16:creationId xmlns:a16="http://schemas.microsoft.com/office/drawing/2014/main" id="{B89D7274-1F23-4D3F-90AB-2F1BA0192AE0}"/>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0" name="">
            <a:extLst xmlns:a="http://schemas.openxmlformats.org/drawingml/2006/main">
              <a:ext uri="{FF2B5EF4-FFF2-40B4-BE49-F238E27FC236}">
                <a16:creationId xmlns:a16="http://schemas.microsoft.com/office/drawing/2014/main" id="{9E672A81-BB26-441F-BD85-0E771967A867}"/>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『開催します』より『書店のど真ん中で、今週末開催します！』。</a:t>
            </a:r>
          </a:p>
        </p:txBody>
      </p:sp>
      <p:sp>
        <p:nvSpPr>
          <p:cNvPr id="21" name="">
            <a:extLst xmlns:a="http://schemas.openxmlformats.org/drawingml/2006/main">
              <a:ext uri="{FF2B5EF4-FFF2-40B4-BE49-F238E27FC236}">
                <a16:creationId xmlns:a16="http://schemas.microsoft.com/office/drawing/2014/main" id="{40D598A9-480C-4AE2-BBB3-C60AD7D19825}"/>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2" name="">
            <a:extLst xmlns:a="http://schemas.openxmlformats.org/drawingml/2006/main">
              <a:ext uri="{FF2B5EF4-FFF2-40B4-BE49-F238E27FC236}">
                <a16:creationId xmlns:a16="http://schemas.microsoft.com/office/drawing/2014/main" id="{83AABB75-7DDF-4E0A-871E-AD5A6444ED67}"/>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BB6E5A76-C04F-4966-B467-7736451F1B3D}"/>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4" name="">
            <a:extLst xmlns:a="http://schemas.openxmlformats.org/drawingml/2006/main">
              <a:ext uri="{FF2B5EF4-FFF2-40B4-BE49-F238E27FC236}">
                <a16:creationId xmlns:a16="http://schemas.microsoft.com/office/drawing/2014/main" id="{0C22B1ED-16A9-4457-82A7-C0AFB290CFE0}"/>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5" name="">
            <a:extLst xmlns:a="http://schemas.openxmlformats.org/drawingml/2006/main">
              <a:ext uri="{FF2B5EF4-FFF2-40B4-BE49-F238E27FC236}">
                <a16:creationId xmlns:a16="http://schemas.microsoft.com/office/drawing/2014/main" id="{4CFA29A4-A4E5-4D68-A257-96D4979228AE}"/>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場所の特徴＋体験＋日時＋参加方法の順で告知しましょう。</a:t>
            </a:r>
          </a:p>
        </p:txBody>
      </p:sp>
      <p:sp>
        <p:nvSpPr>
          <p:cNvPr id="26" name="">
            <a:extLst xmlns:a="http://schemas.openxmlformats.org/drawingml/2006/main">
              <a:ext uri="{FF2B5EF4-FFF2-40B4-BE49-F238E27FC236}">
                <a16:creationId xmlns:a16="http://schemas.microsoft.com/office/drawing/2014/main" id="{BEAE571D-70E9-444F-BA62-C28B5C5DCDB8}"/>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7" name="">
            <a:extLst xmlns:a="http://schemas.openxmlformats.org/drawingml/2006/main">
              <a:ext uri="{FF2B5EF4-FFF2-40B4-BE49-F238E27FC236}">
                <a16:creationId xmlns:a16="http://schemas.microsoft.com/office/drawing/2014/main" id="{271315C3-00FD-44D5-BABF-F86BAFBF2AD3}"/>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21 / 22</a:t>
            </a:r>
          </a:p>
        </p:txBody>
      </p:sp>
      <p:sp>
        <p:nvSpPr>
          <p:cNvPr id="28" name="">
            <a:extLst xmlns:a="http://schemas.openxmlformats.org/drawingml/2006/main">
              <a:ext uri="{FF2B5EF4-FFF2-40B4-BE49-F238E27FC236}">
                <a16:creationId xmlns:a16="http://schemas.microsoft.com/office/drawing/2014/main" id="{6E86C0EB-CD67-4860-B1A5-7E31DC5D0DA3}"/>
              </a:ext>
            </a:extLst>
          </p:cNvPr>
          <p:cNvSpPr>
            <a:spLocks xmlns:a="http://schemas.openxmlformats.org/drawingml/2006/main" noGrp="1"/>
          </p:cNvSpPr>
          <p:nvPr/>
        </p:nvSpPr>
        <p:spPr>
          <a:xfrm xmlns:a="http://schemas.openxmlformats.org/drawingml/2006/main">
            <a:off x="571500" y="6705600"/>
            <a:ext cx="10546773"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1415512140"/>
      </p:ext>
    </p:extLst>
  </p:cSld>
</p:sld>
</file>

<file path=ppt/slides/slide22.xml><?xml version="1.0" encoding="utf-8"?>
<p:sld xmlns:p="http://schemas.openxmlformats.org/presentationml/2006/main">
  <p:cSld>
    <p:bg>
      <p:bgPr>
        <a:solidFill xmlns:a="http://schemas.openxmlformats.org/drawingml/2006/main">
          <a:srgbClr val="F5F7F9"/>
        </a:solidFill>
      </p:bgPr>
    </p:bg>
    <p:spTree>
      <p:nvGrpSpPr>
        <p:cNvPr id="1" name=""/>
        <p:cNvGrpSpPr/>
        <p:nvPr/>
      </p:nvGrpSpPr>
      <p:grpSpPr>
        <a:xfrm xmlns:a="http://schemas.openxmlformats.org/drawingml/2006/main"/>
      </p:grpSpPr>
      <p:sp>
        <p:nvSpPr>
          <p:cNvPr id="1" name="">
            <a:extLst xmlns:a="http://schemas.openxmlformats.org/drawingml/2006/main">
              <a:ext uri="{FF2B5EF4-FFF2-40B4-BE49-F238E27FC236}">
                <a16:creationId xmlns:a16="http://schemas.microsoft.com/office/drawing/2014/main" id="{5783B136-1B2E-4285-BC8D-15BB3ED7C2CE}"/>
              </a:ext>
            </a:extLst>
          </p:cNvPr>
          <p:cNvSpPr>
            <a:spLocks xmlns:a="http://schemas.openxmlformats.org/drawingml/2006/main" noGrp="1"/>
          </p:cNvSpPr>
          <p:nvPr/>
        </p:nvSpPr>
        <p:spPr>
          <a:xfrm xmlns:a="http://schemas.openxmlformats.org/drawingml/2006/main">
            <a:off x="571500" y="361950"/>
            <a:ext cx="3810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75" b="1">
                <a:solidFill>
                  <a:srgbClr val="1D9BF0"/>
                </a:solidFill>
              </a:defRPr>
            </a:pPr>
            <a:r>
              <a:rPr sz="975" b="1">
                <a:solidFill>
                  <a:srgbClr val="1D9BF0"/>
                </a:solidFill>
              </a:rPr>
              <a:t>3-10 / SUMMARY</a:t>
            </a:r>
          </a:p>
        </p:txBody>
      </p:sp>
      <p:sp>
        <p:nvSpPr>
          <p:cNvPr id="2" name="">
            <a:extLst xmlns:a="http://schemas.openxmlformats.org/drawingml/2006/main">
              <a:ext uri="{FF2B5EF4-FFF2-40B4-BE49-F238E27FC236}">
                <a16:creationId xmlns:a16="http://schemas.microsoft.com/office/drawing/2014/main" id="{00AD8B30-82F9-4589-8CCD-EBD00CEE62F7}"/>
              </a:ext>
            </a:extLst>
          </p:cNvPr>
          <p:cNvSpPr>
            <a:spLocks xmlns:a="http://schemas.openxmlformats.org/drawingml/2006/main" noGrp="1"/>
          </p:cNvSpPr>
          <p:nvPr/>
        </p:nvSpPr>
        <p:spPr>
          <a:xfrm xmlns:a="http://schemas.openxmlformats.org/drawingml/2006/main">
            <a:off x="571500" y="695325"/>
            <a:ext cx="99060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F1419"/>
                </a:solidFill>
              </a:defRPr>
            </a:pPr>
            <a:r>
              <a:rPr sz="3000" b="1">
                <a:solidFill>
                  <a:srgbClr val="0F1419"/>
                </a:solidFill>
              </a:rPr>
              <a:t>専門性 × 継続 × 会話</a:t>
            </a:r>
          </a:p>
        </p:txBody>
      </p:sp>
      <p:sp>
        <p:nvSpPr>
          <p:cNvPr id="3" name="">
            <a:extLst xmlns:a="http://schemas.openxmlformats.org/drawingml/2006/main">
              <a:ext uri="{FF2B5EF4-FFF2-40B4-BE49-F238E27FC236}">
                <a16:creationId xmlns:a16="http://schemas.microsoft.com/office/drawing/2014/main" id="{A9E19859-D121-4EE4-815B-66593AAA743A}"/>
              </a:ext>
            </a:extLst>
          </p:cNvPr>
          <p:cNvSpPr>
            <a:spLocks xmlns:a="http://schemas.openxmlformats.org/drawingml/2006/main" noGrp="1"/>
          </p:cNvSpPr>
          <p:nvPr/>
        </p:nvSpPr>
        <p:spPr>
          <a:xfrm xmlns:a="http://schemas.openxmlformats.org/drawingml/2006/main">
            <a:off x="571500" y="1352550"/>
            <a:ext cx="10287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536471"/>
                </a:solidFill>
              </a:defRPr>
            </a:pPr>
            <a:r>
              <a:rPr sz="1575" b="1">
                <a:solidFill>
                  <a:srgbClr val="536471"/>
                </a:solidFill>
              </a:rPr>
              <a:t>X運用は、毎日の小さな信頼づくり。</a:t>
            </a:r>
          </a:p>
        </p:txBody>
      </p:sp>
      <p:sp>
        <p:nvSpPr>
          <p:cNvPr id="4" name="">
            <a:extLst xmlns:a="http://schemas.openxmlformats.org/drawingml/2006/main">
              <a:ext uri="{FF2B5EF4-FFF2-40B4-BE49-F238E27FC236}">
                <a16:creationId xmlns:a16="http://schemas.microsoft.com/office/drawing/2014/main" id="{A7E7B118-F79E-4C8D-BE63-80ED1E3527A6}"/>
              </a:ext>
            </a:extLst>
          </p:cNvPr>
          <p:cNvSpPr>
            <a:spLocks xmlns:a="http://schemas.openxmlformats.org/drawingml/2006/main" noGrp="1"/>
          </p:cNvSpPr>
          <p:nvPr/>
        </p:nvSpPr>
        <p:spPr>
          <a:xfrm xmlns:a="http://schemas.openxmlformats.org/drawingml/2006/main">
            <a:off x="571500" y="2095500"/>
            <a:ext cx="5619750" cy="3905250"/>
          </a:xfrm>
          <a:prstGeom xmlns:a="http://schemas.openxmlformats.org/drawingml/2006/main" prst="roundRect">
            <a:avLst>
              <a:gd name="adj" fmla="val 2927"/>
            </a:avLst>
          </a:prstGeom>
          <a:solidFill xmlns:a="http://schemas.openxmlformats.org/drawingml/2006/main">
            <a:srgbClr val="FFFFFF"/>
          </a:solidFill>
          <a:ln xmlns:a="http://schemas.openxmlformats.org/drawingml/2006/main" w="11430">
            <a:solidFill>
              <a:srgbClr val="E4E9ED"/>
            </a:solidFill>
            <a:prstDash val="solid"/>
          </a:ln>
        </p:spPr>
      </p:sp>
      <p:sp>
        <p:nvSpPr>
          <p:cNvPr id="5" name="">
            <a:extLst xmlns:a="http://schemas.openxmlformats.org/drawingml/2006/main">
              <a:ext uri="{FF2B5EF4-FFF2-40B4-BE49-F238E27FC236}">
                <a16:creationId xmlns:a16="http://schemas.microsoft.com/office/drawing/2014/main" id="{44D19B28-7E57-4D0D-A330-4F186E044E39}"/>
              </a:ext>
            </a:extLst>
          </p:cNvPr>
          <p:cNvSpPr>
            <a:spLocks xmlns:a="http://schemas.openxmlformats.org/drawingml/2006/main" noGrp="1"/>
          </p:cNvSpPr>
          <p:nvPr/>
        </p:nvSpPr>
        <p:spPr>
          <a:xfrm xmlns:a="http://schemas.openxmlformats.org/drawingml/2006/main">
            <a:off x="2571750" y="2428875"/>
            <a:ext cx="1619250" cy="1619250"/>
          </a:xfrm>
          <a:prstGeom xmlns:a="http://schemas.openxmlformats.org/drawingml/2006/main" prst="ellipse">
            <a:avLst/>
          </a:prstGeom>
          <a:solidFill xmlns:a="http://schemas.openxmlformats.org/drawingml/2006/main">
            <a:srgbClr val="1D9BF0"/>
          </a:solidFill>
          <a:ln xmlns:a="http://schemas.openxmlformats.org/drawingml/2006/main" w="0">
            <a:noFill/>
            <a:prstDash val="solid"/>
          </a:ln>
        </p:spPr>
      </p:sp>
      <p:sp>
        <p:nvSpPr>
          <p:cNvPr id="6" name="">
            <a:extLst xmlns:a="http://schemas.openxmlformats.org/drawingml/2006/main">
              <a:ext uri="{FF2B5EF4-FFF2-40B4-BE49-F238E27FC236}">
                <a16:creationId xmlns:a16="http://schemas.microsoft.com/office/drawing/2014/main" id="{3177070D-0CEF-4188-A31E-3169A005C032}"/>
              </a:ext>
            </a:extLst>
          </p:cNvPr>
          <p:cNvSpPr>
            <a:spLocks xmlns:a="http://schemas.openxmlformats.org/drawingml/2006/main" noGrp="1"/>
          </p:cNvSpPr>
          <p:nvPr/>
        </p:nvSpPr>
        <p:spPr>
          <a:xfrm xmlns:a="http://schemas.openxmlformats.org/drawingml/2006/main">
            <a:off x="2809875" y="304800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専門性</a:t>
            </a:r>
          </a:p>
        </p:txBody>
      </p:sp>
      <p:sp>
        <p:nvSpPr>
          <p:cNvPr id="7" name="">
            <a:extLst xmlns:a="http://schemas.openxmlformats.org/drawingml/2006/main">
              <a:ext uri="{FF2B5EF4-FFF2-40B4-BE49-F238E27FC236}">
                <a16:creationId xmlns:a16="http://schemas.microsoft.com/office/drawing/2014/main" id="{A1C8ACF8-87E1-465B-A4D8-9B5BBC0FC106}"/>
              </a:ext>
            </a:extLst>
          </p:cNvPr>
          <p:cNvSpPr>
            <a:spLocks xmlns:a="http://schemas.openxmlformats.org/drawingml/2006/main" noGrp="1"/>
          </p:cNvSpPr>
          <p:nvPr/>
        </p:nvSpPr>
        <p:spPr>
          <a:xfrm xmlns:a="http://schemas.openxmlformats.org/drawingml/2006/main">
            <a:off x="1714500" y="3667125"/>
            <a:ext cx="1619250" cy="1619250"/>
          </a:xfrm>
          <a:prstGeom xmlns:a="http://schemas.openxmlformats.org/drawingml/2006/main" prst="ellipse">
            <a:avLst/>
          </a:prstGeom>
          <a:solidFill xmlns:a="http://schemas.openxmlformats.org/drawingml/2006/main">
            <a:srgbClr val="00A86B"/>
          </a:solidFill>
          <a:ln xmlns:a="http://schemas.openxmlformats.org/drawingml/2006/main" w="0">
            <a:noFill/>
            <a:prstDash val="solid"/>
          </a:ln>
        </p:spPr>
      </p:sp>
      <p:sp>
        <p:nvSpPr>
          <p:cNvPr id="8" name="">
            <a:extLst xmlns:a="http://schemas.openxmlformats.org/drawingml/2006/main">
              <a:ext uri="{FF2B5EF4-FFF2-40B4-BE49-F238E27FC236}">
                <a16:creationId xmlns:a16="http://schemas.microsoft.com/office/drawing/2014/main" id="{C02393A4-264F-4450-A9E3-69E5A7815F51}"/>
              </a:ext>
            </a:extLst>
          </p:cNvPr>
          <p:cNvSpPr>
            <a:spLocks xmlns:a="http://schemas.openxmlformats.org/drawingml/2006/main" noGrp="1"/>
          </p:cNvSpPr>
          <p:nvPr/>
        </p:nvSpPr>
        <p:spPr>
          <a:xfrm xmlns:a="http://schemas.openxmlformats.org/drawingml/2006/main">
            <a:off x="1952625" y="42862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継続</a:t>
            </a:r>
          </a:p>
        </p:txBody>
      </p:sp>
      <p:sp>
        <p:nvSpPr>
          <p:cNvPr id="9" name="">
            <a:extLst xmlns:a="http://schemas.openxmlformats.org/drawingml/2006/main">
              <a:ext uri="{FF2B5EF4-FFF2-40B4-BE49-F238E27FC236}">
                <a16:creationId xmlns:a16="http://schemas.microsoft.com/office/drawing/2014/main" id="{EAB68E90-5041-4182-B28B-0F6550345C16}"/>
              </a:ext>
            </a:extLst>
          </p:cNvPr>
          <p:cNvSpPr>
            <a:spLocks xmlns:a="http://schemas.openxmlformats.org/drawingml/2006/main" noGrp="1"/>
          </p:cNvSpPr>
          <p:nvPr/>
        </p:nvSpPr>
        <p:spPr>
          <a:xfrm xmlns:a="http://schemas.openxmlformats.org/drawingml/2006/main">
            <a:off x="3429000" y="3667125"/>
            <a:ext cx="1619250" cy="1619250"/>
          </a:xfrm>
          <a:prstGeom xmlns:a="http://schemas.openxmlformats.org/drawingml/2006/main" prst="ellipse">
            <a:avLst/>
          </a:prstGeom>
          <a:solidFill xmlns:a="http://schemas.openxmlformats.org/drawingml/2006/main">
            <a:srgbClr val="F45D5D"/>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59B5F06-424B-4B00-B142-2E28B35636DC}"/>
              </a:ext>
            </a:extLst>
          </p:cNvPr>
          <p:cNvSpPr>
            <a:spLocks xmlns:a="http://schemas.openxmlformats.org/drawingml/2006/main" noGrp="1"/>
          </p:cNvSpPr>
          <p:nvPr/>
        </p:nvSpPr>
        <p:spPr>
          <a:xfrm xmlns:a="http://schemas.openxmlformats.org/drawingml/2006/main">
            <a:off x="3667125" y="4286250"/>
            <a:ext cx="1143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FFFFFF"/>
                </a:solidFill>
              </a:defRPr>
            </a:pPr>
            <a:r>
              <a:rPr sz="1650" b="1">
                <a:solidFill>
                  <a:srgbClr val="FFFFFF"/>
                </a:solidFill>
              </a:rPr>
              <a:t>会話</a:t>
            </a:r>
          </a:p>
        </p:txBody>
      </p:sp>
      <p:sp>
        <p:nvSpPr>
          <p:cNvPr id="11" name="">
            <a:extLst xmlns:a="http://schemas.openxmlformats.org/drawingml/2006/main">
              <a:ext uri="{FF2B5EF4-FFF2-40B4-BE49-F238E27FC236}">
                <a16:creationId xmlns:a16="http://schemas.microsoft.com/office/drawing/2014/main" id="{FDCAE2D7-4372-4817-8A9B-4DD741F2918D}"/>
              </a:ext>
            </a:extLst>
          </p:cNvPr>
          <p:cNvSpPr>
            <a:spLocks xmlns:a="http://schemas.openxmlformats.org/drawingml/2006/main" noGrp="1"/>
          </p:cNvSpPr>
          <p:nvPr/>
        </p:nvSpPr>
        <p:spPr>
          <a:xfrm xmlns:a="http://schemas.openxmlformats.org/drawingml/2006/main">
            <a:off x="2952750" y="3714750"/>
            <a:ext cx="857250" cy="85725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3A280D62-FE05-4BB6-83AB-3B76747E1A20}"/>
              </a:ext>
            </a:extLst>
          </p:cNvPr>
          <p:cNvSpPr>
            <a:spLocks xmlns:a="http://schemas.openxmlformats.org/drawingml/2006/main" noGrp="1"/>
          </p:cNvSpPr>
          <p:nvPr/>
        </p:nvSpPr>
        <p:spPr>
          <a:xfrm xmlns:a="http://schemas.openxmlformats.org/drawingml/2006/main">
            <a:off x="3048000" y="40100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350" b="1">
                <a:solidFill>
                  <a:srgbClr val="0F1419"/>
                </a:solidFill>
              </a:defRPr>
            </a:pPr>
            <a:r>
              <a:rPr sz="1350" b="1">
                <a:solidFill>
                  <a:srgbClr val="0F1419"/>
                </a:solidFill>
              </a:rPr>
              <a:t>信頼</a:t>
            </a:r>
          </a:p>
        </p:txBody>
      </p:sp>
      <p:sp>
        <p:nvSpPr>
          <p:cNvPr id="13" name="">
            <a:extLst xmlns:a="http://schemas.openxmlformats.org/drawingml/2006/main">
              <a:ext uri="{FF2B5EF4-FFF2-40B4-BE49-F238E27FC236}">
                <a16:creationId xmlns:a16="http://schemas.microsoft.com/office/drawing/2014/main" id="{9D789237-ECCA-425E-A807-74FAF37E1B9D}"/>
              </a:ext>
            </a:extLst>
          </p:cNvPr>
          <p:cNvSpPr>
            <a:spLocks xmlns:a="http://schemas.openxmlformats.org/drawingml/2006/main" noGrp="1"/>
          </p:cNvSpPr>
          <p:nvPr/>
        </p:nvSpPr>
        <p:spPr>
          <a:xfrm xmlns:a="http://schemas.openxmlformats.org/drawingml/2006/main">
            <a:off x="6667500" y="20955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4" name="">
            <a:extLst xmlns:a="http://schemas.openxmlformats.org/drawingml/2006/main">
              <a:ext uri="{FF2B5EF4-FFF2-40B4-BE49-F238E27FC236}">
                <a16:creationId xmlns:a16="http://schemas.microsoft.com/office/drawing/2014/main" id="{9A448FF5-1A4B-4DEF-A558-44C97161CDC8}"/>
              </a:ext>
            </a:extLst>
          </p:cNvPr>
          <p:cNvSpPr>
            <a:spLocks xmlns:a="http://schemas.openxmlformats.org/drawingml/2006/main" noGrp="1"/>
          </p:cNvSpPr>
          <p:nvPr/>
        </p:nvSpPr>
        <p:spPr>
          <a:xfrm xmlns:a="http://schemas.openxmlformats.org/drawingml/2006/main">
            <a:off x="6838950" y="2286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11816AA9-92C0-4F66-9A5D-D12DE1F7C654}"/>
              </a:ext>
            </a:extLst>
          </p:cNvPr>
          <p:cNvSpPr>
            <a:spLocks xmlns:a="http://schemas.openxmlformats.org/drawingml/2006/main" noGrp="1"/>
          </p:cNvSpPr>
          <p:nvPr/>
        </p:nvSpPr>
        <p:spPr>
          <a:xfrm xmlns:a="http://schemas.openxmlformats.org/drawingml/2006/main">
            <a:off x="6934200" y="2362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1D9BF0"/>
                </a:solidFill>
              </a:defRPr>
            </a:pPr>
            <a:r>
              <a:rPr sz="1425" b="1">
                <a:solidFill>
                  <a:srgbClr val="1D9BF0"/>
                </a:solidFill>
              </a:rPr>
              <a:t>?</a:t>
            </a:r>
          </a:p>
        </p:txBody>
      </p:sp>
      <p:sp>
        <p:nvSpPr>
          <p:cNvPr id="16" name="">
            <a:extLst xmlns:a="http://schemas.openxmlformats.org/drawingml/2006/main">
              <a:ext uri="{FF2B5EF4-FFF2-40B4-BE49-F238E27FC236}">
                <a16:creationId xmlns:a16="http://schemas.microsoft.com/office/drawing/2014/main" id="{15B6608B-E8FF-4CB6-B3BC-57BAC494F7EC}"/>
              </a:ext>
            </a:extLst>
          </p:cNvPr>
          <p:cNvSpPr>
            <a:spLocks xmlns:a="http://schemas.openxmlformats.org/drawingml/2006/main" noGrp="1"/>
          </p:cNvSpPr>
          <p:nvPr/>
        </p:nvSpPr>
        <p:spPr>
          <a:xfrm xmlns:a="http://schemas.openxmlformats.org/drawingml/2006/main">
            <a:off x="7410450" y="2247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WHY / 理由</a:t>
            </a:r>
          </a:p>
        </p:txBody>
      </p:sp>
      <p:sp>
        <p:nvSpPr>
          <p:cNvPr id="17" name="">
            <a:extLst xmlns:a="http://schemas.openxmlformats.org/drawingml/2006/main">
              <a:ext uri="{FF2B5EF4-FFF2-40B4-BE49-F238E27FC236}">
                <a16:creationId xmlns:a16="http://schemas.microsoft.com/office/drawing/2014/main" id="{C3D9FB87-2068-43EC-86A8-4340076715F1}"/>
              </a:ext>
            </a:extLst>
          </p:cNvPr>
          <p:cNvSpPr>
            <a:spLocks xmlns:a="http://schemas.openxmlformats.org/drawingml/2006/main" noGrp="1"/>
          </p:cNvSpPr>
          <p:nvPr/>
        </p:nvSpPr>
        <p:spPr>
          <a:xfrm xmlns:a="http://schemas.openxmlformats.org/drawingml/2006/main">
            <a:off x="7410450" y="2514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専門性が届け先をつくり、継続が期待を育て、会話が関係を深めます。</a:t>
            </a:r>
          </a:p>
        </p:txBody>
      </p:sp>
      <p:sp>
        <p:nvSpPr>
          <p:cNvPr id="18" name="">
            <a:extLst xmlns:a="http://schemas.openxmlformats.org/drawingml/2006/main">
              <a:ext uri="{FF2B5EF4-FFF2-40B4-BE49-F238E27FC236}">
                <a16:creationId xmlns:a16="http://schemas.microsoft.com/office/drawing/2014/main" id="{17E0ED6D-DF38-446C-9D8A-3896AFE3B10C}"/>
              </a:ext>
            </a:extLst>
          </p:cNvPr>
          <p:cNvSpPr>
            <a:spLocks xmlns:a="http://schemas.openxmlformats.org/drawingml/2006/main" noGrp="1"/>
          </p:cNvSpPr>
          <p:nvPr/>
        </p:nvSpPr>
        <p:spPr>
          <a:xfrm xmlns:a="http://schemas.openxmlformats.org/drawingml/2006/main">
            <a:off x="6667500" y="3429000"/>
            <a:ext cx="4953000" cy="1123950"/>
          </a:xfrm>
          <a:prstGeom xmlns:a="http://schemas.openxmlformats.org/drawingml/2006/main" prst="roundRect">
            <a:avLst>
              <a:gd name="adj" fmla="val 8475"/>
            </a:avLst>
          </a:prstGeom>
          <a:solidFill xmlns:a="http://schemas.openxmlformats.org/drawingml/2006/main">
            <a:srgbClr val="FFFFFF"/>
          </a:solidFill>
          <a:ln xmlns:a="http://schemas.openxmlformats.org/drawingml/2006/main" w="11430">
            <a:solidFill>
              <a:srgbClr val="E4E9ED"/>
            </a:solidFill>
            <a:prstDash val="solid"/>
          </a:ln>
        </p:spPr>
      </p:sp>
      <p:sp>
        <p:nvSpPr>
          <p:cNvPr id="19" name="">
            <a:extLst xmlns:a="http://schemas.openxmlformats.org/drawingml/2006/main">
              <a:ext uri="{FF2B5EF4-FFF2-40B4-BE49-F238E27FC236}">
                <a16:creationId xmlns:a16="http://schemas.microsoft.com/office/drawing/2014/main" id="{0E0E5B37-971B-4CC6-B2D4-B592C91FA5C0}"/>
              </a:ext>
            </a:extLst>
          </p:cNvPr>
          <p:cNvSpPr>
            <a:spLocks xmlns:a="http://schemas.openxmlformats.org/drawingml/2006/main" noGrp="1"/>
          </p:cNvSpPr>
          <p:nvPr/>
        </p:nvSpPr>
        <p:spPr>
          <a:xfrm xmlns:a="http://schemas.openxmlformats.org/drawingml/2006/main">
            <a:off x="6838950" y="36195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5B9EF76F-7A20-4F3E-9EE4-7809E0B79267}"/>
              </a:ext>
            </a:extLst>
          </p:cNvPr>
          <p:cNvSpPr>
            <a:spLocks xmlns:a="http://schemas.openxmlformats.org/drawingml/2006/main" noGrp="1"/>
          </p:cNvSpPr>
          <p:nvPr/>
        </p:nvSpPr>
        <p:spPr>
          <a:xfrm xmlns:a="http://schemas.openxmlformats.org/drawingml/2006/main">
            <a:off x="6934200" y="36957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F4B400"/>
                </a:solidFill>
              </a:defRPr>
            </a:pPr>
            <a:r>
              <a:rPr sz="1425" b="1">
                <a:solidFill>
                  <a:srgbClr val="F4B400"/>
                </a:solidFill>
              </a:rPr>
              <a:t>!</a:t>
            </a:r>
          </a:p>
        </p:txBody>
      </p:sp>
      <p:sp>
        <p:nvSpPr>
          <p:cNvPr id="21" name="">
            <a:extLst xmlns:a="http://schemas.openxmlformats.org/drawingml/2006/main">
              <a:ext uri="{FF2B5EF4-FFF2-40B4-BE49-F238E27FC236}">
                <a16:creationId xmlns:a16="http://schemas.microsoft.com/office/drawing/2014/main" id="{34049175-D901-4E40-8E72-6ECD452B4F29}"/>
              </a:ext>
            </a:extLst>
          </p:cNvPr>
          <p:cNvSpPr>
            <a:spLocks xmlns:a="http://schemas.openxmlformats.org/drawingml/2006/main" noGrp="1"/>
          </p:cNvSpPr>
          <p:nvPr/>
        </p:nvSpPr>
        <p:spPr>
          <a:xfrm xmlns:a="http://schemas.openxmlformats.org/drawingml/2006/main">
            <a:off x="7410450" y="35814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EXAMPLE / 具体例</a:t>
            </a:r>
          </a:p>
        </p:txBody>
      </p:sp>
      <p:sp>
        <p:nvSpPr>
          <p:cNvPr id="22" name="">
            <a:extLst xmlns:a="http://schemas.openxmlformats.org/drawingml/2006/main">
              <a:ext uri="{FF2B5EF4-FFF2-40B4-BE49-F238E27FC236}">
                <a16:creationId xmlns:a16="http://schemas.microsoft.com/office/drawing/2014/main" id="{3E8C687A-E27B-43EC-88A0-BEE8058B0019}"/>
              </a:ext>
            </a:extLst>
          </p:cNvPr>
          <p:cNvSpPr>
            <a:spLocks xmlns:a="http://schemas.openxmlformats.org/drawingml/2006/main" noGrp="1"/>
          </p:cNvSpPr>
          <p:nvPr/>
        </p:nvSpPr>
        <p:spPr>
          <a:xfrm xmlns:a="http://schemas.openxmlformats.org/drawingml/2006/main">
            <a:off x="7410450" y="38481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売場の1枚→熱量ある一言→反応へ返信。この反復が影響力になります。</a:t>
            </a:r>
          </a:p>
        </p:txBody>
      </p:sp>
      <p:sp>
        <p:nvSpPr>
          <p:cNvPr id="23" name="">
            <a:extLst xmlns:a="http://schemas.openxmlformats.org/drawingml/2006/main">
              <a:ext uri="{FF2B5EF4-FFF2-40B4-BE49-F238E27FC236}">
                <a16:creationId xmlns:a16="http://schemas.microsoft.com/office/drawing/2014/main" id="{A229EDDA-B747-48CB-8556-927A9073D58B}"/>
              </a:ext>
            </a:extLst>
          </p:cNvPr>
          <p:cNvSpPr>
            <a:spLocks xmlns:a="http://schemas.openxmlformats.org/drawingml/2006/main" noGrp="1"/>
          </p:cNvSpPr>
          <p:nvPr/>
        </p:nvSpPr>
        <p:spPr>
          <a:xfrm xmlns:a="http://schemas.openxmlformats.org/drawingml/2006/main">
            <a:off x="6667500" y="4762500"/>
            <a:ext cx="4953000" cy="1123950"/>
          </a:xfrm>
          <a:prstGeom xmlns:a="http://schemas.openxmlformats.org/drawingml/2006/main" prst="roundRect">
            <a:avLst>
              <a:gd name="adj" fmla="val 8475"/>
            </a:avLst>
          </a:prstGeom>
          <a:solidFill xmlns:a="http://schemas.openxmlformats.org/drawingml/2006/main">
            <a:srgbClr val="E5F8F0"/>
          </a:solidFill>
          <a:ln xmlns:a="http://schemas.openxmlformats.org/drawingml/2006/main" w="11430">
            <a:solidFill>
              <a:srgbClr val="00A86B"/>
            </a:solidFill>
            <a:prstDash val="solid"/>
          </a:ln>
        </p:spPr>
      </p:sp>
      <p:sp>
        <p:nvSpPr>
          <p:cNvPr id="24" name="">
            <a:extLst xmlns:a="http://schemas.openxmlformats.org/drawingml/2006/main">
              <a:ext uri="{FF2B5EF4-FFF2-40B4-BE49-F238E27FC236}">
                <a16:creationId xmlns:a16="http://schemas.microsoft.com/office/drawing/2014/main" id="{B5830E97-0246-47E1-B505-D008FF3F394E}"/>
              </a:ext>
            </a:extLst>
          </p:cNvPr>
          <p:cNvSpPr>
            <a:spLocks xmlns:a="http://schemas.openxmlformats.org/drawingml/2006/main" noGrp="1"/>
          </p:cNvSpPr>
          <p:nvPr/>
        </p:nvSpPr>
        <p:spPr>
          <a:xfrm xmlns:a="http://schemas.openxmlformats.org/drawingml/2006/main">
            <a:off x="6838950" y="4953000"/>
            <a:ext cx="419100" cy="419100"/>
          </a:xfrm>
          <a:prstGeom xmlns:a="http://schemas.openxmlformats.org/drawingml/2006/main" prst="ellipse">
            <a:avLst/>
          </a:prstGeom>
          <a:solidFill xmlns:a="http://schemas.openxmlformats.org/drawingml/2006/main">
            <a:srgbClr val="FFFFFF"/>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00A68DAB-0E23-4AB4-B8D5-8AF441070145}"/>
              </a:ext>
            </a:extLst>
          </p:cNvPr>
          <p:cNvSpPr>
            <a:spLocks xmlns:a="http://schemas.openxmlformats.org/drawingml/2006/main" noGrp="1"/>
          </p:cNvSpPr>
          <p:nvPr/>
        </p:nvSpPr>
        <p:spPr>
          <a:xfrm xmlns:a="http://schemas.openxmlformats.org/drawingml/2006/main">
            <a:off x="6934200" y="5029200"/>
            <a:ext cx="2286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425" b="1">
                <a:solidFill>
                  <a:srgbClr val="00A86B"/>
                </a:solidFill>
              </a:defRPr>
            </a:pPr>
            <a:r>
              <a:rPr sz="1425" b="1">
                <a:solidFill>
                  <a:srgbClr val="00A86B"/>
                </a:solidFill>
              </a:rPr>
              <a:t>✓</a:t>
            </a:r>
          </a:p>
        </p:txBody>
      </p:sp>
      <p:sp>
        <p:nvSpPr>
          <p:cNvPr id="26" name="">
            <a:extLst xmlns:a="http://schemas.openxmlformats.org/drawingml/2006/main">
              <a:ext uri="{FF2B5EF4-FFF2-40B4-BE49-F238E27FC236}">
                <a16:creationId xmlns:a16="http://schemas.microsoft.com/office/drawing/2014/main" id="{CCDBC642-64E1-431E-881B-CC29518B2C1B}"/>
              </a:ext>
            </a:extLst>
          </p:cNvPr>
          <p:cNvSpPr>
            <a:spLocks xmlns:a="http://schemas.openxmlformats.org/drawingml/2006/main" noGrp="1"/>
          </p:cNvSpPr>
          <p:nvPr/>
        </p:nvSpPr>
        <p:spPr>
          <a:xfrm xmlns:a="http://schemas.openxmlformats.org/drawingml/2006/main">
            <a:off x="7410450" y="4914900"/>
            <a:ext cx="3905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536471"/>
                </a:solidFill>
              </a:defRPr>
            </a:pPr>
            <a:r>
              <a:rPr sz="900" b="1">
                <a:solidFill>
                  <a:srgbClr val="536471"/>
                </a:solidFill>
              </a:rPr>
              <a:t>DO / 実践</a:t>
            </a:r>
          </a:p>
        </p:txBody>
      </p:sp>
      <p:sp>
        <p:nvSpPr>
          <p:cNvPr id="27" name="">
            <a:extLst xmlns:a="http://schemas.openxmlformats.org/drawingml/2006/main">
              <a:ext uri="{FF2B5EF4-FFF2-40B4-BE49-F238E27FC236}">
                <a16:creationId xmlns:a16="http://schemas.microsoft.com/office/drawing/2014/main" id="{A8226BD0-3ADF-4482-A063-8DB011C858C1}"/>
              </a:ext>
            </a:extLst>
          </p:cNvPr>
          <p:cNvSpPr>
            <a:spLocks xmlns:a="http://schemas.openxmlformats.org/drawingml/2006/main" noGrp="1"/>
          </p:cNvSpPr>
          <p:nvPr/>
        </p:nvSpPr>
        <p:spPr>
          <a:xfrm xmlns:a="http://schemas.openxmlformats.org/drawingml/2006/main">
            <a:off x="7410450" y="5181600"/>
            <a:ext cx="39243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F1419"/>
                </a:solidFill>
              </a:defRPr>
            </a:pPr>
            <a:r>
              <a:rPr sz="1200" b="1">
                <a:solidFill>
                  <a:srgbClr val="0F1419"/>
                </a:solidFill>
              </a:rPr>
              <a:t>明日、専門テーマに沿った1投稿と1つの会話を実行しましょう。</a:t>
            </a:r>
          </a:p>
        </p:txBody>
      </p:sp>
      <p:sp>
        <p:nvSpPr>
          <p:cNvPr id="28" name="">
            <a:extLst xmlns:a="http://schemas.openxmlformats.org/drawingml/2006/main">
              <a:ext uri="{FF2B5EF4-FFF2-40B4-BE49-F238E27FC236}">
                <a16:creationId xmlns:a16="http://schemas.microsoft.com/office/drawing/2014/main" id="{0F349703-7340-4752-BFF6-7D1316AD73FB}"/>
              </a:ext>
            </a:extLst>
          </p:cNvPr>
          <p:cNvSpPr>
            <a:spLocks xmlns:a="http://schemas.openxmlformats.org/drawingml/2006/main" noGrp="1"/>
          </p:cNvSpPr>
          <p:nvPr/>
        </p:nvSpPr>
        <p:spPr>
          <a:xfrm xmlns:a="http://schemas.openxmlformats.org/drawingml/2006/main">
            <a:off x="571500" y="6448425"/>
            <a:ext cx="2190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825" b="1">
                <a:solidFill>
                  <a:srgbClr val="536471"/>
                </a:solidFill>
              </a:defRPr>
            </a:pPr>
            <a:r>
              <a:rPr sz="825" b="1">
                <a:solidFill>
                  <a:srgbClr val="536471"/>
                </a:solidFill>
              </a:rPr>
              <a:t>X STORE PLAYBOOK</a:t>
            </a:r>
          </a:p>
        </p:txBody>
      </p:sp>
      <p:sp>
        <p:nvSpPr>
          <p:cNvPr id="29" name="">
            <a:extLst xmlns:a="http://schemas.openxmlformats.org/drawingml/2006/main">
              <a:ext uri="{FF2B5EF4-FFF2-40B4-BE49-F238E27FC236}">
                <a16:creationId xmlns:a16="http://schemas.microsoft.com/office/drawing/2014/main" id="{56944F1C-623E-4FE8-82CB-404B34E72BA0}"/>
              </a:ext>
            </a:extLst>
          </p:cNvPr>
          <p:cNvSpPr>
            <a:spLocks xmlns:a="http://schemas.openxmlformats.org/drawingml/2006/main" noGrp="1"/>
          </p:cNvSpPr>
          <p:nvPr/>
        </p:nvSpPr>
        <p:spPr>
          <a:xfrm xmlns:a="http://schemas.openxmlformats.org/drawingml/2006/main">
            <a:off x="10572750" y="6438900"/>
            <a:ext cx="1047750" cy="171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536471"/>
                </a:solidFill>
              </a:defRPr>
            </a:pPr>
            <a:r>
              <a:rPr sz="900" b="1">
                <a:solidFill>
                  <a:srgbClr val="536471"/>
                </a:solidFill>
              </a:rPr>
              <a:t>22 / 22</a:t>
            </a:r>
          </a:p>
        </p:txBody>
      </p:sp>
      <p:sp>
        <p:nvSpPr>
          <p:cNvPr id="30" name="">
            <a:extLst xmlns:a="http://schemas.openxmlformats.org/drawingml/2006/main">
              <a:ext uri="{FF2B5EF4-FFF2-40B4-BE49-F238E27FC236}">
                <a16:creationId xmlns:a16="http://schemas.microsoft.com/office/drawing/2014/main" id="{2BDB17AB-6219-4341-BA1F-465784942F8B}"/>
              </a:ext>
            </a:extLst>
          </p:cNvPr>
          <p:cNvSpPr>
            <a:spLocks xmlns:a="http://schemas.openxmlformats.org/drawingml/2006/main" noGrp="1"/>
          </p:cNvSpPr>
          <p:nvPr/>
        </p:nvSpPr>
        <p:spPr>
          <a:xfrm xmlns:a="http://schemas.openxmlformats.org/drawingml/2006/main">
            <a:off x="571500" y="6705600"/>
            <a:ext cx="11049000" cy="38100"/>
          </a:xfrm>
          <a:prstGeom xmlns:a="http://schemas.openxmlformats.org/drawingml/2006/main" prst="rect">
            <a:avLst/>
          </a:prstGeom>
          <a:solidFill xmlns:a="http://schemas.openxmlformats.org/drawingml/2006/main">
            <a:srgbClr val="1D9BF0"/>
          </a:solidFill>
          <a:ln xmlns:a="http://schemas.openxmlformats.org/drawingml/2006/main" w="0">
            <a:noFill/>
            <a:prstDash val="solid"/>
          </a:ln>
        </p:spPr>
      </p:sp>
    </p:spTree>
    <p:extLst>
      <p:ext uri="{BB962C8B-B14F-4D97-AF65-F5344CB8AC3E}">
        <p14:creationId xmlns:p14="http://schemas.microsoft.com/office/powerpoint/2010/main" val="48781304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2026-07-13T10:40:07.3550000Z</dcterms:created>
  <dcterms:modified xsi:type="dcterms:W3CDTF">2026-07-13T10:40:07.3550000Z</dcterms:modified>
</coreProperties>
</file>